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1" r:id="rId1"/>
  </p:sldMasterIdLst>
  <p:sldIdLst>
    <p:sldId id="256" r:id="rId2"/>
    <p:sldId id="257" r:id="rId3"/>
    <p:sldId id="258" r:id="rId4"/>
    <p:sldId id="261" r:id="rId5"/>
    <p:sldId id="330" r:id="rId6"/>
    <p:sldId id="331" r:id="rId7"/>
    <p:sldId id="332" r:id="rId8"/>
    <p:sldId id="333" r:id="rId9"/>
    <p:sldId id="335" r:id="rId10"/>
    <p:sldId id="336" r:id="rId11"/>
    <p:sldId id="259" r:id="rId12"/>
    <p:sldId id="338" r:id="rId13"/>
    <p:sldId id="339" r:id="rId14"/>
    <p:sldId id="340" r:id="rId15"/>
    <p:sldId id="341" r:id="rId16"/>
    <p:sldId id="342" r:id="rId17"/>
    <p:sldId id="343" r:id="rId18"/>
    <p:sldId id="344" r:id="rId19"/>
    <p:sldId id="345" r:id="rId20"/>
    <p:sldId id="346" r:id="rId21"/>
    <p:sldId id="347" r:id="rId22"/>
    <p:sldId id="348" r:id="rId23"/>
    <p:sldId id="356" r:id="rId24"/>
    <p:sldId id="357" r:id="rId25"/>
    <p:sldId id="359" r:id="rId26"/>
    <p:sldId id="360" r:id="rId27"/>
    <p:sldId id="350" r:id="rId28"/>
    <p:sldId id="351" r:id="rId29"/>
    <p:sldId id="352" r:id="rId30"/>
    <p:sldId id="353" r:id="rId31"/>
    <p:sldId id="35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6" d="100"/>
          <a:sy n="66" d="100"/>
        </p:scale>
        <p:origin x="560"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695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74215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3204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98468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5"/>
            <a:ext cx="4937760" cy="32867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2867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18798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85477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66695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87A34-81AB-432B-8DAE-1953F412C126}" type="datetimeFigureOut">
              <a:rPr lang="en-US" smtClean="0"/>
              <a:pPr/>
              <a:t>4/28/2025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79051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61630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22386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57912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A87A34-81AB-432B-8DAE-1953F412C126}" type="datetimeFigureOut">
              <a:rPr lang="en-US" smtClean="0"/>
              <a:pPr/>
              <a:t>4/28/2025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567067"/>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atutor.ca/" TargetMode="External"/><Relationship Id="rId2" Type="http://schemas.openxmlformats.org/officeDocument/2006/relationships/hyperlink" Target="http://www.sakaiproject.org/" TargetMode="External"/><Relationship Id="rId1" Type="http://schemas.openxmlformats.org/officeDocument/2006/relationships/slideLayout" Target="../slideLayouts/slideLayout2.xml"/><Relationship Id="rId6" Type="http://schemas.openxmlformats.org/officeDocument/2006/relationships/hyperlink" Target="http://www.blackboard.com/" TargetMode="External"/><Relationship Id="rId5" Type="http://schemas.openxmlformats.org/officeDocument/2006/relationships/image" Target="../media/image14.jpeg"/><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277507" y="215705"/>
            <a:ext cx="10058400" cy="4951116"/>
          </a:xfrm>
        </p:spPr>
        <p:txBody>
          <a:bodyPr>
            <a:noAutofit/>
          </a:bodyPr>
          <a:lstStyle/>
          <a:p>
            <a:pPr algn="l" rtl="0"/>
            <a:r>
              <a:rPr lang="en-US" sz="6000" b="1" dirty="0">
                <a:latin typeface="Times New Roman" panose="02020603050405020304" pitchFamily="18" charset="0"/>
                <a:cs typeface="Times New Roman" panose="02020603050405020304" pitchFamily="18" charset="0"/>
              </a:rPr>
              <a:t>№1</a:t>
            </a:r>
            <a:r>
              <a:rPr lang="kk-KZ" sz="6000" b="1" dirty="0">
                <a:latin typeface="Times New Roman" panose="02020603050405020304" pitchFamily="18" charset="0"/>
                <a:cs typeface="Times New Roman" panose="02020603050405020304" pitchFamily="18" charset="0"/>
              </a:rPr>
              <a:t>3</a:t>
            </a:r>
            <a:r>
              <a:rPr lang="en-US" sz="6000" b="1" dirty="0">
                <a:latin typeface="Times New Roman" panose="02020603050405020304" pitchFamily="18" charset="0"/>
                <a:cs typeface="Times New Roman" panose="02020603050405020304" pitchFamily="18" charset="0"/>
              </a:rPr>
              <a:t> дәріс</a:t>
            </a:r>
            <a:br>
              <a:rPr lang="en-US" sz="6000" b="1" dirty="0">
                <a:latin typeface="Times New Roman" panose="02020603050405020304" pitchFamily="18" charset="0"/>
                <a:cs typeface="Times New Roman" panose="02020603050405020304" pitchFamily="18" charset="0"/>
              </a:rPr>
            </a:br>
            <a:r>
              <a:rPr lang="en-US" sz="6000" b="1" dirty="0">
                <a:latin typeface="Times New Roman" panose="02020603050405020304" pitchFamily="18" charset="0"/>
                <a:cs typeface="Times New Roman" panose="02020603050405020304" pitchFamily="18" charset="0"/>
              </a:rPr>
              <a:t/>
            </a:r>
            <a:br>
              <a:rPr lang="en-US" sz="6000" b="1" dirty="0">
                <a:latin typeface="Times New Roman" panose="02020603050405020304" pitchFamily="18" charset="0"/>
                <a:cs typeface="Times New Roman" panose="02020603050405020304" pitchFamily="18" charset="0"/>
              </a:rPr>
            </a:br>
            <a:r>
              <a:rPr lang="en-US" sz="6000" b="1" dirty="0">
                <a:solidFill>
                  <a:srgbClr val="002060"/>
                </a:solidFill>
                <a:latin typeface="Times New Roman" panose="02020603050405020304" pitchFamily="18" charset="0"/>
                <a:cs typeface="Times New Roman" panose="02020603050405020304" pitchFamily="18" charset="0"/>
              </a:rPr>
              <a:t>Электрондық технология: Электрондық бизнес</a:t>
            </a:r>
            <a:br>
              <a:rPr lang="en-US" sz="6000" b="1" dirty="0">
                <a:solidFill>
                  <a:srgbClr val="002060"/>
                </a:solidFill>
                <a:latin typeface="Times New Roman" panose="02020603050405020304" pitchFamily="18" charset="0"/>
                <a:cs typeface="Times New Roman" panose="02020603050405020304" pitchFamily="18" charset="0"/>
              </a:rPr>
            </a:br>
            <a:r>
              <a:rPr lang="kk-KZ" sz="6000" b="1" dirty="0">
                <a:solidFill>
                  <a:srgbClr val="002060"/>
                </a:solidFill>
                <a:latin typeface="Times New Roman" panose="02020603050405020304" pitchFamily="18" charset="0"/>
                <a:cs typeface="Times New Roman" panose="02020603050405020304" pitchFamily="18" charset="0"/>
              </a:rPr>
              <a:t>Э</a:t>
            </a:r>
            <a:r>
              <a:rPr lang="en-US" sz="6000" b="1" dirty="0" err="1" smtClean="0">
                <a:solidFill>
                  <a:srgbClr val="002060"/>
                </a:solidFill>
                <a:latin typeface="Times New Roman" panose="02020603050405020304" pitchFamily="18" charset="0"/>
                <a:cs typeface="Times New Roman" panose="02020603050405020304" pitchFamily="18" charset="0"/>
              </a:rPr>
              <a:t>лектрондық</a:t>
            </a:r>
            <a:r>
              <a:rPr lang="en-US" sz="6000" b="1" dirty="0" smtClean="0">
                <a:solidFill>
                  <a:srgbClr val="002060"/>
                </a:solidFill>
                <a:latin typeface="Times New Roman" panose="02020603050405020304" pitchFamily="18" charset="0"/>
                <a:cs typeface="Times New Roman" panose="02020603050405020304" pitchFamily="18" charset="0"/>
              </a:rPr>
              <a:t> </a:t>
            </a:r>
            <a:r>
              <a:rPr lang="en-US" sz="6000" b="1" dirty="0">
                <a:solidFill>
                  <a:srgbClr val="002060"/>
                </a:solidFill>
                <a:latin typeface="Times New Roman" panose="02020603050405020304" pitchFamily="18" charset="0"/>
                <a:cs typeface="Times New Roman" panose="02020603050405020304" pitchFamily="18" charset="0"/>
              </a:rPr>
              <a:t>оқыту</a:t>
            </a:r>
            <a:br>
              <a:rPr lang="en-US" sz="6000" b="1" dirty="0">
                <a:solidFill>
                  <a:srgbClr val="002060"/>
                </a:solidFill>
                <a:latin typeface="Times New Roman" panose="02020603050405020304" pitchFamily="18" charset="0"/>
                <a:cs typeface="Times New Roman" panose="02020603050405020304" pitchFamily="18" charset="0"/>
              </a:rPr>
            </a:br>
            <a:r>
              <a:rPr lang="kk-KZ" sz="6000" b="1" dirty="0" smtClean="0">
                <a:solidFill>
                  <a:srgbClr val="002060"/>
                </a:solidFill>
                <a:latin typeface="Times New Roman" panose="02020603050405020304" pitchFamily="18" charset="0"/>
                <a:cs typeface="Times New Roman" panose="02020603050405020304" pitchFamily="18" charset="0"/>
              </a:rPr>
              <a:t>Э</a:t>
            </a:r>
            <a:r>
              <a:rPr lang="en-US" sz="6000" b="1" dirty="0" err="1" smtClean="0">
                <a:solidFill>
                  <a:srgbClr val="002060"/>
                </a:solidFill>
                <a:latin typeface="Times New Roman" panose="02020603050405020304" pitchFamily="18" charset="0"/>
                <a:cs typeface="Times New Roman" panose="02020603050405020304" pitchFamily="18" charset="0"/>
              </a:rPr>
              <a:t>лектрондық</a:t>
            </a:r>
            <a:r>
              <a:rPr lang="en-US" sz="6000" b="1" dirty="0" smtClean="0">
                <a:solidFill>
                  <a:srgbClr val="002060"/>
                </a:solidFill>
                <a:latin typeface="Times New Roman" panose="02020603050405020304" pitchFamily="18" charset="0"/>
                <a:cs typeface="Times New Roman" panose="02020603050405020304" pitchFamily="18" charset="0"/>
              </a:rPr>
              <a:t> </a:t>
            </a:r>
            <a:r>
              <a:rPr lang="en-US" sz="6000" b="1" dirty="0">
                <a:solidFill>
                  <a:srgbClr val="002060"/>
                </a:solidFill>
                <a:latin typeface="Times New Roman" panose="02020603050405020304" pitchFamily="18" charset="0"/>
                <a:cs typeface="Times New Roman" panose="02020603050405020304" pitchFamily="18" charset="0"/>
              </a:rPr>
              <a:t>үкімет</a:t>
            </a:r>
            <a:endParaRPr lang="ru-RU" sz="60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3130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64771" y="898178"/>
            <a:ext cx="10058400" cy="974305"/>
          </a:xfrm>
        </p:spPr>
        <p:txBody>
          <a:bodyPr>
            <a:normAutofit/>
          </a:bodyPr>
          <a:lstStyle/>
          <a:p>
            <a:pPr algn="ctr" rtl="0"/>
            <a:r>
              <a:rPr lang="en-US" b="1" dirty="0">
                <a:latin typeface="Times New Roman" panose="02020603050405020304" pitchFamily="18" charset="0"/>
                <a:cs typeface="Times New Roman" panose="02020603050405020304" pitchFamily="18" charset="0"/>
              </a:rPr>
              <a:t>Дәріс мазмұны</a:t>
            </a:r>
            <a:endParaRPr lang="ru-RU"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117432" y="2517175"/>
            <a:ext cx="5549779" cy="3689071"/>
          </a:xfrm>
        </p:spPr>
        <p:txBody>
          <a:bodyPr>
            <a:noAutofit/>
          </a:bodyPr>
          <a:lstStyle/>
          <a:p>
            <a:pPr marL="457200" indent="-457200" algn="l" rtl="0">
              <a:buFont typeface="+mj-lt"/>
              <a:buAutoNum type="arabicPeriod"/>
            </a:pPr>
            <a:r>
              <a:rPr lang="en-US" sz="3600" dirty="0">
                <a:latin typeface="Times New Roman" panose="02020603050405020304" pitchFamily="18" charset="0"/>
                <a:cs typeface="Times New Roman" panose="02020603050405020304" pitchFamily="18" charset="0"/>
              </a:rPr>
              <a:t>Электрондық технологиялар, Электрондық бизнес;</a:t>
            </a:r>
          </a:p>
          <a:p>
            <a:pPr marL="457200" indent="-457200" algn="l" rtl="0">
              <a:buFont typeface="+mj-lt"/>
              <a:buAutoNum type="arabicPeriod"/>
            </a:pPr>
            <a:r>
              <a:rPr lang="en-US" sz="3600" dirty="0">
                <a:latin typeface="Times New Roman" panose="02020603050405020304" pitchFamily="18" charset="0"/>
                <a:cs typeface="Times New Roman" panose="02020603050405020304" pitchFamily="18" charset="0"/>
              </a:rPr>
              <a:t>электрондық оқыту;</a:t>
            </a:r>
          </a:p>
          <a:p>
            <a:pPr marL="457200" indent="-457200" algn="l" rtl="0">
              <a:buFont typeface="+mj-lt"/>
              <a:buAutoNum type="arabicPeriod"/>
            </a:pPr>
            <a:r>
              <a:rPr lang="en-US" sz="3600" dirty="0">
                <a:latin typeface="Times New Roman" panose="02020603050405020304" pitchFamily="18" charset="0"/>
                <a:cs typeface="Times New Roman" panose="02020603050405020304" pitchFamily="18" charset="0"/>
              </a:rPr>
              <a:t>Электрондық үкімет.</a:t>
            </a:r>
            <a:endParaRPr lang="ru-RU" sz="3600" dirty="0">
              <a:latin typeface="Times New Roman" panose="02020603050405020304" pitchFamily="18" charset="0"/>
              <a:cs typeface="Times New Roman" panose="02020603050405020304" pitchFamily="18" charset="0"/>
            </a:endParaRPr>
          </a:p>
          <a:p>
            <a:pPr algn="l" rtl="0"/>
            <a:endParaRPr lang="ru-RU" sz="3600" dirty="0"/>
          </a:p>
        </p:txBody>
      </p:sp>
      <p:pic>
        <p:nvPicPr>
          <p:cNvPr id="1028" name="Picture 4" descr="Логистика транспорт оплата покупки цепочки поставок, цепочка поставок,  логистика, Транспорт PNG и PSD-файл пнг для бесплатной загрузки"/>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4215" y="2280722"/>
            <a:ext cx="4527965" cy="34384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146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2"/>
          <p:cNvSpPr>
            <a:spLocks noGrp="1"/>
          </p:cNvSpPr>
          <p:nvPr>
            <p:ph type="title"/>
          </p:nvPr>
        </p:nvSpPr>
        <p:spPr>
          <a:xfrm>
            <a:off x="812800" y="328985"/>
            <a:ext cx="10708640" cy="1229168"/>
          </a:xfrm>
        </p:spPr>
        <p:txBody>
          <a:bodyPr>
            <a:normAutofit/>
          </a:bodyPr>
          <a:lstStyle/>
          <a:p>
            <a:pPr marL="457200" indent="-457200" algn="l" rtl="0">
              <a:buFont typeface="+mj-lt"/>
              <a:buAutoNum type="arabicPeriod"/>
            </a:pPr>
            <a:r>
              <a:rPr lang="en-US" sz="3600" b="1" dirty="0">
                <a:latin typeface="Times New Roman" panose="02020603050405020304" pitchFamily="18" charset="0"/>
                <a:cs typeface="Times New Roman" panose="02020603050405020304" pitchFamily="18" charset="0"/>
              </a:rPr>
              <a:t>Электрондық технология, электронды бизнес</a:t>
            </a:r>
            <a:endParaRPr lang="ru-RU" sz="3600" b="1" dirty="0">
              <a:latin typeface="Times New Roman" panose="02020603050405020304" pitchFamily="18" charset="0"/>
              <a:cs typeface="Times New Roman" panose="02020603050405020304" pitchFamily="18" charset="0"/>
            </a:endParaRPr>
          </a:p>
        </p:txBody>
      </p:sp>
      <p:sp>
        <p:nvSpPr>
          <p:cNvPr id="2" name="Прямоугольник 1"/>
          <p:cNvSpPr/>
          <p:nvPr/>
        </p:nvSpPr>
        <p:spPr>
          <a:xfrm>
            <a:off x="3681314" y="1736725"/>
            <a:ext cx="7587049" cy="1043545"/>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rtl="0"/>
            <a:r>
              <a:rPr lang="en-US" b="1" dirty="0">
                <a:solidFill>
                  <a:schemeClr val="tx1"/>
                </a:solidFill>
                <a:latin typeface="Times New Roman" panose="02020603050405020304" pitchFamily="18" charset="0"/>
                <a:cs typeface="Times New Roman" panose="02020603050405020304" pitchFamily="18" charset="0"/>
              </a:rPr>
              <a:t>Электрондық технология </a:t>
            </a:r>
            <a:r>
              <a:rPr lang="en-US" b="1" dirty="0" err="1">
                <a:solidFill>
                  <a:schemeClr val="tx1"/>
                </a:solidFill>
                <a:latin typeface="Times New Roman" panose="02020603050405020304" pitchFamily="18" charset="0"/>
                <a:cs typeface="Times New Roman" panose="02020603050405020304" pitchFamily="18" charset="0"/>
              </a:rPr>
              <a:t>немесе</a:t>
            </a:r>
            <a:r>
              <a:rPr lang="en-US" b="1" dirty="0">
                <a:solidFill>
                  <a:schemeClr val="tx1"/>
                </a:solidFill>
                <a:latin typeface="Times New Roman" panose="02020603050405020304" pitchFamily="18" charset="0"/>
                <a:cs typeface="Times New Roman" panose="02020603050405020304" pitchFamily="18" charset="0"/>
              </a:rPr>
              <a:t> </a:t>
            </a:r>
            <a:r>
              <a:rPr lang="ru-RU" b="1" dirty="0">
                <a:solidFill>
                  <a:schemeClr val="tx1"/>
                </a:solidFill>
                <a:latin typeface="Times New Roman" panose="02020603050405020304" pitchFamily="18" charset="0"/>
                <a:cs typeface="Times New Roman" panose="02020603050405020304" pitchFamily="18" charset="0"/>
              </a:rPr>
              <a:t>Е-</a:t>
            </a: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технология</a:t>
            </a:r>
            <a:r>
              <a:rPr lang="ru-RU" b="1"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электр</a:t>
            </a:r>
            <a:r>
              <a:rPr lang="en-US" dirty="0">
                <a:solidFill>
                  <a:schemeClr val="tx1"/>
                </a:solidFill>
                <a:latin typeface="Times New Roman" panose="02020603050405020304" pitchFamily="18" charset="0"/>
                <a:cs typeface="Times New Roman" panose="02020603050405020304" pitchFamily="18" charset="0"/>
              </a:rPr>
              <a:t> және электронды бөлшектерді, жабдықтар мен жүйелерді жобалау, өндіру, орнату, сынау, техникалық қызмет көрсету, пайдалану және бақылауда ғылыми теориялар мен принциптерді қолдану болып табылады.</a:t>
            </a:r>
          </a:p>
        </p:txBody>
      </p:sp>
      <p:sp>
        <p:nvSpPr>
          <p:cNvPr id="11" name="Прямоугольник 10"/>
          <p:cNvSpPr/>
          <p:nvPr/>
        </p:nvSpPr>
        <p:spPr>
          <a:xfrm>
            <a:off x="489277" y="4021121"/>
            <a:ext cx="7587049" cy="1086834"/>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rtl="0"/>
            <a:r>
              <a:rPr lang="en-US" b="1" dirty="0">
                <a:solidFill>
                  <a:schemeClr val="tx1"/>
                </a:solidFill>
                <a:latin typeface="Times New Roman" panose="02020603050405020304" pitchFamily="18" charset="0"/>
                <a:cs typeface="Times New Roman" panose="02020603050405020304" pitchFamily="18" charset="0"/>
              </a:rPr>
              <a:t>Электрондық бизнес </a:t>
            </a:r>
            <a:r>
              <a:rPr lang="en-US" b="1" dirty="0" err="1">
                <a:solidFill>
                  <a:schemeClr val="tx1"/>
                </a:solidFill>
                <a:latin typeface="Times New Roman" panose="02020603050405020304" pitchFamily="18" charset="0"/>
                <a:cs typeface="Times New Roman" panose="02020603050405020304" pitchFamily="18" charset="0"/>
              </a:rPr>
              <a:t>немесе</a:t>
            </a:r>
            <a:r>
              <a:rPr lang="en-US" b="1" dirty="0">
                <a:solidFill>
                  <a:schemeClr val="tx1"/>
                </a:solidFill>
                <a:latin typeface="Times New Roman" panose="02020603050405020304" pitchFamily="18" charset="0"/>
                <a:cs typeface="Times New Roman" panose="02020603050405020304" pitchFamily="18" charset="0"/>
              </a:rPr>
              <a:t> «</a:t>
            </a:r>
            <a:r>
              <a:rPr lang="ru-RU" b="1" dirty="0">
                <a:solidFill>
                  <a:schemeClr val="tx1"/>
                </a:solidFill>
                <a:latin typeface="Times New Roman" panose="02020603050405020304" pitchFamily="18" charset="0"/>
                <a:cs typeface="Times New Roman" panose="02020603050405020304" pitchFamily="18" charset="0"/>
              </a:rPr>
              <a:t>Е-</a:t>
            </a: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бизнес</a:t>
            </a:r>
            <a:r>
              <a:rPr lang="en-US" b="1" dirty="0">
                <a:solidFill>
                  <a:schemeClr val="tx1"/>
                </a:solidFill>
                <a:latin typeface="Times New Roman" panose="02020603050405020304" pitchFamily="18" charset="0"/>
                <a:cs typeface="Times New Roman" panose="02020603050405020304" pitchFamily="18" charset="0"/>
              </a:rPr>
              <a:t>»</a:t>
            </a:r>
            <a:r>
              <a:rPr lang="ru-RU" b="1"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бизнес-процестерді</a:t>
            </a:r>
            <a:r>
              <a:rPr lang="en-US" dirty="0">
                <a:solidFill>
                  <a:schemeClr val="tx1"/>
                </a:solidFill>
                <a:latin typeface="Times New Roman" panose="02020603050405020304" pitchFamily="18" charset="0"/>
                <a:cs typeface="Times New Roman" panose="02020603050405020304" pitchFamily="18" charset="0"/>
              </a:rPr>
              <a:t> қолдау және оңтайландыру үшін цифрлық ақпараттық-коммуникациялық технологияларды пайдаланудың барлық нысандарын қамтитын жалпы термин.</a:t>
            </a:r>
          </a:p>
        </p:txBody>
      </p:sp>
      <p:sp>
        <p:nvSpPr>
          <p:cNvPr id="6" name="Прямоугольник 5"/>
          <p:cNvSpPr/>
          <p:nvPr/>
        </p:nvSpPr>
        <p:spPr>
          <a:xfrm>
            <a:off x="3583459" y="2958842"/>
            <a:ext cx="7587049" cy="646331"/>
          </a:xfrm>
          <a:prstGeom prst="rect">
            <a:avLst/>
          </a:prstGeom>
        </p:spPr>
        <p:txBody>
          <a:bodyPr wrap="square">
            <a:spAutoFit/>
          </a:bodyPr>
          <a:lstStyle/>
          <a:p>
            <a:pPr algn="just" rtl="0"/>
            <a:r>
              <a:rPr lang="en-US" dirty="0">
                <a:latin typeface="Times New Roman" panose="02020603050405020304" pitchFamily="18" charset="0"/>
                <a:cs typeface="Times New Roman" panose="02020603050405020304" pitchFamily="18" charset="0"/>
              </a:rPr>
              <a:t>Электрондық технология барлық салаларда, соның ішінде коммерциялық, тұрғын үй және өнеркәсіпте қолданылады.</a:t>
            </a:r>
          </a:p>
        </p:txBody>
      </p:sp>
      <p:pic>
        <p:nvPicPr>
          <p:cNvPr id="2050" name="Picture 2" descr="9 Technologies E-commerce Marketers Must Use in 2017 and Beyo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162" y="1819211"/>
            <a:ext cx="3119497" cy="20870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 name="Рисунок 2"/>
          <p:cNvPicPr>
            <a:picLocks noChangeAspect="1"/>
          </p:cNvPicPr>
          <p:nvPr/>
        </p:nvPicPr>
        <p:blipFill>
          <a:blip r:embed="rId3"/>
          <a:stretch>
            <a:fillRect/>
          </a:stretch>
        </p:blipFill>
        <p:spPr>
          <a:xfrm>
            <a:off x="8179652" y="3515361"/>
            <a:ext cx="3341788" cy="242682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90677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1. </a:t>
            </a:r>
            <a:r>
              <a:rPr lang="en-US" sz="4000" b="1" dirty="0">
                <a:latin typeface="Times New Roman" panose="02020603050405020304" pitchFamily="18" charset="0"/>
                <a:cs typeface="Times New Roman" panose="02020603050405020304" pitchFamily="18" charset="0"/>
              </a:rPr>
              <a:t>Электрондық бизнес</a:t>
            </a:r>
            <a:endParaRPr lang="ru-RU" sz="40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97280" y="1864207"/>
            <a:ext cx="10134138" cy="4023360"/>
          </a:xfrm>
        </p:spPr>
        <p:txBody>
          <a:bodyPr>
            <a:normAutofit/>
          </a:bodyPr>
          <a:lstStyle/>
          <a:p>
            <a:pPr algn="l" rtl="0"/>
            <a:r>
              <a:rPr lang="en-US" dirty="0">
                <a:latin typeface="Times New Roman" panose="02020603050405020304" pitchFamily="18" charset="0"/>
                <a:cs typeface="Times New Roman" panose="02020603050405020304" pitchFamily="18" charset="0"/>
              </a:rPr>
              <a:t>Электрондық бизнестің негізгі құрамдас бөліктері ақпарат, байланыс және транзакциялар болып табылады. Электрондық бизнес нарығына қатысушыларды үш ерекше категорияға бөлуге болады:</a:t>
            </a:r>
          </a:p>
          <a:p>
            <a:pPr algn="l" rtl="0"/>
            <a:r>
              <a:rPr lang="en-US" b="1" dirty="0">
                <a:latin typeface="Times New Roman" panose="02020603050405020304" pitchFamily="18" charset="0"/>
                <a:cs typeface="Times New Roman" panose="02020603050405020304" pitchFamily="18" charset="0"/>
              </a:rPr>
              <a:t>Бизнес (B)</a:t>
            </a:r>
          </a:p>
          <a:p>
            <a:pPr algn="l" rtl="0"/>
            <a:r>
              <a:rPr lang="en-US" b="1" dirty="0">
                <a:latin typeface="Times New Roman" panose="02020603050405020304" pitchFamily="18" charset="0"/>
                <a:cs typeface="Times New Roman" panose="02020603050405020304" pitchFamily="18" charset="0"/>
              </a:rPr>
              <a:t>Тұтынушы/азамат (C)</a:t>
            </a:r>
          </a:p>
          <a:p>
            <a:pPr algn="l" rtl="0"/>
            <a:r>
              <a:rPr lang="en-US" b="1" dirty="0">
                <a:latin typeface="Times New Roman" panose="02020603050405020304" pitchFamily="18" charset="0"/>
                <a:cs typeface="Times New Roman" panose="02020603050405020304" pitchFamily="18" charset="0"/>
              </a:rPr>
              <a:t>Әкімшілік немесе үкімет (A) (G)</a:t>
            </a:r>
          </a:p>
          <a:p>
            <a:pPr algn="l" rtl="0"/>
            <a:r>
              <a:rPr lang="en-US" dirty="0">
                <a:latin typeface="Times New Roman" panose="02020603050405020304" pitchFamily="18" charset="0"/>
                <a:cs typeface="Times New Roman" panose="02020603050405020304" pitchFamily="18" charset="0"/>
              </a:rPr>
              <a:t>Барлық үш санат нарықта не сатып алушы, не қызмет жеткізушісі рөлін атқара алады, яғни электрондық бизнес қатынастарының тоғыз мүмкін комбинациясы бар.</a:t>
            </a:r>
          </a:p>
          <a:p>
            <a:pPr algn="l" rtl="0"/>
            <a:endParaRPr lang="ru-RU" dirty="0"/>
          </a:p>
          <a:p>
            <a:pPr algn="l" rtl="0"/>
            <a:endParaRPr lang="ru-RU" dirty="0"/>
          </a:p>
        </p:txBody>
      </p:sp>
    </p:spTree>
    <p:extLst>
      <p:ext uri="{BB962C8B-B14F-4D97-AF65-F5344CB8AC3E}">
        <p14:creationId xmlns:p14="http://schemas.microsoft.com/office/powerpoint/2010/main" val="3762851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1. </a:t>
            </a:r>
            <a:r>
              <a:rPr lang="en-US" sz="4000" b="1" dirty="0">
                <a:latin typeface="Times New Roman" panose="02020603050405020304" pitchFamily="18" charset="0"/>
                <a:cs typeface="Times New Roman" panose="02020603050405020304" pitchFamily="18" charset="0"/>
              </a:rPr>
              <a:t>Электрондық бизнес</a:t>
            </a:r>
            <a:endParaRPr lang="ru-RU" sz="40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901469" y="1737360"/>
            <a:ext cx="10254211" cy="2650836"/>
          </a:xfrm>
        </p:spPr>
        <p:txBody>
          <a:bodyPr>
            <a:normAutofit/>
          </a:bodyPr>
          <a:lstStyle/>
          <a:p>
            <a:pPr algn="just" rtl="0"/>
            <a:r>
              <a:rPr lang="kk-KZ" sz="2200" dirty="0">
                <a:latin typeface="Times New Roman" panose="02020603050405020304" pitchFamily="18" charset="0"/>
                <a:cs typeface="Times New Roman" panose="02020603050405020304" pitchFamily="18" charset="0"/>
              </a:rPr>
              <a:t>Э</a:t>
            </a:r>
            <a:r>
              <a:rPr lang="en-US" sz="2200" dirty="0" err="1">
                <a:latin typeface="Times New Roman" panose="02020603050405020304" pitchFamily="18" charset="0"/>
                <a:cs typeface="Times New Roman" panose="02020603050405020304" pitchFamily="18" charset="0"/>
              </a:rPr>
              <a:t>лектрондық</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коммерция</a:t>
            </a:r>
            <a:r>
              <a:rPr lang="kk-KZ" sz="2200" dirty="0">
                <a:latin typeface="Times New Roman" panose="02020603050405020304" pitchFamily="18" charset="0"/>
                <a:cs typeface="Times New Roman" panose="02020603050405020304" pitchFamily="18" charset="0"/>
              </a:rPr>
              <a:t>ның </a:t>
            </a:r>
            <a:r>
              <a:rPr lang="en-US" sz="2200" dirty="0">
                <a:latin typeface="Times New Roman" panose="02020603050405020304" pitchFamily="18" charset="0"/>
                <a:cs typeface="Times New Roman" panose="02020603050405020304" pitchFamily="18" charset="0"/>
              </a:rPr>
              <a:t> </a:t>
            </a:r>
            <a:r>
              <a:rPr lang="kk-KZ" sz="2200" dirty="0">
                <a:latin typeface="Times New Roman" panose="02020603050405020304" pitchFamily="18" charset="0"/>
                <a:cs typeface="Times New Roman" panose="02020603050405020304" pitchFamily="18" charset="0"/>
              </a:rPr>
              <a:t>э</a:t>
            </a:r>
            <a:r>
              <a:rPr lang="en-US" sz="2200" dirty="0" err="1">
                <a:latin typeface="Times New Roman" panose="02020603050405020304" pitchFamily="18" charset="0"/>
                <a:cs typeface="Times New Roman" panose="02020603050405020304" pitchFamily="18" charset="0"/>
              </a:rPr>
              <a:t>лектрондық</a:t>
            </a:r>
            <a:r>
              <a:rPr lang="en-US" sz="2200" dirty="0">
                <a:latin typeface="Times New Roman" panose="02020603050405020304" pitchFamily="18" charset="0"/>
                <a:cs typeface="Times New Roman" panose="02020603050405020304" pitchFamily="18" charset="0"/>
              </a:rPr>
              <a:t> бизнестен айырмашылығы, </a:t>
            </a:r>
            <a:r>
              <a:rPr lang="kk-KZ" sz="2200" dirty="0">
                <a:latin typeface="Times New Roman" panose="02020603050405020304" pitchFamily="18" charset="0"/>
                <a:cs typeface="Times New Roman" panose="02020603050405020304" pitchFamily="18" charset="0"/>
              </a:rPr>
              <a:t>ол </a:t>
            </a:r>
            <a:r>
              <a:rPr lang="en-US" sz="2200" dirty="0" err="1">
                <a:latin typeface="Times New Roman" panose="02020603050405020304" pitchFamily="18" charset="0"/>
                <a:cs typeface="Times New Roman" panose="02020603050405020304" pitchFamily="18" charset="0"/>
              </a:rPr>
              <a:t>тек</a:t>
            </a:r>
            <a:r>
              <a:rPr lang="en-US" sz="2200" dirty="0">
                <a:latin typeface="Times New Roman" panose="02020603050405020304" pitchFamily="18" charset="0"/>
                <a:cs typeface="Times New Roman" panose="02020603050405020304" pitchFamily="18" charset="0"/>
              </a:rPr>
              <a:t> өнімдер мен қызметтердің онлайн саудасын сипаттайды, сондықтан электрондық бизнестің ішкі жиынтығы ғана болып табылады.</a:t>
            </a:r>
          </a:p>
          <a:p>
            <a:pPr algn="just" rtl="0"/>
            <a:r>
              <a:rPr lang="en-US" sz="2200" dirty="0">
                <a:latin typeface="Times New Roman" panose="02020603050405020304" pitchFamily="18" charset="0"/>
                <a:cs typeface="Times New Roman" panose="02020603050405020304" pitchFamily="18" charset="0"/>
              </a:rPr>
              <a:t>• Электрондық коммерция </a:t>
            </a:r>
            <a:r>
              <a:rPr lang="en-US" sz="2200" dirty="0" err="1">
                <a:latin typeface="Times New Roman" panose="02020603050405020304" pitchFamily="18" charset="0"/>
                <a:cs typeface="Times New Roman" panose="02020603050405020304" pitchFamily="18" charset="0"/>
              </a:rPr>
              <a:t>немесе</a:t>
            </a:r>
            <a:r>
              <a:rPr lang="en-US" sz="2200" dirty="0">
                <a:latin typeface="Times New Roman" panose="02020603050405020304" pitchFamily="18" charset="0"/>
                <a:cs typeface="Times New Roman" panose="02020603050405020304" pitchFamily="18" charset="0"/>
              </a:rPr>
              <a:t> </a:t>
            </a:r>
            <a:r>
              <a:rPr lang="kk-KZ" sz="2200" dirty="0">
                <a:latin typeface="Times New Roman" panose="02020603050405020304" pitchFamily="18" charset="0"/>
                <a:cs typeface="Times New Roman" panose="02020603050405020304" pitchFamily="18" charset="0"/>
              </a:rPr>
              <a:t>Е</a:t>
            </a:r>
            <a:r>
              <a:rPr lang="ru-RU" sz="2200" dirty="0">
                <a:latin typeface="Times New Roman" panose="02020603050405020304" pitchFamily="18" charset="0"/>
                <a:cs typeface="Times New Roman" panose="02020603050405020304" pitchFamily="18" charset="0"/>
              </a:rPr>
              <a:t>-</a:t>
            </a:r>
            <a:r>
              <a:rPr lang="en-US" sz="2200" dirty="0" err="1">
                <a:latin typeface="Times New Roman" panose="02020603050405020304" pitchFamily="18" charset="0"/>
                <a:cs typeface="Times New Roman" panose="02020603050405020304" pitchFamily="18" charset="0"/>
              </a:rPr>
              <a:t>коммерция</a:t>
            </a:r>
            <a:r>
              <a:rPr lang="en-US" sz="2200" dirty="0">
                <a:latin typeface="Times New Roman" panose="02020603050405020304" pitchFamily="18" charset="0"/>
                <a:cs typeface="Times New Roman" panose="02020603050405020304" pitchFamily="18" charset="0"/>
              </a:rPr>
              <a:t> әдетте компьютерлік желі арқылы электронды түрде жүзеге асырылатын іскерлік операцияларды білдіреді.</a:t>
            </a:r>
          </a:p>
          <a:p>
            <a:pPr algn="just" rtl="0"/>
            <a:r>
              <a:rPr lang="en-US" sz="2200" dirty="0">
                <a:latin typeface="Times New Roman" panose="02020603050405020304" pitchFamily="18" charset="0"/>
                <a:cs typeface="Times New Roman" panose="02020603050405020304" pitchFamily="18" charset="0"/>
              </a:rPr>
              <a:t>Ол Интернет пен веб-технологиялар арқылы іскерлік және маркетингтік процестердің барлық аспектілерін қамтиды.</a:t>
            </a:r>
          </a:p>
          <a:p>
            <a:pPr algn="l" rtl="0"/>
            <a:endParaRPr lang="ru-RU" dirty="0">
              <a:latin typeface="Times New Roman" panose="02020603050405020304" pitchFamily="18" charset="0"/>
              <a:cs typeface="Times New Roman" panose="02020603050405020304" pitchFamily="18" charset="0"/>
            </a:endParaRPr>
          </a:p>
          <a:p>
            <a:pPr algn="l" rtl="0"/>
            <a:endParaRPr lang="ru-RU" dirty="0"/>
          </a:p>
        </p:txBody>
      </p:sp>
      <p:pic>
        <p:nvPicPr>
          <p:cNvPr id="4098" name="Picture 2" descr="E-Commerce Society - Home | Faceboo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0239" y="4077993"/>
            <a:ext cx="5339906" cy="2024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200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1. </a:t>
            </a:r>
            <a:r>
              <a:rPr lang="en-US" sz="4000" dirty="0">
                <a:latin typeface="Times New Roman" panose="02020603050405020304" pitchFamily="18" charset="0"/>
                <a:cs typeface="Times New Roman" panose="02020603050405020304" pitchFamily="18" charset="0"/>
              </a:rPr>
              <a:t>Электрондық бизнес</a:t>
            </a:r>
            <a:endParaRPr lang="ru-RU" sz="4000"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97280" y="1827261"/>
            <a:ext cx="10668000" cy="4342630"/>
          </a:xfrm>
        </p:spPr>
        <p:txBody>
          <a:bodyPr>
            <a:noAutofit/>
          </a:bodyPr>
          <a:lstStyle/>
          <a:p>
            <a:pPr algn="l" rtl="0"/>
            <a:r>
              <a:rPr lang="en-US" sz="1800" dirty="0">
                <a:latin typeface="Times New Roman" panose="02020603050405020304" pitchFamily="18" charset="0"/>
                <a:cs typeface="Times New Roman" panose="02020603050405020304" pitchFamily="18" charset="0"/>
              </a:rPr>
              <a:t>Электрондық коммерция субъектілері немесе нарық қатысушылары арасындағы өзара әрекеттесудің негізгі үлгілері:</a:t>
            </a:r>
          </a:p>
          <a:p>
            <a:pPr algn="l" rtl="0"/>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Business-to-Business(B2B)</a:t>
            </a:r>
            <a:r>
              <a:rPr lang="en-US" sz="1800" dirty="0">
                <a:latin typeface="Times New Roman" panose="02020603050405020304" pitchFamily="18" charset="0"/>
                <a:cs typeface="Times New Roman" panose="02020603050405020304" pitchFamily="18" charset="0"/>
              </a:rPr>
              <a:t>: соңғы пайдаланушылармен емес, басқа кәсіпорындармен ақпарат, тауарлар және қызметтер алмасуға арналған веб-сайт.</a:t>
            </a:r>
          </a:p>
          <a:p>
            <a:pPr algn="l" rtl="0"/>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Business-to-Customer(B2C)</a:t>
            </a:r>
            <a:r>
              <a:rPr lang="en-US" sz="1800" dirty="0">
                <a:latin typeface="Times New Roman" panose="02020603050405020304" pitchFamily="18" charset="0"/>
                <a:cs typeface="Times New Roman" panose="02020603050405020304" pitchFamily="18" charset="0"/>
              </a:rPr>
              <a:t>: Бұл бизнес орталық пен түпкі тұтынушы арасындағы барлық транзакциялар орындалатын веб-сайт.</a:t>
            </a:r>
          </a:p>
          <a:p>
            <a:pPr algn="l" rtl="0"/>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Consumers-to-businesses(C2B):</a:t>
            </a:r>
            <a:r>
              <a:rPr lang="en-US" sz="1800" dirty="0">
                <a:latin typeface="Times New Roman" panose="02020603050405020304" pitchFamily="18" charset="0"/>
                <a:cs typeface="Times New Roman" panose="02020603050405020304" pitchFamily="18" charset="0"/>
              </a:rPr>
              <a:t>тұтынушылар өнімге немесе қызметке нақты қажеттілік туралы хабарлайды, ал жеткізушілер тұтынушыларға өнімді немесе қызметті ұсыну үшін бәсекелеседі.</a:t>
            </a:r>
          </a:p>
          <a:p>
            <a:pPr algn="l" rtl="0"/>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Consumer-to-consumer (C2C):</a:t>
            </a:r>
            <a:r>
              <a:rPr lang="en-US" sz="1800" dirty="0">
                <a:latin typeface="Times New Roman" panose="02020603050405020304" pitchFamily="18" charset="0"/>
                <a:cs typeface="Times New Roman" panose="02020603050405020304" pitchFamily="18" charset="0"/>
              </a:rPr>
              <a:t>бұл сатып алушы мен сатушыны байланыстыратын платформа ретінде әрекет ететін тұтынушы мен веб-сайт арасында барлық транзакциялар орындалатын веб-сайт.</a:t>
            </a:r>
          </a:p>
          <a:p>
            <a:pPr algn="l" rtl="0"/>
            <a:r>
              <a:rPr lang="en-US" sz="1800" b="1" dirty="0">
                <a:latin typeface="Times New Roman" panose="02020603050405020304" pitchFamily="18" charset="0"/>
                <a:cs typeface="Times New Roman" panose="02020603050405020304" pitchFamily="18" charset="0"/>
              </a:rPr>
              <a:t>B2G (business-to-government) </a:t>
            </a:r>
            <a:r>
              <a:rPr lang="ru-RU" sz="1800" dirty="0" err="1">
                <a:latin typeface="Times New Roman" panose="02020603050405020304" pitchFamily="18" charset="0"/>
                <a:cs typeface="Times New Roman" panose="02020603050405020304" pitchFamily="18" charset="0"/>
              </a:rPr>
              <a:t>электрондық</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коммерциясы</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кәсіпорындарға</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үкіметтерге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сатуға</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көмектесуге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бағытталған</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сонымен</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қатар</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бірқатар</a:t>
            </a:r>
            <a:r>
              <a:rPr lang="ru-RU" sz="1800" dirty="0">
                <a:latin typeface="Times New Roman" panose="02020603050405020304" pitchFamily="18" charset="0"/>
                <a:cs typeface="Times New Roman" panose="02020603050405020304" pitchFamily="18" charset="0"/>
              </a:rPr>
              <a:t> бизнес-</a:t>
            </a:r>
            <a:r>
              <a:rPr lang="ru-RU" sz="1800" dirty="0" err="1">
                <a:latin typeface="Times New Roman" panose="02020603050405020304" pitchFamily="18" charset="0"/>
                <a:cs typeface="Times New Roman" panose="02020603050405020304" pitchFamily="18" charset="0"/>
              </a:rPr>
              <a:t>модельдер</a:t>
            </a:r>
            <a:r>
              <a:rPr lang="ru-RU" sz="1800" dirty="0">
                <a:latin typeface="Times New Roman" panose="02020603050405020304" pitchFamily="18" charset="0"/>
                <a:cs typeface="Times New Roman" panose="02020603050405020304" pitchFamily="18" charset="0"/>
              </a:rPr>
              <a:t> бар </a:t>
            </a:r>
            <a:r>
              <a:rPr lang="ru-RU" sz="1800" b="1"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B2A - business-to-Administration, </a:t>
            </a:r>
            <a:r>
              <a:rPr lang="ru-RU" sz="1800" dirty="0" err="1">
                <a:latin typeface="Times New Roman" panose="02020603050405020304" pitchFamily="18" charset="0"/>
                <a:cs typeface="Times New Roman" panose="02020603050405020304" pitchFamily="18" charset="0"/>
              </a:rPr>
              <a:t>бұл</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компаниялардың</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әкімшілік</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органдармен</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өзара</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әрекеттесуін</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болжайды</a:t>
            </a:r>
            <a:r>
              <a:rPr lang="ru-RU"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C2A-Consumer-to-Administration, </a:t>
            </a:r>
            <a:r>
              <a:rPr lang="ru-RU" sz="1800" dirty="0" err="1">
                <a:latin typeface="Times New Roman" panose="02020603050405020304" pitchFamily="18" charset="0"/>
                <a:cs typeface="Times New Roman" panose="02020603050405020304" pitchFamily="18" charset="0"/>
              </a:rPr>
              <a:t>әкімшілік</a:t>
            </a:r>
            <a:r>
              <a:rPr lang="ru-RU"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a:t>
            </a:r>
            <a:r>
              <a:rPr lang="kk-KZ" sz="1800" dirty="0">
                <a:latin typeface="Times New Roman" panose="02020603050405020304" pitchFamily="18" charset="0"/>
                <a:cs typeface="Times New Roman" panose="02020603050405020304" pitchFamily="18" charset="0"/>
              </a:rPr>
              <a:t>арқылы </a:t>
            </a:r>
            <a:r>
              <a:rPr lang="ru-RU" sz="1800" dirty="0" err="1">
                <a:latin typeface="Times New Roman" panose="02020603050405020304" pitchFamily="18" charset="0"/>
                <a:cs typeface="Times New Roman" panose="02020603050405020304" pitchFamily="18" charset="0"/>
              </a:rPr>
              <a:t>тұтынушылардың</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өзара</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әрекеттесуін</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болжайды</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және</a:t>
            </a:r>
            <a:r>
              <a:rPr lang="ru-RU" sz="1800" dirty="0">
                <a:latin typeface="Times New Roman" panose="02020603050405020304" pitchFamily="18" charset="0"/>
                <a:cs typeface="Times New Roman" panose="02020603050405020304" pitchFamily="18" charset="0"/>
              </a:rPr>
              <a:t> т. б.).</a:t>
            </a:r>
          </a:p>
          <a:p>
            <a:pPr algn="l" rtl="0"/>
            <a:endParaRPr lang="ru-RU" sz="1800" dirty="0"/>
          </a:p>
        </p:txBody>
      </p:sp>
      <p:pic>
        <p:nvPicPr>
          <p:cNvPr id="3074" name="Picture 2" descr="B2B or B2C: all about these Marketing strateg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2966" y="152445"/>
            <a:ext cx="3068525" cy="15687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294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1. </a:t>
            </a:r>
            <a:r>
              <a:rPr lang="en-US" sz="4000" b="1" dirty="0">
                <a:latin typeface="Times New Roman" panose="02020603050405020304" pitchFamily="18" charset="0"/>
                <a:cs typeface="Times New Roman" panose="02020603050405020304" pitchFamily="18" charset="0"/>
              </a:rPr>
              <a:t>Электрондық бизнес</a:t>
            </a:r>
            <a:endParaRPr lang="ru-RU" sz="40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97281" y="1827261"/>
            <a:ext cx="10058400" cy="2292157"/>
          </a:xfrm>
        </p:spPr>
        <p:txBody>
          <a:bodyPr>
            <a:noAutofit/>
          </a:bodyPr>
          <a:lstStyle/>
          <a:p>
            <a:pPr algn="l" rtl="0"/>
            <a:r>
              <a:rPr lang="ru-RU" sz="1800" dirty="0">
                <a:latin typeface="Times New Roman" panose="02020603050405020304" pitchFamily="18" charset="0"/>
                <a:cs typeface="Times New Roman" panose="02020603050405020304" pitchFamily="18" charset="0"/>
              </a:rPr>
              <a:t>Экономика </a:t>
            </a:r>
            <a:r>
              <a:rPr lang="ru-RU" sz="1800" dirty="0" err="1">
                <a:latin typeface="Times New Roman" panose="02020603050405020304" pitchFamily="18" charset="0"/>
                <a:cs typeface="Times New Roman" panose="02020603050405020304" pitchFamily="18" charset="0"/>
              </a:rPr>
              <a:t>ақпараттық</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желіге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айналады</a:t>
            </a:r>
            <a:r>
              <a:rPr lang="ru-RU" sz="1800" dirty="0">
                <a:latin typeface="Times New Roman" panose="02020603050405020304" pitchFamily="18" charset="0"/>
                <a:cs typeface="Times New Roman" panose="02020603050405020304" pitchFamily="18" charset="0"/>
              </a:rPr>
              <a:t>.</a:t>
            </a:r>
          </a:p>
          <a:p>
            <a:pPr algn="l" rtl="0"/>
            <a:r>
              <a:rPr lang="ru-RU" sz="1800" dirty="0" err="1">
                <a:latin typeface="Times New Roman" panose="02020603050405020304" pitchFamily="18" charset="0"/>
                <a:cs typeface="Times New Roman" panose="02020603050405020304" pitchFamily="18" charset="0"/>
              </a:rPr>
              <a:t>Ақпаратты</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жинау</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және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кәдеге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жарату</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үшін</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технологияларды</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жүйелі</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пайдалану</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бәсекеге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қабілеттілікке</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білімнің</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артықшылығы</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арқылы</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қол</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жеткізілетін</a:t>
            </a:r>
            <a:r>
              <a:rPr lang="ru-RU" sz="1800" dirty="0">
                <a:latin typeface="Times New Roman" panose="02020603050405020304" pitchFamily="18" charset="0"/>
                <a:cs typeface="Times New Roman" panose="02020603050405020304" pitchFamily="18" charset="0"/>
              </a:rPr>
              <a:t> "</a:t>
            </a:r>
            <a:r>
              <a:rPr lang="ru-RU" sz="1800" b="1" dirty="0" err="1">
                <a:solidFill>
                  <a:srgbClr val="FF0000"/>
                </a:solidFill>
                <a:latin typeface="Times New Roman" panose="02020603050405020304" pitchFamily="18" charset="0"/>
                <a:cs typeface="Times New Roman" panose="02020603050405020304" pitchFamily="18" charset="0"/>
              </a:rPr>
              <a:t>ақпараттық</a:t>
            </a:r>
            <a:r>
              <a:rPr lang="ru-RU" sz="1800" b="1" dirty="0">
                <a:solidFill>
                  <a:srgbClr val="FF0000"/>
                </a:solidFill>
                <a:latin typeface="Times New Roman" panose="02020603050405020304" pitchFamily="18" charset="0"/>
                <a:cs typeface="Times New Roman" panose="02020603050405020304" pitchFamily="18" charset="0"/>
              </a:rPr>
              <a:t> Экономика</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деп</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аталатын</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негізді</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қалады</a:t>
            </a:r>
            <a:r>
              <a:rPr lang="ru-RU" sz="1800" dirty="0">
                <a:latin typeface="Times New Roman" panose="02020603050405020304" pitchFamily="18" charset="0"/>
                <a:cs typeface="Times New Roman" panose="02020603050405020304" pitchFamily="18" charset="0"/>
              </a:rPr>
              <a:t>.</a:t>
            </a:r>
          </a:p>
          <a:p>
            <a:pPr algn="l" rtl="0"/>
            <a:r>
              <a:rPr lang="en-US" sz="1800" dirty="0">
                <a:latin typeface="Times New Roman" panose="02020603050405020304" pitchFamily="18" charset="0"/>
                <a:cs typeface="Times New Roman" panose="02020603050405020304" pitchFamily="18" charset="0"/>
              </a:rPr>
              <a:t>“</a:t>
            </a:r>
            <a:r>
              <a:rPr lang="ru-RU" sz="1800" b="1" dirty="0">
                <a:solidFill>
                  <a:srgbClr val="FF0000"/>
                </a:solidFill>
                <a:latin typeface="Times New Roman" panose="02020603050405020304" pitchFamily="18" charset="0"/>
                <a:cs typeface="Times New Roman" panose="02020603050405020304" pitchFamily="18" charset="0"/>
              </a:rPr>
              <a:t>Таза экономика</a:t>
            </a:r>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деп</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аталатын</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экономиканың</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бұл</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бөлімі</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қазіргі</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уақытта</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дәстүрлі</a:t>
            </a:r>
            <a:r>
              <a:rPr lang="ru-RU"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t>
            </a:r>
            <a:r>
              <a:rPr lang="ru-RU" sz="1800" b="1" dirty="0" err="1">
                <a:solidFill>
                  <a:srgbClr val="FF0000"/>
                </a:solidFill>
                <a:latin typeface="Times New Roman" panose="02020603050405020304" pitchFamily="18" charset="0"/>
                <a:cs typeface="Times New Roman" panose="02020603050405020304" pitchFamily="18" charset="0"/>
              </a:rPr>
              <a:t>нақты</a:t>
            </a:r>
            <a:r>
              <a:rPr lang="ru-RU" sz="1800" b="1" dirty="0">
                <a:solidFill>
                  <a:srgbClr val="FF0000"/>
                </a:solidFill>
                <a:latin typeface="Times New Roman" panose="02020603050405020304" pitchFamily="18" charset="0"/>
                <a:cs typeface="Times New Roman" panose="02020603050405020304" pitchFamily="18" charset="0"/>
              </a:rPr>
              <a:t> </a:t>
            </a:r>
            <a:r>
              <a:rPr lang="ru-RU" sz="1800" b="1" dirty="0" err="1">
                <a:solidFill>
                  <a:srgbClr val="FF0000"/>
                </a:solidFill>
                <a:latin typeface="Times New Roman" panose="02020603050405020304" pitchFamily="18" charset="0"/>
                <a:cs typeface="Times New Roman" panose="02020603050405020304" pitchFamily="18" charset="0"/>
              </a:rPr>
              <a:t>экономикамен</a:t>
            </a:r>
            <a:r>
              <a:rPr lang="en-US" sz="1800" b="1" dirty="0">
                <a:solidFill>
                  <a:srgbClr val="FF0000"/>
                </a:solidFill>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қатар</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өмір</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сүруде</a:t>
            </a:r>
            <a:r>
              <a:rPr lang="ru-RU" sz="1800" dirty="0">
                <a:latin typeface="Times New Roman" panose="02020603050405020304" pitchFamily="18" charset="0"/>
                <a:cs typeface="Times New Roman" panose="02020603050405020304" pitchFamily="18" charset="0"/>
              </a:rPr>
              <a:t>.</a:t>
            </a:r>
          </a:p>
          <a:p>
            <a:pPr algn="l" rtl="0"/>
            <a:endParaRPr lang="ru-RU" sz="1800" dirty="0"/>
          </a:p>
        </p:txBody>
      </p:sp>
      <p:pic>
        <p:nvPicPr>
          <p:cNvPr id="5128" name="Picture 8" descr="La New Economy passa per interne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6960" y="3562435"/>
            <a:ext cx="3728720" cy="2484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99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1</a:t>
            </a:r>
            <a:r>
              <a:rPr lang="en-US" sz="4000" b="1" dirty="0">
                <a:latin typeface="Times New Roman" panose="02020603050405020304" pitchFamily="18" charset="0"/>
                <a:cs typeface="Times New Roman" panose="02020603050405020304" pitchFamily="18" charset="0"/>
              </a:rPr>
              <a:t>. Электрондық бизнес</a:t>
            </a:r>
            <a:endParaRPr lang="ru-RU" sz="40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97281" y="1827261"/>
            <a:ext cx="8928273" cy="2292157"/>
          </a:xfrm>
        </p:spPr>
        <p:txBody>
          <a:bodyPr>
            <a:noAutofit/>
          </a:bodyPr>
          <a:lstStyle/>
          <a:p>
            <a:pPr algn="just" rtl="0">
              <a:lnSpc>
                <a:spcPct val="150000"/>
              </a:lnSpc>
              <a:spcBef>
                <a:spcPts val="0"/>
              </a:spcBef>
              <a:spcAft>
                <a:spcPts val="0"/>
              </a:spcAft>
            </a:pPr>
            <a:r>
              <a:rPr lang="ru-RU" sz="2400" dirty="0" err="1">
                <a:latin typeface="Times New Roman" panose="02020603050405020304" pitchFamily="18" charset="0"/>
                <a:cs typeface="Times New Roman" panose="02020603050405020304" pitchFamily="18" charset="0"/>
              </a:rPr>
              <a:t>Қазіргі</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уақытта</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біздің</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елімізде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электрондық</a:t>
            </a:r>
            <a:r>
              <a:rPr lang="ru-RU" sz="2400" dirty="0">
                <a:latin typeface="Times New Roman" panose="02020603050405020304" pitchFamily="18" charset="0"/>
                <a:cs typeface="Times New Roman" panose="02020603050405020304" pitchFamily="18" charset="0"/>
              </a:rPr>
              <a:t> коммерция "</a:t>
            </a:r>
            <a:r>
              <a:rPr lang="ru-RU" sz="2400" b="1" dirty="0" err="1">
                <a:latin typeface="Times New Roman" panose="02020603050405020304" pitchFamily="18" charset="0"/>
                <a:cs typeface="Times New Roman" panose="02020603050405020304" pitchFamily="18" charset="0"/>
              </a:rPr>
              <a:t>Қазақстан</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Республикасының</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Азаматтық</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кодексінде</a:t>
            </a:r>
            <a:r>
              <a:rPr lang="ru-RU" sz="2400" b="1" dirty="0">
                <a:latin typeface="Times New Roman" panose="02020603050405020304" pitchFamily="18" charset="0"/>
                <a:cs typeface="Times New Roman" panose="02020603050405020304" pitchFamily="18" charset="0"/>
              </a:rPr>
              <a: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сондай-ақ</a:t>
            </a:r>
            <a:r>
              <a:rPr lang="ru-RU" sz="2400"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электрондық</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құжат</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және</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электрондық</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цифрлық</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қолтаңба</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туралы</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және</a:t>
            </a:r>
            <a:r>
              <a:rPr lang="ru-RU" sz="2400"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ақпараттандыру</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туралы</a:t>
            </a:r>
            <a:r>
              <a:rPr lang="ru-RU"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заңдарда</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көзделген</a:t>
            </a:r>
            <a:r>
              <a:rPr lang="ru-RU" sz="2400" dirty="0">
                <a:latin typeface="Times New Roman" panose="02020603050405020304" pitchFamily="18" charset="0"/>
                <a:cs typeface="Times New Roman" panose="02020603050405020304" pitchFamily="18" charset="0"/>
              </a:rPr>
              <a:t> 3 </a:t>
            </a:r>
            <a:r>
              <a:rPr lang="ru-RU" sz="2400" dirty="0" err="1">
                <a:latin typeface="Times New Roman" panose="02020603050405020304" pitchFamily="18" charset="0"/>
                <a:cs typeface="Times New Roman" panose="02020603050405020304" pitchFamily="18" charset="0"/>
              </a:rPr>
              <a:t>құқықтық</a:t>
            </a:r>
            <a:r>
              <a:rPr lang="ru-RU" sz="2400" dirty="0">
                <a:latin typeface="Times New Roman" panose="02020603050405020304" pitchFamily="18" charset="0"/>
                <a:cs typeface="Times New Roman" panose="02020603050405020304" pitchFamily="18" charset="0"/>
              </a:rPr>
              <a:t> норма </a:t>
            </a:r>
            <a:r>
              <a:rPr lang="ru-RU" sz="2400" dirty="0" err="1">
                <a:latin typeface="Times New Roman" panose="02020603050405020304" pitchFamily="18" charset="0"/>
                <a:cs typeface="Times New Roman" panose="02020603050405020304" pitchFamily="18" charset="0"/>
              </a:rPr>
              <a:t>шеңберінде</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жұмыс</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істейді</a:t>
            </a:r>
            <a:r>
              <a:rPr lang="ru-RU" sz="2400" dirty="0">
                <a:latin typeface="Times New Roman" panose="02020603050405020304" pitchFamily="18" charset="0"/>
                <a:cs typeface="Times New Roman" panose="02020603050405020304" pitchFamily="18" charset="0"/>
              </a:rPr>
              <a:t>.</a:t>
            </a:r>
          </a:p>
          <a:p>
            <a:pPr algn="l" rtl="0"/>
            <a:endParaRPr lang="ru-RU" sz="1800" dirty="0"/>
          </a:p>
        </p:txBody>
      </p:sp>
      <p:pic>
        <p:nvPicPr>
          <p:cNvPr id="6146" name="Picture 2" descr="Civil Code of the Republic Kazakhstan | William E. Butl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5554" y="134527"/>
            <a:ext cx="2160040" cy="6050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713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1. </a:t>
            </a:r>
            <a:r>
              <a:rPr lang="en-US" sz="4000" dirty="0">
                <a:latin typeface="Times New Roman" panose="02020603050405020304" pitchFamily="18" charset="0"/>
                <a:cs typeface="Times New Roman" panose="02020603050405020304" pitchFamily="18" charset="0"/>
              </a:rPr>
              <a:t>Электрондық бизнес</a:t>
            </a:r>
            <a:endParaRPr lang="ru-RU" sz="4000"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97282" y="1827261"/>
            <a:ext cx="9792392" cy="4000884"/>
          </a:xfrm>
        </p:spPr>
        <p:txBody>
          <a:bodyPr>
            <a:noAutofit/>
          </a:bodyPr>
          <a:lstStyle/>
          <a:p>
            <a:pPr algn="just" rtl="0"/>
            <a:r>
              <a:rPr lang="en-US" dirty="0">
                <a:latin typeface="Times New Roman" panose="02020603050405020304" pitchFamily="18" charset="0"/>
                <a:cs typeface="Times New Roman" panose="02020603050405020304" pitchFamily="18" charset="0"/>
              </a:rPr>
              <a:t>Бизнестің бір түрі ретінде электрондық коммерция коммерциялық қызметтің басқа түрлерімен тең болуы керек. Бұл коммерциялық мәмілені заңмен талап етілмесе, электронды түрде жасалғандықтан ғана жарамсыз деп тануға болмайтынын білдіреді. Нотариалды куәландыруды немесе мемлекеттік тіркеуді талап ететін мәмілелерді электронды түрде жасауға болмайды.</a:t>
            </a:r>
          </a:p>
          <a:p>
            <a:pPr algn="just" rtl="0"/>
            <a:r>
              <a:rPr lang="en-US" dirty="0" err="1">
                <a:latin typeface="Times New Roman" panose="02020603050405020304" pitchFamily="18" charset="0"/>
                <a:cs typeface="Times New Roman" panose="02020603050405020304" pitchFamily="18" charset="0"/>
              </a:rPr>
              <a:t>Қазіргі</a:t>
            </a:r>
            <a:r>
              <a:rPr lang="en-US" dirty="0">
                <a:latin typeface="Times New Roman" panose="02020603050405020304" pitchFamily="18" charset="0"/>
                <a:cs typeface="Times New Roman" panose="02020603050405020304" pitchFamily="18" charset="0"/>
              </a:rPr>
              <a:t> уақытта Қазақстан Республикасында азаматтар мен бизнеске электрондық қызметтер көрсету бойынша мемлекеттік органдардың ақпараттық жүйелерін дамыту мен қалыптастыруды қамтамасыз ететін АКТ саласын құқықтық және техникалық реттеу жүйесі қалыптасуда.</a:t>
            </a:r>
          </a:p>
          <a:p>
            <a:pPr algn="l" rtl="0"/>
            <a:endParaRPr lang="ru-RU" sz="1800" dirty="0"/>
          </a:p>
          <a:p>
            <a:pPr algn="l" rtl="0"/>
            <a:endParaRPr lang="ru-RU" sz="1800" dirty="0"/>
          </a:p>
        </p:txBody>
      </p:sp>
      <p:pic>
        <p:nvPicPr>
          <p:cNvPr id="6146" name="Picture 2" descr="Civil Code of the Republic Kazakhstan | William E. Butler"/>
          <p:cNvPicPr>
            <a:picLocks noChangeAspect="1" noChangeArrowheads="1"/>
          </p:cNvPicPr>
          <p:nvPr/>
        </p:nvPicPr>
        <p:blipFill rotWithShape="1">
          <a:blip r:embed="rId2">
            <a:extLst>
              <a:ext uri="{28A0092B-C50C-407E-A947-70E740481C1C}">
                <a14:useLocalDpi xmlns:a14="http://schemas.microsoft.com/office/drawing/2010/main" val="0"/>
              </a:ext>
            </a:extLst>
          </a:blip>
          <a:srcRect l="22473" r="21083"/>
          <a:stretch/>
        </p:blipFill>
        <p:spPr bwMode="auto">
          <a:xfrm>
            <a:off x="10972800" y="66118"/>
            <a:ext cx="1219200" cy="6050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538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2"/>
          <p:cNvSpPr>
            <a:spLocks noGrp="1"/>
          </p:cNvSpPr>
          <p:nvPr>
            <p:ph type="title"/>
          </p:nvPr>
        </p:nvSpPr>
        <p:spPr>
          <a:xfrm>
            <a:off x="1096963" y="773113"/>
            <a:ext cx="10058400" cy="963612"/>
          </a:xfrm>
        </p:spPr>
        <p:txBody>
          <a:bodyPr>
            <a:normAutofit/>
          </a:bodyPr>
          <a:lstStyle/>
          <a:p>
            <a:pPr algn="l" rtl="0"/>
            <a:r>
              <a:rPr lang="ru-RU" sz="4000" dirty="0"/>
              <a:t>2.</a:t>
            </a:r>
            <a:r>
              <a:rPr lang="kk-KZ" sz="4000" b="1" dirty="0">
                <a:latin typeface="Times New Roman" panose="02020603050405020304" pitchFamily="18" charset="0"/>
                <a:cs typeface="Times New Roman" panose="02020603050405020304" pitchFamily="18" charset="0"/>
              </a:rPr>
              <a:t>Э</a:t>
            </a:r>
            <a:r>
              <a:rPr lang="en-US" sz="4000" b="1" dirty="0" err="1">
                <a:latin typeface="Times New Roman" panose="02020603050405020304" pitchFamily="18" charset="0"/>
                <a:cs typeface="Times New Roman" panose="02020603050405020304" pitchFamily="18" charset="0"/>
              </a:rPr>
              <a:t>лектрондық</a:t>
            </a:r>
            <a:r>
              <a:rPr lang="en-US" sz="4000" b="1" dirty="0">
                <a:latin typeface="Times New Roman" panose="02020603050405020304" pitchFamily="18" charset="0"/>
                <a:cs typeface="Times New Roman" panose="02020603050405020304" pitchFamily="18" charset="0"/>
              </a:rPr>
              <a:t> оқыту</a:t>
            </a:r>
            <a:endParaRPr lang="ru-RU" sz="4000" b="1" dirty="0">
              <a:latin typeface="Times New Roman" panose="02020603050405020304" pitchFamily="18" charset="0"/>
              <a:cs typeface="Times New Roman" panose="02020603050405020304" pitchFamily="18" charset="0"/>
            </a:endParaRPr>
          </a:p>
        </p:txBody>
      </p:sp>
      <p:sp>
        <p:nvSpPr>
          <p:cNvPr id="2" name="Прямоугольник 1"/>
          <p:cNvSpPr/>
          <p:nvPr/>
        </p:nvSpPr>
        <p:spPr>
          <a:xfrm>
            <a:off x="1191490" y="1977708"/>
            <a:ext cx="7587049" cy="86497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rtl="0"/>
            <a:r>
              <a:rPr lang="kk-KZ" b="1" dirty="0">
                <a:solidFill>
                  <a:schemeClr val="tx1"/>
                </a:solidFill>
                <a:latin typeface="Times New Roman" panose="02020603050405020304" pitchFamily="18" charset="0"/>
                <a:cs typeface="Times New Roman" panose="02020603050405020304" pitchFamily="18" charset="0"/>
              </a:rPr>
              <a:t>Э</a:t>
            </a:r>
            <a:r>
              <a:rPr lang="en-US" b="1" dirty="0" err="1">
                <a:solidFill>
                  <a:schemeClr val="tx1"/>
                </a:solidFill>
                <a:latin typeface="Times New Roman" panose="02020603050405020304" pitchFamily="18" charset="0"/>
                <a:cs typeface="Times New Roman" panose="02020603050405020304" pitchFamily="18" charset="0"/>
              </a:rPr>
              <a:t>лектрондық</a:t>
            </a: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оқыту</a:t>
            </a:r>
            <a:r>
              <a:rPr lang="kk-KZ" b="1"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қазіргі</a:t>
            </a:r>
            <a:r>
              <a:rPr lang="en-US" dirty="0">
                <a:solidFill>
                  <a:schemeClr val="tx1"/>
                </a:solidFill>
                <a:latin typeface="Times New Roman" panose="02020603050405020304" pitchFamily="18" charset="0"/>
                <a:cs typeface="Times New Roman" panose="02020603050405020304" pitchFamily="18" charset="0"/>
              </a:rPr>
              <a:t> заманғы ақпараттық технологиялар мен компьютерлік технологияларды жүйелі және қарқынды қолданумен сипатталатын оқу үдерісіне жатады.</a:t>
            </a:r>
          </a:p>
        </p:txBody>
      </p:sp>
      <p:pic>
        <p:nvPicPr>
          <p:cNvPr id="7170" name="Picture 2" descr="371 миллиард потратили на e-learning, а запускать не стали - KP.K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8919" y="1927302"/>
            <a:ext cx="2146444" cy="160983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1191490" y="4015320"/>
            <a:ext cx="10058400" cy="1200329"/>
          </a:xfrm>
          <a:prstGeom prst="rect">
            <a:avLst/>
          </a:prstGeom>
        </p:spPr>
        <p:txBody>
          <a:bodyPr wrap="square">
            <a:spAutoFit/>
          </a:bodyPr>
          <a:lstStyle/>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Компьютерлік технологияның қазіргі жағдайы және Интернетті кеңінен қолдану электрондық оқыту технологиясының көптеген артықшылықтарын жүзеге асыруға мүмкіндік береді: жоғары интерактивтілік, ауқым, бұқаралық сипат, электронды кітапханаларға қолжетімділік, біртұтас білім беру ортасын құру және т.б. </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5" name="Прямоугольник 4"/>
          <p:cNvSpPr/>
          <p:nvPr/>
        </p:nvSpPr>
        <p:spPr>
          <a:xfrm>
            <a:off x="1096963" y="3075470"/>
            <a:ext cx="7681576" cy="646331"/>
          </a:xfrm>
          <a:prstGeom prst="rect">
            <a:avLst/>
          </a:prstGeom>
        </p:spPr>
        <p:txBody>
          <a:bodyPr wrap="square">
            <a:spAutoFit/>
          </a:bodyPr>
          <a:lstStyle/>
          <a:p>
            <a:pPr algn="l"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Бұл ұғым қашықтық, мультимедиялық, компьютерлік, виртуалды, онлайн, веб-бағдарлы, кибербілім сияқты ұғымдармен үндес.</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44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2. </a:t>
            </a:r>
            <a:r>
              <a:rPr lang="en-US" sz="4000" b="1" dirty="0">
                <a:latin typeface="Times New Roman" panose="02020603050405020304" pitchFamily="18" charset="0"/>
                <a:cs typeface="Times New Roman" panose="02020603050405020304" pitchFamily="18" charset="0"/>
              </a:rPr>
              <a:t>E-learning</a:t>
            </a:r>
            <a:endParaRPr lang="ru-RU" sz="40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97280" y="1845734"/>
            <a:ext cx="7945731" cy="2930627"/>
          </a:xfrm>
        </p:spPr>
        <p:txBody>
          <a:bodyPr>
            <a:normAutofit/>
          </a:bodyPr>
          <a:lstStyle/>
          <a:p>
            <a:pPr algn="l" rtl="0">
              <a:lnSpc>
                <a:spcPct val="110000"/>
              </a:lnSpc>
              <a:spcBef>
                <a:spcPts val="0"/>
              </a:spcBef>
              <a:spcAft>
                <a:spcPts val="0"/>
              </a:spcAft>
            </a:pPr>
            <a:endParaRPr lang="ru-RU" b="1" dirty="0"/>
          </a:p>
          <a:p>
            <a:pPr algn="l" rtl="0">
              <a:lnSpc>
                <a:spcPct val="110000"/>
              </a:lnSpc>
              <a:spcBef>
                <a:spcPts val="0"/>
              </a:spcBef>
              <a:spcAft>
                <a:spcPts val="0"/>
              </a:spcAft>
            </a:pPr>
            <a:endParaRPr lang="ru-RU" b="1" dirty="0"/>
          </a:p>
          <a:p>
            <a:pPr algn="l" rtl="0">
              <a:lnSpc>
                <a:spcPct val="110000"/>
              </a:lnSpc>
              <a:spcBef>
                <a:spcPts val="0"/>
              </a:spcBef>
              <a:spcAft>
                <a:spcPts val="0"/>
              </a:spcAft>
            </a:pPr>
            <a:endParaRPr lang="ru-RU" dirty="0"/>
          </a:p>
        </p:txBody>
      </p:sp>
      <p:sp>
        <p:nvSpPr>
          <p:cNvPr id="4" name="Прямоугольник 3"/>
          <p:cNvSpPr/>
          <p:nvPr/>
        </p:nvSpPr>
        <p:spPr>
          <a:xfrm>
            <a:off x="914400" y="1923782"/>
            <a:ext cx="6675119" cy="4401205"/>
          </a:xfrm>
          <a:prstGeom prst="rect">
            <a:avLst/>
          </a:prstGeom>
        </p:spPr>
        <p:txBody>
          <a:bodyPr wrap="square">
            <a:spAutoFit/>
          </a:bodyPr>
          <a:lstStyle/>
          <a:p>
            <a:pPr algn="just" rtl="0">
              <a:spcBef>
                <a:spcPts val="1200"/>
              </a:spcBef>
              <a:spcAft>
                <a:spcPts val="1200"/>
              </a:spcAft>
            </a:pPr>
            <a:r>
              <a:rPr 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E-learning – серверлер мен клиенттік компьютерлер арасында таратылатын бағдарламалық және аппараттық құралдардан тұратын күрделі жүйе.</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rtl="0">
              <a:spcBef>
                <a:spcPts val="1200"/>
              </a:spcBef>
              <a:spcAft>
                <a:spcPts val="1200"/>
              </a:spcAft>
            </a:pPr>
            <a:r>
              <a:rPr 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Мұндай жүйе әдетте клиент-сервер архитектурасына құрылады.</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rtl="0">
              <a:spcBef>
                <a:spcPts val="1200"/>
              </a:spcBef>
              <a:spcAft>
                <a:spcPts val="1200"/>
              </a:spcAft>
            </a:pPr>
            <a:r>
              <a:rPr 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Клиент пен сервер әртүрлі машиналарда болғандықтан (бұл Интернетте табиғи нәрсе), деректерді беру негізгі мәселелердің біріне айналады.</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rtl="0">
              <a:spcBef>
                <a:spcPts val="1200"/>
              </a:spcBef>
              <a:spcAft>
                <a:spcPts val="1200"/>
              </a:spcAft>
            </a:pPr>
            <a:r>
              <a:rPr 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Деректер алмасу білім беру ішкі желісінде, әдетте, байланыс арналары және Интернет арқылы жүзеге асырылады.</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descr="E-learning-Boo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2328" y="2653553"/>
            <a:ext cx="3688353" cy="2458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07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2. </a:t>
            </a:r>
            <a:r>
              <a:rPr lang="en-US" sz="4000" b="1" dirty="0">
                <a:latin typeface="Times New Roman" panose="02020603050405020304" pitchFamily="18" charset="0"/>
                <a:cs typeface="Times New Roman" panose="02020603050405020304" pitchFamily="18" charset="0"/>
              </a:rPr>
              <a:t>E-learning</a:t>
            </a:r>
            <a:endParaRPr lang="ru-RU" sz="40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97280" y="1845734"/>
            <a:ext cx="7945731" cy="2930627"/>
          </a:xfrm>
        </p:spPr>
        <p:txBody>
          <a:bodyPr>
            <a:normAutofit/>
          </a:bodyPr>
          <a:lstStyle/>
          <a:p>
            <a:pPr algn="l" rtl="0">
              <a:lnSpc>
                <a:spcPct val="110000"/>
              </a:lnSpc>
              <a:spcBef>
                <a:spcPts val="0"/>
              </a:spcBef>
              <a:spcAft>
                <a:spcPts val="0"/>
              </a:spcAft>
            </a:pPr>
            <a:endParaRPr lang="ru-RU" b="1" dirty="0"/>
          </a:p>
          <a:p>
            <a:pPr algn="l" rtl="0">
              <a:lnSpc>
                <a:spcPct val="110000"/>
              </a:lnSpc>
              <a:spcBef>
                <a:spcPts val="0"/>
              </a:spcBef>
              <a:spcAft>
                <a:spcPts val="0"/>
              </a:spcAft>
            </a:pPr>
            <a:endParaRPr lang="ru-RU" b="1" dirty="0"/>
          </a:p>
          <a:p>
            <a:pPr algn="l" rtl="0">
              <a:lnSpc>
                <a:spcPct val="110000"/>
              </a:lnSpc>
              <a:spcBef>
                <a:spcPts val="0"/>
              </a:spcBef>
              <a:spcAft>
                <a:spcPts val="0"/>
              </a:spcAft>
            </a:pPr>
            <a:endParaRPr lang="ru-RU" dirty="0"/>
          </a:p>
        </p:txBody>
      </p:sp>
      <p:sp>
        <p:nvSpPr>
          <p:cNvPr id="4" name="Прямоугольник 3"/>
          <p:cNvSpPr/>
          <p:nvPr/>
        </p:nvSpPr>
        <p:spPr>
          <a:xfrm>
            <a:off x="1097280" y="1934463"/>
            <a:ext cx="6797040" cy="3877985"/>
          </a:xfrm>
          <a:prstGeom prst="rect">
            <a:avLst/>
          </a:prstGeom>
        </p:spPr>
        <p:txBody>
          <a:bodyPr wrap="square">
            <a:spAutoFit/>
          </a:bodyPr>
          <a:lstStyle/>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Деректерді тасымалдау мәселесін шешудің екі жолы бар.</a:t>
            </a:r>
          </a:p>
          <a:p>
            <a:pPr algn="just" rtl="0"/>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Бірінші</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клиенттік</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және серверлік қосымшаларды жазады.</a:t>
            </a:r>
          </a:p>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Сервер қосымшасы іске қосылады және үнемі сервер жағында жұмыс істейді, ал пайдаланушы әр жолы серверге қосылып, on-line режимінде жұмыс істейтін жұмыс станциясынан клиенттік бағдарламаны іске қосады.</a:t>
            </a:r>
          </a:p>
          <a:p>
            <a:pPr algn="just" rtl="0"/>
            <a:endPar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rtl="0"/>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Екінші</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оқыту жүйесінің мүмкін логикалық архитектурасы веб-қосымша деп аталатын толығымен серверлік бағдарлама болып табылады.</a:t>
            </a:r>
          </a:p>
          <a:p>
            <a:pPr algn="just"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Бұл жағдайда барлық ақпарат серверде сақталады, ал клиент жүйеге веб-шолғыш арқылы қосылады.</a:t>
            </a:r>
          </a:p>
        </p:txBody>
      </p:sp>
      <p:pic>
        <p:nvPicPr>
          <p:cNvPr id="2050" name="Picture 2" descr="The Russian scientist developed system of data transmission on the basis o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6585" y="2677380"/>
            <a:ext cx="3870755" cy="2894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6267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2. </a:t>
            </a:r>
            <a:r>
              <a:rPr lang="en-US" sz="4000" b="1" dirty="0">
                <a:latin typeface="Times New Roman" panose="02020603050405020304" pitchFamily="18" charset="0"/>
                <a:cs typeface="Times New Roman" panose="02020603050405020304" pitchFamily="18" charset="0"/>
              </a:rPr>
              <a:t>E-learning</a:t>
            </a:r>
            <a:endParaRPr lang="ru-RU" sz="4000"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97280" y="1845734"/>
            <a:ext cx="7945731" cy="2930627"/>
          </a:xfrm>
        </p:spPr>
        <p:txBody>
          <a:bodyPr>
            <a:normAutofit/>
          </a:bodyPr>
          <a:lstStyle/>
          <a:p>
            <a:pPr algn="l" rtl="0">
              <a:lnSpc>
                <a:spcPct val="110000"/>
              </a:lnSpc>
              <a:spcBef>
                <a:spcPts val="0"/>
              </a:spcBef>
              <a:spcAft>
                <a:spcPts val="0"/>
              </a:spcAft>
            </a:pPr>
            <a:endParaRPr lang="ru-RU" b="1" dirty="0"/>
          </a:p>
          <a:p>
            <a:pPr algn="l" rtl="0">
              <a:lnSpc>
                <a:spcPct val="110000"/>
              </a:lnSpc>
              <a:spcBef>
                <a:spcPts val="0"/>
              </a:spcBef>
              <a:spcAft>
                <a:spcPts val="0"/>
              </a:spcAft>
            </a:pPr>
            <a:endParaRPr lang="ru-RU" b="1" dirty="0"/>
          </a:p>
          <a:p>
            <a:pPr algn="l" rtl="0">
              <a:lnSpc>
                <a:spcPct val="110000"/>
              </a:lnSpc>
              <a:spcBef>
                <a:spcPts val="0"/>
              </a:spcBef>
              <a:spcAft>
                <a:spcPts val="0"/>
              </a:spcAft>
            </a:pPr>
            <a:endParaRPr lang="ru-RU" dirty="0"/>
          </a:p>
        </p:txBody>
      </p:sp>
      <p:sp>
        <p:nvSpPr>
          <p:cNvPr id="4" name="Прямоугольник 3"/>
          <p:cNvSpPr/>
          <p:nvPr/>
        </p:nvSpPr>
        <p:spPr>
          <a:xfrm>
            <a:off x="362174" y="1915391"/>
            <a:ext cx="6540649" cy="3477875"/>
          </a:xfrm>
          <a:prstGeom prst="rect">
            <a:avLst/>
          </a:prstGeom>
        </p:spPr>
        <p:txBody>
          <a:bodyPr wrap="square">
            <a:spAutoFit/>
          </a:bodyPr>
          <a:lstStyle/>
          <a:p>
            <a:pPr algn="just" rtl="0">
              <a:spcBef>
                <a:spcPts val="1200"/>
              </a:spcBef>
              <a:spcAft>
                <a:spcPts val="1200"/>
              </a:spcAft>
            </a:pP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Көп деңгейлі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иерархиялық</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жүйелер</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ағылшын</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тіліндегі басылымдарда аталған арнайы бағдарламалық платформалар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арқылы</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басқарылады</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виртуалды</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оқу</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ортасы</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(VLE)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немесе</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оқытуды</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басқару</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жүйелері</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(LMS).</a:t>
            </a:r>
          </a:p>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Дәстүрлі электрондық оқыту платформасы немесе оқытуды басқару жүйесі оқыту курстарын өткізу және басқару ортасы болып табылады.</a:t>
            </a:r>
          </a:p>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Олар онлайн курсты құру мен жеткізуді, студенттерді тіркеуді және бақылауды, оқуды басқаруды және студенттердің өнімділігі туралы есеп беруді қолдайтын құралдар жиынтығын ұсынады.</a:t>
            </a:r>
          </a:p>
        </p:txBody>
      </p:sp>
      <p:pic>
        <p:nvPicPr>
          <p:cNvPr id="3074" name="Picture 2" descr="Virtual Learning Environment VLE resources administration tools Icons by D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4876" y="103019"/>
            <a:ext cx="4635910" cy="323962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s://cdn.sketchbubble.com/pub/media/catalog/product/optimized1/1/b/1b1b1e1af45d277f958f96e740ddffdae1e2cb9baf6cc1537324fd6ff12931c4/learning-management-system-slide1.png"/>
          <p:cNvPicPr>
            <a:picLocks noChangeAspect="1" noChangeArrowheads="1"/>
          </p:cNvPicPr>
          <p:nvPr/>
        </p:nvPicPr>
        <p:blipFill rotWithShape="1">
          <a:blip r:embed="rId3">
            <a:extLst>
              <a:ext uri="{28A0092B-C50C-407E-A947-70E740481C1C}">
                <a14:useLocalDpi xmlns:a14="http://schemas.microsoft.com/office/drawing/2010/main" val="0"/>
              </a:ext>
            </a:extLst>
          </a:blip>
          <a:srcRect t="12439"/>
          <a:stretch/>
        </p:blipFill>
        <p:spPr bwMode="auto">
          <a:xfrm>
            <a:off x="7472393" y="3311047"/>
            <a:ext cx="4200876" cy="2758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2109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2. </a:t>
            </a:r>
            <a:r>
              <a:rPr lang="en-US" sz="4000" b="1" dirty="0">
                <a:latin typeface="Times New Roman" panose="02020603050405020304" pitchFamily="18" charset="0"/>
                <a:cs typeface="Times New Roman" panose="02020603050405020304" pitchFamily="18" charset="0"/>
              </a:rPr>
              <a:t>E-learning</a:t>
            </a:r>
            <a:endParaRPr lang="ru-RU" sz="40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802475" y="2224629"/>
            <a:ext cx="9507912" cy="1231106"/>
          </a:xfrm>
          <a:prstGeom prst="rect">
            <a:avLst/>
          </a:prstGeom>
        </p:spPr>
        <p:txBody>
          <a:bodyPr wrap="square">
            <a:spAutoFit/>
          </a:bodyPr>
          <a:lstStyle/>
          <a:p>
            <a:pPr algn="just" rtl="0">
              <a:spcBef>
                <a:spcPts val="1200"/>
              </a:spcBef>
              <a:spcAft>
                <a:spcPts val="1200"/>
              </a:spcAft>
            </a:pP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Барлық LMS платформаларын екі негізгі санатқа бөлуге болады:</a:t>
            </a:r>
          </a:p>
          <a:p>
            <a:pPr algn="just" rtl="0">
              <a:spcBef>
                <a:spcPts val="1200"/>
              </a:spcBef>
              <a:spcAft>
                <a:spcPts val="1200"/>
              </a:spcAft>
            </a:pP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Ашық бастапқы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бастамалар</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соның</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ішінде Moodle (www.moodle.org), Сакай (</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hlinkClick r:id="rId2"/>
              </a:rPr>
              <a:t>www.sakaiproject.org</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Тәлімгер</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hlinkClick r:id="rId3"/>
              </a:rPr>
              <a:t>www.atutor.ca</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ақ тақта (whiteboard.sourceforge.net) және т.б.;</a:t>
            </a:r>
          </a:p>
        </p:txBody>
      </p:sp>
      <p:pic>
        <p:nvPicPr>
          <p:cNvPr id="14338" name="Picture 2" descr="Open Source Initiative (OSI) | Linked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0387" y="2004560"/>
            <a:ext cx="1299616" cy="1299616"/>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WebCT (a Blackboard company) - MarketingRe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07462" y="4150742"/>
            <a:ext cx="2430606" cy="828764"/>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766617" y="3904335"/>
            <a:ext cx="8292607" cy="923330"/>
          </a:xfrm>
          <a:prstGeom prst="rect">
            <a:avLst/>
          </a:prstGeom>
        </p:spPr>
        <p:txBody>
          <a:bodyPr wrap="square">
            <a:spAutoFit/>
          </a:bodyPr>
          <a:lstStyle/>
          <a:p>
            <a:pPr algn="just" rtl="0">
              <a:spcBef>
                <a:spcPts val="1200"/>
              </a:spcBef>
              <a:spcAft>
                <a:spcPts val="1200"/>
              </a:spcAft>
            </a:pP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өзіндік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шешімдер</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оның</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ішінде WebCT/Blackboard (</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hlinkClick r:id="rId6"/>
              </a:rPr>
              <a:t>www.blackboard.com</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Бағалау</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ұпайы</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(www.gradepoint.net), Desire2Learn (www.desire2learn.com) және Learn.com (www.learn.com).</a:t>
            </a:r>
          </a:p>
        </p:txBody>
      </p:sp>
      <p:sp>
        <p:nvSpPr>
          <p:cNvPr id="7" name="Прямоугольник 6"/>
          <p:cNvSpPr/>
          <p:nvPr/>
        </p:nvSpPr>
        <p:spPr>
          <a:xfrm>
            <a:off x="766617" y="5179741"/>
            <a:ext cx="10631055" cy="646331"/>
          </a:xfrm>
          <a:prstGeom prst="rect">
            <a:avLst/>
          </a:prstGeom>
        </p:spPr>
        <p:txBody>
          <a:bodyPr wrap="square">
            <a:spAutoFit/>
          </a:bodyPr>
          <a:lstStyle/>
          <a:p>
            <a:pPr algn="l"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Тегін бағдарламалық құралдардың шешімдері әдетте арнайы талаптарға сай оқыту жүйесін теңшеуге және өзгертуге мүмкіндік беретін кеңейтілетін қабықшаларға негізделген.</a:t>
            </a:r>
          </a:p>
        </p:txBody>
      </p:sp>
    </p:spTree>
    <p:extLst>
      <p:ext uri="{BB962C8B-B14F-4D97-AF65-F5344CB8AC3E}">
        <p14:creationId xmlns:p14="http://schemas.microsoft.com/office/powerpoint/2010/main" val="426278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2. </a:t>
            </a:r>
            <a:r>
              <a:rPr lang="en-US" sz="4000" b="1" dirty="0">
                <a:latin typeface="Times New Roman" panose="02020603050405020304" pitchFamily="18" charset="0"/>
                <a:cs typeface="Times New Roman" panose="02020603050405020304" pitchFamily="18" charset="0"/>
              </a:rPr>
              <a:t>E-learning</a:t>
            </a:r>
            <a:endParaRPr lang="ru-RU" sz="40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627530" y="1796873"/>
            <a:ext cx="6831106" cy="4339650"/>
          </a:xfrm>
          <a:prstGeom prst="rect">
            <a:avLst/>
          </a:prstGeom>
        </p:spPr>
        <p:txBody>
          <a:bodyPr wrap="square">
            <a:spAutoFit/>
          </a:bodyPr>
          <a:lstStyle/>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Біздің елімізде қазақстандық ІТ-компаниялар электронды оқыту жүйесін жасап, енгізуде.</a:t>
            </a:r>
          </a:p>
          <a:p>
            <a:pPr algn="just" rtl="0">
              <a:spcBef>
                <a:spcPts val="1200"/>
              </a:spcBef>
              <a:spcAft>
                <a:spcPts val="1200"/>
              </a:spcAft>
            </a:pP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Іске</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асыру</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 оқыту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жүйелері</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Жоба</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2011 жылдан бастап Қазақстан Республикасының Білім беруді дамытудың мемлекеттік бағдарламасы аясында мемлекеттік орта, техникалық және кәсіптік білім беру ұйымдарында кезең-кезеңімен жүзеге асырылуда.</a:t>
            </a:r>
          </a:p>
          <a:p>
            <a:pPr algn="just" rtl="0">
              <a:spcBef>
                <a:spcPts val="1200"/>
              </a:spcBef>
              <a:spcAft>
                <a:spcPts val="1200"/>
              </a:spcAft>
            </a:pP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E-learning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жобасының</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мақсаты</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сапалы</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білім беру ресурстары мен қызметтерін дамыту болып табылады.</a:t>
            </a:r>
          </a:p>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Осылайша, кез келген студент кез келген уақытта, еліміздің кез келген нүктесінен цифрлық білім беру ресурстары мен ақпараттық жүйе қызметтерін пайдалана білуі қажет.</a:t>
            </a:r>
          </a:p>
        </p:txBody>
      </p:sp>
      <p:pic>
        <p:nvPicPr>
          <p:cNvPr id="4098" name="Picture 2" descr="http://3.bp.blogspot.com/-hxDjBuoxCNg/VX6GHtxVyUI/AAAAAAAAAGk/MrCe8vDI_VE/s1600/Tebays-eLearning-diagram-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9717" y="1883924"/>
            <a:ext cx="4075766" cy="4252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306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2. </a:t>
            </a:r>
            <a:r>
              <a:rPr lang="en-US" sz="4000" b="1" dirty="0">
                <a:latin typeface="Times New Roman" panose="02020603050405020304" pitchFamily="18" charset="0"/>
                <a:cs typeface="Times New Roman" panose="02020603050405020304" pitchFamily="18" charset="0"/>
              </a:rPr>
              <a:t>E-learning</a:t>
            </a:r>
            <a:endParaRPr lang="ru-RU" sz="40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697344" y="1737360"/>
            <a:ext cx="10235740" cy="2400657"/>
          </a:xfrm>
          <a:prstGeom prst="rect">
            <a:avLst/>
          </a:prstGeom>
        </p:spPr>
        <p:txBody>
          <a:bodyPr wrap="square">
            <a:spAutoFit/>
          </a:bodyPr>
          <a:lstStyle/>
          <a:p>
            <a:pPr algn="just" rtl="0">
              <a:spcBef>
                <a:spcPts val="1200"/>
              </a:spcBef>
              <a:spcAft>
                <a:spcPts val="1200"/>
              </a:spcAft>
            </a:pP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жобаланған</a:t>
            </a:r>
            <a:r>
              <a:rPr lang="kk-KZ"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пайдаланушылардың</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үш негізгі санаты үшін</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мектеп әкімшілігі, мұғалімдер және оқушылар сияқты білім беру ұйымдарын пайдаланушылар;</a:t>
            </a:r>
          </a:p>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Білім беру статистикасын жинақтайтын министрліктің құрылымдық бөлімшелері және облыстық білім басқармалары сияқты министрліктің мүшелері;</a:t>
            </a:r>
          </a:p>
          <a:p>
            <a:pPr algn="just" rtl="0">
              <a:spcBef>
                <a:spcPts val="1200"/>
              </a:spcBef>
              <a:spcAft>
                <a:spcPts val="1200"/>
              </a:spcAft>
            </a:pP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Оқушылардың ата-аналары ретінде сыртқы пайдаланушылар.</a:t>
            </a:r>
          </a:p>
        </p:txBody>
      </p:sp>
      <p:pic>
        <p:nvPicPr>
          <p:cNvPr id="15362" name="Picture 2" descr="How to Select a Complete Digital Education Solution Provider - ViewSonic  Libra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2494" y="3515336"/>
            <a:ext cx="3992162" cy="2245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469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2. </a:t>
            </a:r>
            <a:r>
              <a:rPr lang="en-US" sz="4000" b="1" dirty="0">
                <a:latin typeface="Times New Roman" panose="02020603050405020304" pitchFamily="18" charset="0"/>
                <a:cs typeface="Times New Roman" panose="02020603050405020304" pitchFamily="18" charset="0"/>
              </a:rPr>
              <a:t>E-learning</a:t>
            </a:r>
            <a:endParaRPr lang="ru-RU" sz="40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3495767" y="2640153"/>
            <a:ext cx="8294256" cy="2646878"/>
          </a:xfrm>
          <a:prstGeom prst="rect">
            <a:avLst/>
          </a:prstGeom>
        </p:spPr>
        <p:txBody>
          <a:bodyPr wrap="square">
            <a:spAutoFit/>
          </a:bodyPr>
          <a:lstStyle/>
          <a:p>
            <a:pPr algn="just" rtl="0">
              <a:spcBef>
                <a:spcPts val="1200"/>
              </a:spcBef>
              <a:spcAft>
                <a:spcPts val="1200"/>
              </a:spcAft>
            </a:pP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ілім</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беруді</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ақпараттандыру</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жаңа</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оқу құралдарын жасауды шұғыл талап етеді. Ең алдымен, бұл электронды кітаптар болуы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керек</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endPar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rtl="0">
              <a:spcBef>
                <a:spcPts val="1200"/>
              </a:spcBef>
              <a:spcAft>
                <a:spcPts val="1200"/>
              </a:spcAft>
            </a:pP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лектрондық</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оқулық бағдарламалық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қамтамасыз</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ету</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оқу</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процесінің ең жалпы дидактикалық заңдылықтарын және нақты пәндерді немесе пәндер топтарын оқытудың әдістемелік аспектілерін ескере отырып жүзеге асырылуы тиіс.</a:t>
            </a:r>
            <a:endPar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l" rtl="0">
              <a:spcBef>
                <a:spcPts val="1200"/>
              </a:spcBef>
              <a:spcAft>
                <a:spcPts val="1200"/>
              </a:spcAft>
            </a:pPr>
            <a:endParaRPr lang="en-US" dirty="0">
              <a:solidFill>
                <a:srgbClr val="333333"/>
              </a:solidFill>
              <a:latin typeface="Open Sans" panose="020B0606030504020204" pitchFamily="34" charset="0"/>
              <a:ea typeface="Times New Roman" panose="02020603050405020304" pitchFamily="18" charset="0"/>
            </a:endParaRPr>
          </a:p>
        </p:txBody>
      </p:sp>
      <p:pic>
        <p:nvPicPr>
          <p:cNvPr id="5122" name="Picture 2" descr="https://static.orgpage.ru/socialnewsphotos/af/af137e2cdcae4af3b14ea3b377579e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98100" y="286603"/>
            <a:ext cx="3391923" cy="1907957"/>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s://i.pinimg.com/originals/01/79/62/01796230b3bde6b580d5cc4f2822261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564713"/>
            <a:ext cx="3159839" cy="2369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036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en-US" sz="4000" dirty="0"/>
              <a:t>2. </a:t>
            </a:r>
            <a:r>
              <a:rPr lang="en-US" sz="4000" b="1" dirty="0">
                <a:latin typeface="Times New Roman" panose="02020603050405020304" pitchFamily="18" charset="0"/>
                <a:cs typeface="Times New Roman" panose="02020603050405020304" pitchFamily="18" charset="0"/>
              </a:rPr>
              <a:t>E-learning</a:t>
            </a:r>
            <a:endParaRPr lang="ru-RU" sz="4000" b="1"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264160" y="1737360"/>
            <a:ext cx="7356647" cy="4031873"/>
          </a:xfrm>
          <a:prstGeom prst="rect">
            <a:avLst/>
          </a:prstGeom>
        </p:spPr>
        <p:txBody>
          <a:bodyPr wrap="square">
            <a:spAutoFit/>
          </a:bodyPr>
          <a:lstStyle/>
          <a:p>
            <a:pPr algn="just" rtl="0">
              <a:spcBef>
                <a:spcPts val="1200"/>
              </a:spcBef>
              <a:spcAft>
                <a:spcPts val="1200"/>
              </a:spcAft>
            </a:pP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Сабақтарда</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қолданылатын</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оқулық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иллюстрациялық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бейнематериалдарды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дыбыспен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сүйемелденетін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анимацияларды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дәріс</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мәтіні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графика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дыбыс</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арқылы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күрделі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құбылыстар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процестерді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құралдарын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пайдалану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мүмкіндігін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қамтамасыз</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етуі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тиіс</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Зертханалық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сабақтарда</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пайдаланылатын</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оқулықта</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оқытуды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автоматтандыру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жұмысқа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жеткізу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эксперименттер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жүргізу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эксперименттік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деректерді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өңдеу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зертханалық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жұмыстың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нәтижелерін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ұсыну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құралдары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болуға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тиіс</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Зертханалық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жұмыстарда</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қолданылатын</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оқулықтар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оқушылардың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білімі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дағдыларын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автоматтандырылған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бақылауды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қамтуы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керек.</a:t>
            </a:r>
            <a:endParaRPr lang="en-US" dirty="0">
              <a:solidFill>
                <a:srgbClr val="333333"/>
              </a:solidFill>
              <a:latin typeface="Open Sans" panose="020B0606030504020204" pitchFamily="34" charset="0"/>
              <a:ea typeface="Times New Roman" panose="02020603050405020304" pitchFamily="18" charset="0"/>
            </a:endParaRPr>
          </a:p>
        </p:txBody>
      </p:sp>
      <p:pic>
        <p:nvPicPr>
          <p:cNvPr id="6146" name="Picture 2" descr="https://pbs.twimg.com/media/CVPhn40WwAAJFAe?format=jpg&amp;name=medium"/>
          <p:cNvPicPr>
            <a:picLocks noChangeAspect="1" noChangeArrowheads="1"/>
          </p:cNvPicPr>
          <p:nvPr/>
        </p:nvPicPr>
        <p:blipFill rotWithShape="1">
          <a:blip r:embed="rId2">
            <a:extLst>
              <a:ext uri="{28A0092B-C50C-407E-A947-70E740481C1C}">
                <a14:useLocalDpi xmlns:a14="http://schemas.microsoft.com/office/drawing/2010/main" val="0"/>
              </a:ext>
            </a:extLst>
          </a:blip>
          <a:srcRect t="24493"/>
          <a:stretch/>
        </p:blipFill>
        <p:spPr bwMode="auto">
          <a:xfrm>
            <a:off x="7810673" y="442751"/>
            <a:ext cx="4117167" cy="2589218"/>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p:cNvPicPr>
            <a:picLocks noChangeAspect="1"/>
          </p:cNvPicPr>
          <p:nvPr/>
        </p:nvPicPr>
        <p:blipFill>
          <a:blip r:embed="rId3"/>
          <a:stretch>
            <a:fillRect/>
          </a:stretch>
        </p:blipFill>
        <p:spPr>
          <a:xfrm>
            <a:off x="7810672" y="3317531"/>
            <a:ext cx="4117167" cy="2600606"/>
          </a:xfrm>
          <a:prstGeom prst="rect">
            <a:avLst/>
          </a:prstGeom>
        </p:spPr>
      </p:pic>
    </p:spTree>
    <p:extLst>
      <p:ext uri="{BB962C8B-B14F-4D97-AF65-F5344CB8AC3E}">
        <p14:creationId xmlns:p14="http://schemas.microsoft.com/office/powerpoint/2010/main" val="3037209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t>3</a:t>
            </a:r>
            <a:r>
              <a:rPr lang="en-US" sz="4000" dirty="0"/>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4701309" y="2027503"/>
            <a:ext cx="6548582" cy="1436133"/>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rtl="0"/>
            <a:r>
              <a:rPr lang="ru-RU" b="1" dirty="0" err="1">
                <a:solidFill>
                  <a:schemeClr val="tx1"/>
                </a:solidFill>
                <a:latin typeface="Times New Roman" panose="02020603050405020304" pitchFamily="18" charset="0"/>
                <a:cs typeface="Times New Roman" panose="02020603050405020304" pitchFamily="18" charset="0"/>
              </a:rPr>
              <a:t>Электрондық</a:t>
            </a:r>
            <a:r>
              <a:rPr lang="ru-RU" b="1" dirty="0">
                <a:solidFill>
                  <a:schemeClr val="tx1"/>
                </a:solidFill>
                <a:latin typeface="Times New Roman" panose="02020603050405020304" pitchFamily="18" charset="0"/>
                <a:cs typeface="Times New Roman" panose="02020603050405020304" pitchFamily="18" charset="0"/>
              </a:rPr>
              <a:t> </a:t>
            </a:r>
            <a:r>
              <a:rPr lang="ru-RU" b="1" dirty="0" err="1">
                <a:solidFill>
                  <a:schemeClr val="tx1"/>
                </a:solidFill>
                <a:latin typeface="Times New Roman" panose="02020603050405020304" pitchFamily="18" charset="0"/>
                <a:cs typeface="Times New Roman" panose="02020603050405020304" pitchFamily="18" charset="0"/>
              </a:rPr>
              <a:t>үкімет</a:t>
            </a:r>
            <a:r>
              <a:rPr lang="ru-RU" b="1"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бұл</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басқару</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жүйесі</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билік</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органдарының</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өздері</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азаматтармен</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және</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ақпараттық</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технологияларды</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қолданатын</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кәсіпорындармен</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өзара</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іс-қимыл</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жүйесі</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бұл</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бюрократиялық</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әуре-сарсаңды</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қысқартып</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Үкімет</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қызметінің</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ашықтығын</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арттыруы</a:t>
            </a:r>
            <a:r>
              <a:rPr lang="ru-RU" dirty="0">
                <a:solidFill>
                  <a:schemeClr val="tx1"/>
                </a:solidFill>
                <a:latin typeface="Times New Roman" panose="02020603050405020304" pitchFamily="18" charset="0"/>
                <a:cs typeface="Times New Roman" panose="02020603050405020304" pitchFamily="18" charset="0"/>
              </a:rPr>
              <a:t> </a:t>
            </a:r>
            <a:r>
              <a:rPr lang="ru-RU" dirty="0" err="1">
                <a:solidFill>
                  <a:schemeClr val="tx1"/>
                </a:solidFill>
                <a:latin typeface="Times New Roman" panose="02020603050405020304" pitchFamily="18" charset="0"/>
                <a:cs typeface="Times New Roman" panose="02020603050405020304" pitchFamily="18" charset="0"/>
              </a:rPr>
              <a:t>тиіс</a:t>
            </a:r>
            <a:r>
              <a:rPr lang="ru-RU" dirty="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18434" name="Picture 2" descr="E-government, a new opportunity that should be seized - Tehran Tim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049" y="1836051"/>
            <a:ext cx="3926896" cy="4151053"/>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4608945" y="3918431"/>
            <a:ext cx="6640946" cy="1200329"/>
          </a:xfrm>
          <a:prstGeom prst="rect">
            <a:avLst/>
          </a:prstGeom>
        </p:spPr>
        <p:txBody>
          <a:bodyPr wrap="square">
            <a:spAutoFit/>
          </a:bodyPr>
          <a:lstStyle/>
          <a:p>
            <a:pPr algn="just" rtl="0">
              <a:spcBef>
                <a:spcPts val="1200"/>
              </a:spcBef>
              <a:spcAft>
                <a:spcPts val="1200"/>
              </a:spcAft>
            </a:pP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Қазақстанда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үкімет</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идеясы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2004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жылғы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19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наурызда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ұсынылды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Бүгінгі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таңда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Қазақстанда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алу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мақсатында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халық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пен бизнес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үшін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бірыңғай</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терезе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қағидаты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бойынша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үш</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кіру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нүктесі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құрылды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6" name="Прямоугольник 5"/>
          <p:cNvSpPr/>
          <p:nvPr/>
        </p:nvSpPr>
        <p:spPr>
          <a:xfrm>
            <a:off x="4119004" y="6303072"/>
            <a:ext cx="3695371" cy="523220"/>
          </a:xfrm>
          <a:prstGeom prst="rect">
            <a:avLst/>
          </a:prstGeom>
        </p:spPr>
        <p:txBody>
          <a:bodyPr wrap="none">
            <a:spAutoFit/>
          </a:bodyPr>
          <a:lstStyle/>
          <a:p>
            <a:pPr algn="l" rtl="0"/>
            <a:r>
              <a:rPr lang="ru-RU" sz="2800" b="1" dirty="0">
                <a:solidFill>
                  <a:schemeClr val="bg1"/>
                </a:solidFill>
              </a:rPr>
              <a:t>https://egov.kz/cms/ru</a:t>
            </a:r>
          </a:p>
        </p:txBody>
      </p:sp>
    </p:spTree>
    <p:extLst>
      <p:ext uri="{BB962C8B-B14F-4D97-AF65-F5344CB8AC3E}">
        <p14:creationId xmlns:p14="http://schemas.microsoft.com/office/powerpoint/2010/main" val="738863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t>3</a:t>
            </a:r>
            <a:r>
              <a:rPr lang="en-US" sz="4000" dirty="0"/>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sp>
        <p:nvSpPr>
          <p:cNvPr id="3" name="Прямоугольник 2"/>
          <p:cNvSpPr/>
          <p:nvPr/>
        </p:nvSpPr>
        <p:spPr>
          <a:xfrm>
            <a:off x="1097280" y="1957845"/>
            <a:ext cx="10152611" cy="3477875"/>
          </a:xfrm>
          <a:prstGeom prst="rect">
            <a:avLst/>
          </a:prstGeom>
        </p:spPr>
        <p:txBody>
          <a:bodyPr wrap="square">
            <a:spAutoFit/>
          </a:bodyPr>
          <a:lstStyle/>
          <a:p>
            <a:pPr algn="just" rtl="0">
              <a:spcBef>
                <a:spcPts val="1200"/>
              </a:spcBef>
              <a:spcAft>
                <a:spcPts val="1200"/>
              </a:spcAft>
            </a:pP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Басқаруда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АКТ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қолдану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келесі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негізгі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өзгерістердің</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біріне</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әкелуі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мүмкін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Қолданыстағы</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басқару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өнімдері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көрсетілетін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қызметтердің</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сапасы</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стандарттарын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арттыру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Азаматтарға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пайдаланушыларға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жаңа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өнімдерді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ұсыну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Азаматтардың</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пайдаланушылардың</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қандай</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өнімдер</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көрсетілуі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тиіс</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қандай</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жолмен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туралы</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шешім</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қабылдауға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қатысуын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күшейту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басқару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саласына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жаңа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әлеуметтік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таптарды</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енгізу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оның</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ішінде</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кедей</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сауатсыз</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мүгедек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мигрант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ішкі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қоныс</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аударған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адамдар</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назардан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тыс</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қалуы</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мүмкін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7"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119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t>3</a:t>
            </a:r>
            <a:r>
              <a:rPr lang="en-US" sz="4000" dirty="0"/>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sp>
        <p:nvSpPr>
          <p:cNvPr id="3" name="Прямоугольник 2"/>
          <p:cNvSpPr/>
          <p:nvPr/>
        </p:nvSpPr>
        <p:spPr>
          <a:xfrm>
            <a:off x="1097280" y="1957845"/>
            <a:ext cx="10152611" cy="2862322"/>
          </a:xfrm>
          <a:prstGeom prst="rect">
            <a:avLst/>
          </a:prstGeom>
        </p:spPr>
        <p:txBody>
          <a:bodyPr wrap="square">
            <a:spAutoFit/>
          </a:bodyPr>
          <a:lstStyle/>
          <a:p>
            <a:pPr algn="just" rtl="0">
              <a:spcBef>
                <a:spcPts val="1200"/>
              </a:spcBef>
              <a:spcAft>
                <a:spcPts val="1200"/>
              </a:spcAft>
            </a:pP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Осылайша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Үкімет</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қолданыстағы</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қызметтерді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цифрландыру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автоматтандыру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ғана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емес</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Оның</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орнына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үкімет</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бұл</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қызметтерді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қоғамның</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барлық</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салаларына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тиімдірек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ұсынылатындай</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етіп</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түрлендіруге</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бағытталған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құрал</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Бүгінгі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таңда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қызметтердің</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сапасы</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екі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негізгі</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құралды</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Халыққа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орталықтарын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(ХҚКО)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үкімет</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веб-</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порталын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дамыту</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есебінен</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sz="2000"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арттырылуда</a:t>
            </a:r>
            <a:r>
              <a:rPr lang="ru-RU"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4084320" y="4697905"/>
            <a:ext cx="5643091" cy="1626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5573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t>3</a:t>
            </a:r>
            <a:r>
              <a:rPr lang="en-US" sz="4000" dirty="0"/>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sp>
        <p:nvSpPr>
          <p:cNvPr id="3" name="Прямоугольник 2"/>
          <p:cNvSpPr/>
          <p:nvPr/>
        </p:nvSpPr>
        <p:spPr>
          <a:xfrm>
            <a:off x="1097279" y="2632221"/>
            <a:ext cx="4869411" cy="2862322"/>
          </a:xfrm>
          <a:prstGeom prst="rect">
            <a:avLst/>
          </a:prstGeom>
        </p:spPr>
        <p:txBody>
          <a:bodyPr wrap="square">
            <a:spAutoFit/>
          </a:bodyPr>
          <a:lstStyle/>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Заңды</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АКТ саласындағы нормативтік құқықтық базаны жетілдіру</a:t>
            </a:r>
          </a:p>
          <a:p>
            <a:pPr algn="l" rtl="0"/>
            <a:endPar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әлеуметтік</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-Барлық тұрғындардың электрондық мемлекеттік қызметтерге қолжетімділігін қамтамасыз ету.</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Білім берудегі АКТ-дағы теңсіздікті жою</a:t>
            </a:r>
          </a:p>
          <a:p>
            <a:pPr algn="l" rtl="0"/>
            <a:endParaRPr lang="ru-RU" dirty="0">
              <a:solidFill>
                <a:srgbClr val="333333"/>
              </a:solidFill>
              <a:latin typeface="Open Sans" panose="020B0606030504020204" pitchFamily="34" charset="0"/>
              <a:ea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p:cNvSpPr/>
          <p:nvPr/>
        </p:nvSpPr>
        <p:spPr>
          <a:xfrm>
            <a:off x="6126480" y="2530500"/>
            <a:ext cx="5649884" cy="3139321"/>
          </a:xfrm>
          <a:prstGeom prst="rect">
            <a:avLst/>
          </a:prstGeom>
        </p:spPr>
        <p:txBody>
          <a:bodyPr wrap="square">
            <a:spAutoFit/>
          </a:bodyPr>
          <a:lstStyle/>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Ақпараттық</a:t>
            </a:r>
          </a:p>
          <a:p>
            <a:pPr algn="l" rtl="0"/>
            <a:endPar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a:t>
            </a:r>
          </a:p>
          <a:p>
            <a:pPr algn="l" rtl="0"/>
            <a:endPar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 қызметтерді анықтау және қалыптастыру</a:t>
            </a:r>
          </a:p>
          <a:p>
            <a:pPr algn="l" rtl="0"/>
            <a:endPar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Технологиялық</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Стандарттармен алмасу</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Көлік ортасы</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-Ақпараттық ресурстар</a:t>
            </a:r>
          </a:p>
        </p:txBody>
      </p:sp>
      <p:sp>
        <p:nvSpPr>
          <p:cNvPr id="5" name="Прямоугольник 4"/>
          <p:cNvSpPr/>
          <p:nvPr/>
        </p:nvSpPr>
        <p:spPr>
          <a:xfrm>
            <a:off x="2964872" y="2000125"/>
            <a:ext cx="4823230" cy="369332"/>
          </a:xfrm>
          <a:prstGeom prst="rect">
            <a:avLst/>
          </a:prstGeom>
        </p:spPr>
        <p:txBody>
          <a:bodyPr wrap="square">
            <a:spAutoFit/>
          </a:bodyPr>
          <a:lstStyle/>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 үкіметті енгізудің шарттары:</a:t>
            </a:r>
          </a:p>
        </p:txBody>
      </p:sp>
    </p:spTree>
    <p:extLst>
      <p:ext uri="{BB962C8B-B14F-4D97-AF65-F5344CB8AC3E}">
        <p14:creationId xmlns:p14="http://schemas.microsoft.com/office/powerpoint/2010/main" val="27585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t>3</a:t>
            </a:r>
            <a:r>
              <a:rPr lang="en-US" sz="4000" dirty="0"/>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78298" y="1765249"/>
            <a:ext cx="9227128" cy="369332"/>
          </a:xfrm>
          <a:prstGeom prst="rect">
            <a:avLst/>
          </a:prstGeom>
        </p:spPr>
        <p:txBody>
          <a:bodyPr wrap="square">
            <a:spAutoFit/>
          </a:bodyPr>
          <a:lstStyle/>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 үкіметті енгізудің шарттары</a:t>
            </a:r>
            <a:r>
              <a:rPr lang="en-US" b="1" dirty="0">
                <a:solidFill>
                  <a:srgbClr val="333333"/>
                </a:solidFill>
                <a:latin typeface="Open Sans" panose="020B0606030504020204" pitchFamily="34" charset="0"/>
                <a:ea typeface="Times New Roman" panose="02020603050405020304" pitchFamily="18" charset="0"/>
              </a:rPr>
              <a:t>:</a:t>
            </a:r>
          </a:p>
        </p:txBody>
      </p:sp>
      <p:pic>
        <p:nvPicPr>
          <p:cNvPr id="4" name="Рисунок 3">
            <a:extLst>
              <a:ext uri="{FF2B5EF4-FFF2-40B4-BE49-F238E27FC236}">
                <a16:creationId xmlns="" xmlns:a16="http://schemas.microsoft.com/office/drawing/2014/main" id="{B1DB81D0-6A1C-6F47-0957-3307D77B227A}"/>
              </a:ext>
            </a:extLst>
          </p:cNvPr>
          <p:cNvPicPr>
            <a:picLocks noChangeAspect="1"/>
          </p:cNvPicPr>
          <p:nvPr/>
        </p:nvPicPr>
        <p:blipFill>
          <a:blip r:embed="rId3"/>
          <a:stretch>
            <a:fillRect/>
          </a:stretch>
        </p:blipFill>
        <p:spPr>
          <a:xfrm>
            <a:off x="1270000" y="2329885"/>
            <a:ext cx="9885680" cy="3585102"/>
          </a:xfrm>
          <a:prstGeom prst="rect">
            <a:avLst/>
          </a:prstGeom>
        </p:spPr>
      </p:pic>
    </p:spTree>
    <p:extLst>
      <p:ext uri="{BB962C8B-B14F-4D97-AF65-F5344CB8AC3E}">
        <p14:creationId xmlns:p14="http://schemas.microsoft.com/office/powerpoint/2010/main" val="2448556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t>3</a:t>
            </a:r>
            <a:r>
              <a:rPr lang="en-US" sz="4000" dirty="0"/>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78298" y="1765249"/>
            <a:ext cx="9227128" cy="369332"/>
          </a:xfrm>
          <a:prstGeom prst="rect">
            <a:avLst/>
          </a:prstGeom>
        </p:spPr>
        <p:txBody>
          <a:bodyPr wrap="square">
            <a:spAutoFit/>
          </a:bodyPr>
          <a:lstStyle/>
          <a:p>
            <a:pPr algn="l" rtl="0"/>
            <a:r>
              <a:rPr lang="en-US" b="1" dirty="0">
                <a:solidFill>
                  <a:srgbClr val="333333"/>
                </a:solidFill>
                <a:latin typeface="Open Sans" panose="020B0606030504020204" pitchFamily="34" charset="0"/>
                <a:ea typeface="Times New Roman" panose="02020603050405020304" pitchFamily="18" charset="0"/>
              </a:rPr>
              <a:t>Электрондық үкіметті енгізудің шарттары:</a:t>
            </a:r>
          </a:p>
        </p:txBody>
      </p:sp>
      <p:pic>
        <p:nvPicPr>
          <p:cNvPr id="6" name="Рисунок 5">
            <a:extLst>
              <a:ext uri="{FF2B5EF4-FFF2-40B4-BE49-F238E27FC236}">
                <a16:creationId xmlns="" xmlns:a16="http://schemas.microsoft.com/office/drawing/2014/main" id="{7D506C8C-8DD5-C07C-15F7-FC6ECAA5FD81}"/>
              </a:ext>
            </a:extLst>
          </p:cNvPr>
          <p:cNvPicPr>
            <a:picLocks noChangeAspect="1"/>
          </p:cNvPicPr>
          <p:nvPr/>
        </p:nvPicPr>
        <p:blipFill>
          <a:blip r:embed="rId3"/>
          <a:stretch>
            <a:fillRect/>
          </a:stretch>
        </p:blipFill>
        <p:spPr>
          <a:xfrm>
            <a:off x="1097280" y="2162470"/>
            <a:ext cx="10688320" cy="3934277"/>
          </a:xfrm>
          <a:prstGeom prst="rect">
            <a:avLst/>
          </a:prstGeom>
        </p:spPr>
      </p:pic>
    </p:spTree>
    <p:extLst>
      <p:ext uri="{BB962C8B-B14F-4D97-AF65-F5344CB8AC3E}">
        <p14:creationId xmlns:p14="http://schemas.microsoft.com/office/powerpoint/2010/main" val="4057543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latin typeface="Times New Roman" panose="02020603050405020304" pitchFamily="18" charset="0"/>
                <a:cs typeface="Times New Roman" panose="02020603050405020304" pitchFamily="18" charset="0"/>
              </a:rPr>
              <a:t>3</a:t>
            </a:r>
            <a:r>
              <a:rPr lang="en-US" sz="4000" dirty="0">
                <a:latin typeface="Times New Roman" panose="02020603050405020304" pitchFamily="18" charset="0"/>
                <a:cs typeface="Times New Roman" panose="02020603050405020304" pitchFamily="18" charset="0"/>
              </a:rPr>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pic>
        <p:nvPicPr>
          <p:cNvPr id="7" name="Рисунок 6"/>
          <p:cNvPicPr>
            <a:picLocks noChangeAspect="1"/>
          </p:cNvPicPr>
          <p:nvPr/>
        </p:nvPicPr>
        <p:blipFill>
          <a:blip r:embed="rId2"/>
          <a:stretch>
            <a:fillRect/>
          </a:stretch>
        </p:blipFill>
        <p:spPr>
          <a:xfrm>
            <a:off x="2235200" y="1745109"/>
            <a:ext cx="5426765" cy="4527508"/>
          </a:xfrm>
          <a:prstGeom prst="rect">
            <a:avLst/>
          </a:prstGeom>
        </p:spPr>
      </p:pic>
      <p:pic>
        <p:nvPicPr>
          <p:cNvPr id="8" name="Рисунок 7"/>
          <p:cNvPicPr>
            <a:picLocks noChangeAspect="1"/>
          </p:cNvPicPr>
          <p:nvPr/>
        </p:nvPicPr>
        <p:blipFill>
          <a:blip r:embed="rId3"/>
          <a:stretch>
            <a:fillRect/>
          </a:stretch>
        </p:blipFill>
        <p:spPr>
          <a:xfrm>
            <a:off x="9238129" y="286603"/>
            <a:ext cx="2487706" cy="1377123"/>
          </a:xfrm>
          <a:prstGeom prst="rect">
            <a:avLst/>
          </a:prstGeom>
        </p:spPr>
      </p:pic>
    </p:spTree>
    <p:extLst>
      <p:ext uri="{BB962C8B-B14F-4D97-AF65-F5344CB8AC3E}">
        <p14:creationId xmlns:p14="http://schemas.microsoft.com/office/powerpoint/2010/main" val="2790755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latin typeface="Times New Roman" panose="02020603050405020304" pitchFamily="18" charset="0"/>
                <a:cs typeface="Times New Roman" panose="02020603050405020304" pitchFamily="18" charset="0"/>
              </a:rPr>
              <a:t>3</a:t>
            </a:r>
            <a:r>
              <a:rPr lang="en-US" sz="4000" dirty="0">
                <a:latin typeface="Times New Roman" panose="02020603050405020304" pitchFamily="18" charset="0"/>
                <a:cs typeface="Times New Roman" panose="02020603050405020304" pitchFamily="18" charset="0"/>
              </a:rPr>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pic>
        <p:nvPicPr>
          <p:cNvPr id="3" name="Рисунок 2"/>
          <p:cNvPicPr>
            <a:picLocks noChangeAspect="1"/>
          </p:cNvPicPr>
          <p:nvPr/>
        </p:nvPicPr>
        <p:blipFill>
          <a:blip r:embed="rId2"/>
          <a:stretch>
            <a:fillRect/>
          </a:stretch>
        </p:blipFill>
        <p:spPr>
          <a:xfrm>
            <a:off x="1950196" y="1923020"/>
            <a:ext cx="5492014" cy="3851459"/>
          </a:xfrm>
          <a:prstGeom prst="rect">
            <a:avLst/>
          </a:prstGeom>
        </p:spPr>
      </p:pic>
      <p:pic>
        <p:nvPicPr>
          <p:cNvPr id="9" name="Рисунок 8"/>
          <p:cNvPicPr>
            <a:picLocks noChangeAspect="1"/>
          </p:cNvPicPr>
          <p:nvPr/>
        </p:nvPicPr>
        <p:blipFill>
          <a:blip r:embed="rId3"/>
          <a:stretch>
            <a:fillRect/>
          </a:stretch>
        </p:blipFill>
        <p:spPr>
          <a:xfrm>
            <a:off x="9238129" y="286603"/>
            <a:ext cx="2487706" cy="1377123"/>
          </a:xfrm>
          <a:prstGeom prst="rect">
            <a:avLst/>
          </a:prstGeom>
        </p:spPr>
      </p:pic>
    </p:spTree>
    <p:extLst>
      <p:ext uri="{BB962C8B-B14F-4D97-AF65-F5344CB8AC3E}">
        <p14:creationId xmlns:p14="http://schemas.microsoft.com/office/powerpoint/2010/main" val="2697410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latin typeface="Times New Roman" panose="02020603050405020304" pitchFamily="18" charset="0"/>
                <a:cs typeface="Times New Roman" panose="02020603050405020304" pitchFamily="18" charset="0"/>
              </a:rPr>
              <a:t>3</a:t>
            </a:r>
            <a:r>
              <a:rPr lang="en-US" sz="4000" dirty="0">
                <a:latin typeface="Times New Roman" panose="02020603050405020304" pitchFamily="18" charset="0"/>
                <a:cs typeface="Times New Roman" panose="02020603050405020304" pitchFamily="18" charset="0"/>
              </a:rPr>
              <a:t>.Электрондық үкімет</a:t>
            </a:r>
            <a:endParaRPr lang="ru-RU" sz="4000" dirty="0">
              <a:latin typeface="Times New Roman" panose="02020603050405020304" pitchFamily="18" charset="0"/>
              <a:cs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97280" y="1958121"/>
            <a:ext cx="10298545" cy="3785652"/>
          </a:xfrm>
          <a:prstGeom prst="rect">
            <a:avLst/>
          </a:prstGeom>
        </p:spPr>
        <p:txBody>
          <a:bodyPr wrap="square">
            <a:spAutoFit/>
          </a:bodyPr>
          <a:lstStyle/>
          <a:p>
            <a:pPr algn="l" rtl="0">
              <a:spcBef>
                <a:spcPts val="1200"/>
              </a:spcBef>
              <a:spcAft>
                <a:spcPts val="1200"/>
              </a:spcAft>
            </a:pP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Жүйенің</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архитектурасы</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қызметтердің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негізгі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байланыстарын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көрсетеді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Онда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функциялардың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орындалуын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қамтамасыз</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ету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үшін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органдар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жергілікті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өзін-өзі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басқарудың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ақпараттық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жүйелерін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әзірлеу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бойынша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стандарттар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әдістемелік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ұсыныстар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бар.</a:t>
            </a:r>
          </a:p>
          <a:p>
            <a:pPr algn="l" rtl="0">
              <a:spcBef>
                <a:spcPts val="1200"/>
              </a:spcBef>
              <a:spcAft>
                <a:spcPts val="1200"/>
              </a:spcAft>
            </a:pP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Техникалық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архитектура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жүйелік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архитектураның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қолданбалы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компоненттері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арасындағы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өзара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әрекеттесу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құралы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ретінде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негізгі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АКТ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мүмкіндіктерін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көрсетеді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l" rtl="0">
              <a:spcBef>
                <a:spcPts val="1200"/>
              </a:spcBef>
              <a:spcAft>
                <a:spcPts val="1200"/>
              </a:spcAft>
            </a:pP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Үздіксіздік</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пен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қауіпсіздік</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архитектурасы</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іс-шаралар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құралдар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жиынтығын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архитектуралық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деңгейде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жоспарлауға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қолдауға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қадағалауға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арналған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just" rtl="0">
              <a:spcBef>
                <a:spcPts val="1200"/>
              </a:spcBef>
              <a:spcAft>
                <a:spcPts val="1200"/>
              </a:spcAft>
            </a:pP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үкіметтің</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оның</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құрамдас</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бөліктерінің</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тиімділік</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архитектурасы</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үкіметтің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оның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құрамдас</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бөліктерінің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тиімділік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көрсеткіштерін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бағалауға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арналған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теңдестірілген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көрсеткіштер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жалпы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көрсеткіштер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жүйесі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болып</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табылады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8194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latin typeface="Times New Roman" panose="02020603050405020304" pitchFamily="18" charset="0"/>
                <a:cs typeface="Times New Roman" panose="02020603050405020304" pitchFamily="18" charset="0"/>
              </a:rPr>
              <a:t>3</a:t>
            </a:r>
            <a:r>
              <a:rPr lang="en-US" sz="4000" dirty="0">
                <a:latin typeface="Times New Roman" panose="02020603050405020304" pitchFamily="18" charset="0"/>
                <a:cs typeface="Times New Roman" panose="02020603050405020304" pitchFamily="18" charset="0"/>
              </a:rPr>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97281" y="1957845"/>
            <a:ext cx="10124902" cy="2862322"/>
          </a:xfrm>
          <a:prstGeom prst="rect">
            <a:avLst/>
          </a:prstGeom>
        </p:spPr>
        <p:txBody>
          <a:bodyPr wrap="square">
            <a:spAutoFit/>
          </a:bodyPr>
          <a:lstStyle/>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Ақпараттық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қоғамның</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дамуы</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көптеген</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ұйымдарды «электрондық үкімет» тұжырымдамасын қабылдауға итермелейді:</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Интернет арқылы халыққа кешенді қызмет көрсету. Азаматтар мен жеке компаниялар барлық транзакцияларды бір жерде орындай алады, оған кіру тәулік бойы, аптасына 7 күн ашық.</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Цифрлық теңсіздікті жеңу.</a:t>
            </a:r>
          </a:p>
          <a:p>
            <a:pPr algn="l" rtl="0"/>
            <a:endPar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l" rtl="0"/>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 жаңа технологияларды қолжетімді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ете</a:t>
            </a:r>
            <a:r>
              <a:rPr lang="en-US"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алады</a:t>
            </a:r>
            <a:r>
              <a:rPr lang="kk-KZ"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қоғамның</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аз ауқатты топтары үшін, сондай-ақ әсіресе жастар мен қарт адамдар үшін компьютерлік дағдыларды оқытуды қамтамасыз етеді.</a:t>
            </a:r>
          </a:p>
          <a:p>
            <a:pPr algn="l" rtl="0"/>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Адамдарға өмір бойы білім алуға мүмкіндік беру.</a:t>
            </a:r>
          </a:p>
        </p:txBody>
      </p:sp>
    </p:spTree>
    <p:extLst>
      <p:ext uri="{BB962C8B-B14F-4D97-AF65-F5344CB8AC3E}">
        <p14:creationId xmlns:p14="http://schemas.microsoft.com/office/powerpoint/2010/main" val="17820177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62182" y="354355"/>
            <a:ext cx="10058400" cy="1450757"/>
          </a:xfrm>
        </p:spPr>
        <p:txBody>
          <a:bodyPr>
            <a:normAutofit/>
          </a:bodyPr>
          <a:lstStyle/>
          <a:p>
            <a:pPr algn="l" rtl="0"/>
            <a:r>
              <a:rPr lang="ru-RU" sz="4000" dirty="0">
                <a:latin typeface="Times New Roman" panose="02020603050405020304" pitchFamily="18" charset="0"/>
                <a:cs typeface="Times New Roman" panose="02020603050405020304" pitchFamily="18" charset="0"/>
              </a:rPr>
              <a:t>3</a:t>
            </a:r>
            <a:r>
              <a:rPr lang="en-US" sz="4000" dirty="0">
                <a:latin typeface="Times New Roman" panose="02020603050405020304" pitchFamily="18" charset="0"/>
                <a:cs typeface="Times New Roman" panose="02020603050405020304" pitchFamily="18" charset="0"/>
              </a:rPr>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30778" y="1805112"/>
            <a:ext cx="10089804" cy="3416320"/>
          </a:xfrm>
          <a:prstGeom prst="rect">
            <a:avLst/>
          </a:prstGeom>
        </p:spPr>
        <p:txBody>
          <a:bodyPr wrap="square">
            <a:spAutoFit/>
          </a:bodyPr>
          <a:lstStyle/>
          <a:p>
            <a:pPr algn="l" rtl="0"/>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Адам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мектепті</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тастап</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кеткен</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сәтте</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оқыту</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тоқтамайды</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деген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Идея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енді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eLearning-</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кеңінен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қолдану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арқылы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жүзеге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асырылуы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мүмкін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l" rtl="0"/>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Халықпен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қарым-қатынасты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қайта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органдар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жаңа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ақпараттық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технологияларды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қолдана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алады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адамдардың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жеке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ескереді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жеке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қызметтерді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ұсына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алады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l" rtl="0"/>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Экономиканың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дамуына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ықпал</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ету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l" rtl="0"/>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органдар</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жеке</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компанияларға</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Интернетке</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қосылуға</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көмектесе</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алады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сонымен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қатар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оларға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құралдарды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пайдалануға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көмектеседі.Бұл</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кейде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кеңес</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беруді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немесе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қаржылық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ынталандыруды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қажет</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етуі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мүмкін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l" rtl="0"/>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Ақылға</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қонымды</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заңдар</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негізделген</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саясатты</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әзірлеу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транзакциялардың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барлық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түрлеріне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сенім</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білдіре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отырып</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экономикалық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даму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қажеттіліктері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ақпараттың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құпиялылығын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қамтамасыз</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ету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арасындағы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тепе-</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теңдікті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сақтай</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отырып</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жаңа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заңнаманы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әзірлеуде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икемділік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танытуы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керек.</a:t>
            </a:r>
            <a:endParaRPr lang="en-US"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2972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t>3</a:t>
            </a:r>
            <a:r>
              <a:rPr lang="en-US" sz="4000" dirty="0"/>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 xmlns:a16="http://schemas.microsoft.com/office/drawing/2014/main" id="{7AAC8A4B-99AA-9DEA-7173-E0B948D8F340}"/>
              </a:ext>
            </a:extLst>
          </p:cNvPr>
          <p:cNvSpPr txBox="1"/>
          <p:nvPr/>
        </p:nvSpPr>
        <p:spPr>
          <a:xfrm>
            <a:off x="1097280" y="1859340"/>
            <a:ext cx="10058400" cy="3416320"/>
          </a:xfrm>
          <a:prstGeom prst="rect">
            <a:avLst/>
          </a:prstGeom>
          <a:noFill/>
        </p:spPr>
        <p:txBody>
          <a:bodyPr wrap="square">
            <a:spAutoFit/>
          </a:bodyPr>
          <a:lstStyle/>
          <a:p>
            <a:r>
              <a:rPr lang="ru-KZ" dirty="0" err="1">
                <a:latin typeface="Times New Roman" panose="02020603050405020304" pitchFamily="18" charset="0"/>
                <a:cs typeface="Times New Roman" panose="02020603050405020304" pitchFamily="18" charset="0"/>
              </a:rPr>
              <a:t>Әлемнің</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әртүрлі</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өңірлері</a:t>
            </a:r>
            <a:r>
              <a:rPr lang="ru-KZ" dirty="0">
                <a:latin typeface="Times New Roman" panose="02020603050405020304" pitchFamily="18" charset="0"/>
                <a:cs typeface="Times New Roman" panose="02020603050405020304" pitchFamily="18" charset="0"/>
              </a:rPr>
              <a:t> мен </a:t>
            </a:r>
            <a:r>
              <a:rPr lang="ru-KZ" dirty="0" err="1">
                <a:latin typeface="Times New Roman" panose="02020603050405020304" pitchFamily="18" charset="0"/>
                <a:cs typeface="Times New Roman" panose="02020603050405020304" pitchFamily="18" charset="0"/>
              </a:rPr>
              <a:t>елдерінде</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электрондық</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үкімет</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құру</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тәжірибесін</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талдау</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негізінде,оларды</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Америкада</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Еуропада</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және</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Азияда</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қолданылатын</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үш</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негізгі</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архитектуралық</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модельге</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бөлу</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туралы</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шешім</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қабылданды</a:t>
            </a:r>
            <a:r>
              <a:rPr lang="ru-KZ" dirty="0">
                <a:latin typeface="Times New Roman" panose="02020603050405020304" pitchFamily="18" charset="0"/>
                <a:cs typeface="Times New Roman" panose="02020603050405020304" pitchFamily="18" charset="0"/>
              </a:rPr>
              <a:t>.</a:t>
            </a:r>
            <a:endParaRPr lang="kk-KZ" dirty="0">
              <a:latin typeface="Times New Roman" panose="02020603050405020304" pitchFamily="18" charset="0"/>
              <a:cs typeface="Times New Roman" panose="02020603050405020304" pitchFamily="18" charset="0"/>
            </a:endParaRPr>
          </a:p>
          <a:p>
            <a:endParaRPr lang="kk-KZ" dirty="0">
              <a:latin typeface="Times New Roman" panose="02020603050405020304" pitchFamily="18" charset="0"/>
              <a:cs typeface="Times New Roman" panose="02020603050405020304" pitchFamily="18" charset="0"/>
            </a:endParaRPr>
          </a:p>
          <a:p>
            <a:r>
              <a:rPr lang="ru-KZ" dirty="0" err="1">
                <a:latin typeface="Times New Roman" panose="02020603050405020304" pitchFamily="18" charset="0"/>
                <a:cs typeface="Times New Roman" panose="02020603050405020304" pitchFamily="18" charset="0"/>
              </a:rPr>
              <a:t>Оларды</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шартты</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түрде</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осылай</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атауға</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болады</a:t>
            </a:r>
            <a:r>
              <a:rPr lang="ru-KZ" dirty="0">
                <a:latin typeface="Times New Roman" panose="02020603050405020304" pitchFamily="18" charset="0"/>
                <a:cs typeface="Times New Roman" panose="02020603050405020304" pitchFamily="18" charset="0"/>
              </a:rPr>
              <a:t>: </a:t>
            </a:r>
            <a:endParaRPr lang="kk-KZ" dirty="0">
              <a:latin typeface="Times New Roman" panose="02020603050405020304" pitchFamily="18" charset="0"/>
              <a:cs typeface="Times New Roman" panose="02020603050405020304" pitchFamily="18" charset="0"/>
            </a:endParaRPr>
          </a:p>
          <a:p>
            <a:endParaRPr lang="kk-KZ" dirty="0">
              <a:latin typeface="Times New Roman" panose="02020603050405020304" pitchFamily="18" charset="0"/>
              <a:cs typeface="Times New Roman" panose="02020603050405020304" pitchFamily="18" charset="0"/>
            </a:endParaRPr>
          </a:p>
          <a:p>
            <a:r>
              <a:rPr lang="ru-KZ" dirty="0">
                <a:latin typeface="Times New Roman" panose="02020603050405020304" pitchFamily="18" charset="0"/>
                <a:cs typeface="Times New Roman" panose="02020603050405020304" pitchFamily="18" charset="0"/>
              </a:rPr>
              <a:t>Америка </a:t>
            </a:r>
            <a:r>
              <a:rPr lang="ru-KZ" dirty="0" err="1">
                <a:latin typeface="Times New Roman" panose="02020603050405020304" pitchFamily="18" charset="0"/>
                <a:cs typeface="Times New Roman" panose="02020603050405020304" pitchFamily="18" charset="0"/>
              </a:rPr>
              <a:t>Құрама</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Штаттарында</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оның</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қалыптасу</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ерекшелігін</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көрсететін</a:t>
            </a:r>
            <a:r>
              <a:rPr lang="ru-KZ" dirty="0">
                <a:latin typeface="Times New Roman" panose="02020603050405020304" pitchFamily="18" charset="0"/>
                <a:cs typeface="Times New Roman" panose="02020603050405020304" pitchFamily="18" charset="0"/>
              </a:rPr>
              <a:t> </a:t>
            </a:r>
            <a:r>
              <a:rPr lang="ru-KZ" b="1" dirty="0" err="1">
                <a:latin typeface="Times New Roman" panose="02020603050405020304" pitchFamily="18" charset="0"/>
                <a:cs typeface="Times New Roman" panose="02020603050405020304" pitchFamily="18" charset="0"/>
              </a:rPr>
              <a:t>американдық</a:t>
            </a:r>
            <a:r>
              <a:rPr lang="ru-KZ" dirty="0">
                <a:latin typeface="Times New Roman" panose="02020603050405020304" pitchFamily="18" charset="0"/>
                <a:cs typeface="Times New Roman" panose="02020603050405020304" pitchFamily="18" charset="0"/>
              </a:rPr>
              <a:t> модель;</a:t>
            </a:r>
            <a:endParaRPr lang="kk-KZ" dirty="0">
              <a:latin typeface="Times New Roman" panose="02020603050405020304" pitchFamily="18" charset="0"/>
              <a:cs typeface="Times New Roman" panose="02020603050405020304" pitchFamily="18" charset="0"/>
            </a:endParaRPr>
          </a:p>
          <a:p>
            <a:endParaRPr lang="kk-KZ" dirty="0">
              <a:latin typeface="Times New Roman" panose="02020603050405020304" pitchFamily="18" charset="0"/>
              <a:cs typeface="Times New Roman" panose="02020603050405020304" pitchFamily="18" charset="0"/>
            </a:endParaRPr>
          </a:p>
          <a:p>
            <a:r>
              <a:rPr lang="ru-KZ" dirty="0" err="1">
                <a:latin typeface="Times New Roman" panose="02020603050405020304" pitchFamily="18" charset="0"/>
                <a:cs typeface="Times New Roman" panose="02020603050405020304" pitchFamily="18" charset="0"/>
              </a:rPr>
              <a:t>Батыс</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Орталық</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және</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Шығыс</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Еуропаның</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көптеген</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елдерінде</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электрондық</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үкімет</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құрылымдарын</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әзірлеуде</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қолданылатын</a:t>
            </a:r>
            <a:r>
              <a:rPr lang="ru-KZ" dirty="0">
                <a:latin typeface="Times New Roman" panose="02020603050405020304" pitchFamily="18" charset="0"/>
                <a:cs typeface="Times New Roman" panose="02020603050405020304" pitchFamily="18" charset="0"/>
              </a:rPr>
              <a:t> </a:t>
            </a:r>
            <a:r>
              <a:rPr lang="ru-KZ" b="1" dirty="0" err="1">
                <a:latin typeface="Times New Roman" panose="02020603050405020304" pitchFamily="18" charset="0"/>
                <a:cs typeface="Times New Roman" panose="02020603050405020304" pitchFamily="18" charset="0"/>
              </a:rPr>
              <a:t>еуропалық</a:t>
            </a:r>
            <a:r>
              <a:rPr lang="ru-KZ" dirty="0">
                <a:latin typeface="Times New Roman" panose="02020603050405020304" pitchFamily="18" charset="0"/>
                <a:cs typeface="Times New Roman" panose="02020603050405020304" pitchFamily="18" charset="0"/>
              </a:rPr>
              <a:t> модель;</a:t>
            </a:r>
            <a:endParaRPr lang="kk-KZ" dirty="0">
              <a:latin typeface="Times New Roman" panose="02020603050405020304" pitchFamily="18" charset="0"/>
              <a:cs typeface="Times New Roman" panose="02020603050405020304" pitchFamily="18" charset="0"/>
            </a:endParaRPr>
          </a:p>
          <a:p>
            <a:endParaRPr lang="kk-KZ" dirty="0">
              <a:latin typeface="Times New Roman" panose="02020603050405020304" pitchFamily="18" charset="0"/>
              <a:cs typeface="Times New Roman" panose="02020603050405020304" pitchFamily="18" charset="0"/>
            </a:endParaRPr>
          </a:p>
          <a:p>
            <a:r>
              <a:rPr lang="ru-KZ" dirty="0">
                <a:latin typeface="Times New Roman" panose="02020603050405020304" pitchFamily="18" charset="0"/>
                <a:cs typeface="Times New Roman" panose="02020603050405020304" pitchFamily="18" charset="0"/>
              </a:rPr>
              <a:t>Сингапур мен </a:t>
            </a:r>
            <a:r>
              <a:rPr lang="ru-KZ" dirty="0" err="1">
                <a:latin typeface="Times New Roman" panose="02020603050405020304" pitchFamily="18" charset="0"/>
                <a:cs typeface="Times New Roman" panose="02020603050405020304" pitchFamily="18" charset="0"/>
              </a:rPr>
              <a:t>Оңтүстік</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Кореяда</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үлкен</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жетістікке</a:t>
            </a:r>
            <a:r>
              <a:rPr lang="ru-KZ" dirty="0">
                <a:latin typeface="Times New Roman" panose="02020603050405020304" pitchFamily="18" charset="0"/>
                <a:cs typeface="Times New Roman" panose="02020603050405020304" pitchFamily="18" charset="0"/>
              </a:rPr>
              <a:t> </a:t>
            </a:r>
            <a:r>
              <a:rPr lang="ru-KZ" dirty="0" err="1">
                <a:latin typeface="Times New Roman" panose="02020603050405020304" pitchFamily="18" charset="0"/>
                <a:cs typeface="Times New Roman" panose="02020603050405020304" pitchFamily="18" charset="0"/>
              </a:rPr>
              <a:t>жеткен</a:t>
            </a:r>
            <a:r>
              <a:rPr lang="ru-KZ" dirty="0">
                <a:latin typeface="Times New Roman" panose="02020603050405020304" pitchFamily="18" charset="0"/>
                <a:cs typeface="Times New Roman" panose="02020603050405020304" pitchFamily="18" charset="0"/>
              </a:rPr>
              <a:t> </a:t>
            </a:r>
            <a:r>
              <a:rPr lang="ru-KZ" b="1" dirty="0" err="1">
                <a:latin typeface="Times New Roman" panose="02020603050405020304" pitchFamily="18" charset="0"/>
                <a:cs typeface="Times New Roman" panose="02020603050405020304" pitchFamily="18" charset="0"/>
              </a:rPr>
              <a:t>азиялық</a:t>
            </a:r>
            <a:r>
              <a:rPr lang="ru-KZ" dirty="0">
                <a:latin typeface="Times New Roman" panose="02020603050405020304" pitchFamily="18" charset="0"/>
                <a:cs typeface="Times New Roman" panose="02020603050405020304" pitchFamily="18" charset="0"/>
              </a:rPr>
              <a:t> модель.</a:t>
            </a:r>
          </a:p>
        </p:txBody>
      </p:sp>
    </p:spTree>
    <p:extLst>
      <p:ext uri="{BB962C8B-B14F-4D97-AF65-F5344CB8AC3E}">
        <p14:creationId xmlns:p14="http://schemas.microsoft.com/office/powerpoint/2010/main" val="3544496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sz="4000" dirty="0"/>
              <a:t>3</a:t>
            </a:r>
            <a:r>
              <a:rPr lang="en-US" sz="4000" dirty="0"/>
              <a:t>.</a:t>
            </a:r>
            <a:r>
              <a:rPr lang="en-US" sz="4000" b="1" dirty="0">
                <a:latin typeface="Times New Roman" panose="02020603050405020304" pitchFamily="18" charset="0"/>
                <a:cs typeface="Times New Roman" panose="02020603050405020304" pitchFamily="18" charset="0"/>
              </a:rPr>
              <a:t>Электрондық үкімет</a:t>
            </a:r>
            <a:endParaRPr lang="ru-RU" sz="4000" b="1" dirty="0">
              <a:latin typeface="Times New Roman" panose="02020603050405020304" pitchFamily="18" charset="0"/>
              <a:cs typeface="Times New Roman" panose="02020603050405020304" pitchFamily="18" charset="0"/>
            </a:endParaRPr>
          </a:p>
        </p:txBody>
      </p:sp>
      <p:pic>
        <p:nvPicPr>
          <p:cNvPr id="20482" name="Picture 2" descr="Use the portal of e-government of Kazakhstan"/>
          <p:cNvPicPr>
            <a:picLocks noChangeAspect="1" noChangeArrowheads="1"/>
          </p:cNvPicPr>
          <p:nvPr/>
        </p:nvPicPr>
        <p:blipFill rotWithShape="1">
          <a:blip r:embed="rId2">
            <a:extLst>
              <a:ext uri="{28A0092B-C50C-407E-A947-70E740481C1C}">
                <a14:useLocalDpi xmlns:a14="http://schemas.microsoft.com/office/drawing/2010/main" val="0"/>
              </a:ext>
            </a:extLst>
          </a:blip>
          <a:srcRect t="22228" b="17290"/>
          <a:stretch/>
        </p:blipFill>
        <p:spPr bwMode="auto">
          <a:xfrm>
            <a:off x="7788102" y="354355"/>
            <a:ext cx="4217324" cy="1215590"/>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30778" y="1805112"/>
            <a:ext cx="10089804" cy="3139321"/>
          </a:xfrm>
          <a:prstGeom prst="rect">
            <a:avLst/>
          </a:prstGeom>
        </p:spPr>
        <p:txBody>
          <a:bodyPr wrap="square">
            <a:spAutoFit/>
          </a:bodyPr>
          <a:lstStyle/>
          <a:p>
            <a:pPr algn="l" rtl="0"/>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Еуропалық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модель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еуропалық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парламент,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Еуропалық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комиссия,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Еуропалық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сот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сияқты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ұлттықтан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жоғары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институттардың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болуымен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сипатталады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олардың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ұсыныстары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Еуропалық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Одақтың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барлық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елдері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үшін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міндетті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болып</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табылады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l" rtl="0"/>
            <a:endPar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l" rtl="0"/>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Электрондық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үкіметтің</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американдық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моделі</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АҚШ пен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Канадада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жасалған.Оны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АҚШ-та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құру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бағдарламасы</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алдымен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азаматтар</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мен бизнес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өкілдерінің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мемлекеттік</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органдармен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өзара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іс-қимылын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жеңілдетуге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арзандатуға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сондай-ақ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олардың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тікелей</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қарым-қатынасын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жасауға</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бағытталған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a:p>
            <a:pPr algn="l" rtl="0"/>
            <a:endPar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endParaRPr>
          </a:p>
          <a:p>
            <a:pPr algn="l" rtl="0"/>
            <a:r>
              <a:rPr lang="ru-RU" b="1"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Азиялық</a:t>
            </a:r>
            <a:r>
              <a:rPr lang="ru-RU" b="1"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модель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басқарудың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ерекше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стиліне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корпоративті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мәдениеттің</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азиялық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түріне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және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иерархиялық</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пирамида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түрінде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ұйымдастырылған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көп</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деңгейлі</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басқару</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жүйесіне</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 </a:t>
            </a:r>
            <a:r>
              <a:rPr lang="ru-RU" dirty="0" err="1">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негізделген</a:t>
            </a:r>
            <a:r>
              <a:rPr lang="ru-RU" dirty="0">
                <a:solidFill>
                  <a:srgbClr val="333333"/>
                </a:solidFill>
                <a:latin typeface="Times New Roman" panose="02020603050405020304" pitchFamily="18"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139330323"/>
      </p:ext>
    </p:extLst>
  </p:cSld>
  <p:clrMapOvr>
    <a:masterClrMapping/>
  </p:clrMapOvr>
</p:sld>
</file>

<file path=ppt/theme/theme1.xml><?xml version="1.0" encoding="utf-8"?>
<a:theme xmlns:a="http://schemas.openxmlformats.org/drawingml/2006/main" name="Ретро">
  <a:themeElements>
    <a:clrScheme name="Теплый синий">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Ретр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1839</TotalTime>
  <Words>1900</Words>
  <Application>Microsoft Office PowerPoint</Application>
  <PresentationFormat>Широкоэкранный</PresentationFormat>
  <Paragraphs>151</Paragraphs>
  <Slides>31</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31</vt:i4>
      </vt:variant>
    </vt:vector>
  </HeadingPairs>
  <TitlesOfParts>
    <vt:vector size="36" baseType="lpstr">
      <vt:lpstr>Calibri</vt:lpstr>
      <vt:lpstr>Calibri Light</vt:lpstr>
      <vt:lpstr>Open Sans</vt:lpstr>
      <vt:lpstr>Times New Roman</vt:lpstr>
      <vt:lpstr>Ретро</vt:lpstr>
      <vt:lpstr>№13 дәріс  Электрондық технология: Электрондық бизнес Электрондық оқыту Электрондық үкімет</vt:lpstr>
      <vt:lpstr>Дәріс мазмұны</vt:lpstr>
      <vt:lpstr>Электрондық технология, электронды бизнес</vt:lpstr>
      <vt:lpstr>1. Электрондық бизнес</vt:lpstr>
      <vt:lpstr>1. Электрондық бизнес</vt:lpstr>
      <vt:lpstr>1. Электрондық бизнес</vt:lpstr>
      <vt:lpstr>1. Электрондық бизнес</vt:lpstr>
      <vt:lpstr>1. Электрондық бизнес</vt:lpstr>
      <vt:lpstr>1. Электрондық бизнес</vt:lpstr>
      <vt:lpstr>2.Электрондық оқыту</vt:lpstr>
      <vt:lpstr>2. E-learning</vt:lpstr>
      <vt:lpstr>2. E-learning</vt:lpstr>
      <vt:lpstr>2. E-learning</vt:lpstr>
      <vt:lpstr>2. E-learning</vt:lpstr>
      <vt:lpstr>2. E-learning</vt:lpstr>
      <vt:lpstr>2. E-learning</vt:lpstr>
      <vt:lpstr>2. E-learning</vt:lpstr>
      <vt:lpstr>2. E-learning</vt:lpstr>
      <vt:lpstr>3.Электрондық үкімет</vt:lpstr>
      <vt:lpstr>3.Электрондық үкімет</vt:lpstr>
      <vt:lpstr>3.Электрондық үкімет</vt:lpstr>
      <vt:lpstr>3.Электрондық үкімет</vt:lpstr>
      <vt:lpstr>3.Электрондық үкімет</vt:lpstr>
      <vt:lpstr>3.Электрондық үкімет</vt:lpstr>
      <vt:lpstr>3.Электрондық үкімет</vt:lpstr>
      <vt:lpstr>3.Электрондық үкімет</vt:lpstr>
      <vt:lpstr>3.Электрондық үкімет</vt:lpstr>
      <vt:lpstr>3.Электрондық үкімет</vt:lpstr>
      <vt:lpstr>3.Электрондық үкімет</vt:lpstr>
      <vt:lpstr>3.Электрондық үкімет</vt:lpstr>
      <vt:lpstr>3.Электрондық үкімет</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ICT</dc:title>
  <dc:creator>User</dc:creator>
  <cp:lastModifiedBy>Учетная запись Майкрософт</cp:lastModifiedBy>
  <cp:revision>121</cp:revision>
  <dcterms:created xsi:type="dcterms:W3CDTF">2021-09-07T08:28:01Z</dcterms:created>
  <dcterms:modified xsi:type="dcterms:W3CDTF">2025-04-28T08:20:17Z</dcterms:modified>
</cp:coreProperties>
</file>
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1" r:id="rId1"/>
  </p:sldMasterIdLst>
  <p:sldIdLst>
    <p:sldId id="256" r:id="rId2"/>
    <p:sldId id="306" r:id="rId3"/>
    <p:sldId id="258" r:id="rId4"/>
    <p:sldId id="261" r:id="rId5"/>
    <p:sldId id="259" r:id="rId6"/>
    <p:sldId id="260" r:id="rId7"/>
    <p:sldId id="262" r:id="rId8"/>
    <p:sldId id="269" r:id="rId9"/>
    <p:sldId id="263" r:id="rId10"/>
    <p:sldId id="264" r:id="rId11"/>
    <p:sldId id="265" r:id="rId12"/>
    <p:sldId id="294" r:id="rId13"/>
    <p:sldId id="270" r:id="rId14"/>
    <p:sldId id="271" r:id="rId15"/>
    <p:sldId id="274" r:id="rId16"/>
    <p:sldId id="275" r:id="rId17"/>
    <p:sldId id="292" r:id="rId18"/>
    <p:sldId id="296" r:id="rId19"/>
    <p:sldId id="297" r:id="rId20"/>
    <p:sldId id="304" r:id="rId21"/>
    <p:sldId id="298" r:id="rId22"/>
    <p:sldId id="303" r:id="rId23"/>
    <p:sldId id="307" r:id="rId24"/>
    <p:sldId id="308" r:id="rId25"/>
    <p:sldId id="309" r:id="rId26"/>
    <p:sldId id="311" r:id="rId27"/>
    <p:sldId id="312" r:id="rId28"/>
    <p:sldId id="31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3741" autoAdjust="0"/>
  </p:normalViewPr>
  <p:slideViewPr>
    <p:cSldViewPr snapToGrid="0">
      <p:cViewPr varScale="1">
        <p:scale>
          <a:sx n="65" d="100"/>
          <a:sy n="65" d="100"/>
        </p:scale>
        <p:origin x="792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2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9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21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204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68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798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47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695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10/21/2024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051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630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38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912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56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66800" y="2711390"/>
            <a:ext cx="10058400" cy="1435219"/>
          </a:xfrm>
        </p:spPr>
        <p:txBody>
          <a:bodyPr>
            <a:noAutofit/>
          </a:bodyPr>
          <a:lstStyle/>
          <a:p>
            <a:pPr algn="ctr" rtl="0"/>
            <a:r>
              <a:rPr lang="ru-RU" sz="5400" dirty="0"/>
              <a:t/>
            </a:r>
            <a:br>
              <a:rPr lang="ru-RU" sz="5400" dirty="0"/>
            </a:br>
            <a:r>
              <a:rPr lang="ru-RU" sz="5400" dirty="0"/>
              <a:t/>
            </a:r>
            <a:br>
              <a:rPr lang="ru-RU" sz="5400" dirty="0"/>
            </a:br>
            <a:r>
              <a:rPr lang="en-US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6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Киберқауіпсіздік</a:t>
            </a:r>
            <a:endParaRPr lang="ru-RU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Digital security in healthcare: major factors affecting patient safe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590" y="926420"/>
            <a:ext cx="2957963" cy="16659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3130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74305"/>
          </a:xfrm>
        </p:spPr>
        <p:txBody>
          <a:bodyPr>
            <a:normAutofit/>
          </a:bodyPr>
          <a:lstStyle/>
          <a:p>
            <a:pPr algn="ctr" rt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Дәріс мазмұны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05802" y="1872483"/>
            <a:ext cx="9227636" cy="3972136"/>
          </a:xfrm>
        </p:spPr>
        <p:txBody>
          <a:bodyPr>
            <a:noAutofit/>
          </a:bodyPr>
          <a:lstStyle/>
          <a:p>
            <a:pPr marL="444500" indent="-444500" algn="l" rtl="0">
              <a:buFont typeface="+mj-lt"/>
              <a:buAutoNum type="arabicPeriod"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Киберқауіпсіздікке кіріспе</a:t>
            </a:r>
          </a:p>
          <a:p>
            <a:pPr marL="444500" indent="-444500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қатерлері</a:t>
            </a:r>
            <a:endParaRPr lang="kk-KZ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indent="-444500">
              <a:buFont typeface="+mj-lt"/>
              <a:buAutoNum type="arabicPeriod"/>
            </a:pP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қауіпсіздікке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төнетін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қатерлердің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44500" indent="-444500">
              <a:buFont typeface="+mj-lt"/>
              <a:buAutoNum type="arabicPeriod"/>
            </a:pP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құралдарының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түрі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44500" indent="-444500">
              <a:buFont typeface="+mj-lt"/>
              <a:buAutoNum type="arabicPeriod"/>
            </a:pPr>
            <a:r>
              <a:rPr lang="kk-KZ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риптография</a:t>
            </a:r>
            <a:r>
              <a:rPr lang="kk-KZ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ның негізгі термині </a:t>
            </a:r>
          </a:p>
          <a:p>
            <a:pPr marL="444500" indent="-444500">
              <a:buFont typeface="+mj-lt"/>
              <a:buAutoNum type="arabicPeriod"/>
            </a:pPr>
            <a:r>
              <a:rPr lang="kk-KZ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лгоритмдер</a:t>
            </a:r>
            <a:r>
              <a:rPr lang="kk-KZ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классификациясы </a:t>
            </a:r>
          </a:p>
          <a:p>
            <a:pPr marL="444500" indent="-444500">
              <a:buFont typeface="+mj-lt"/>
              <a:buAutoNum type="arabicPeriod"/>
            </a:pPr>
            <a:r>
              <a:rPr lang="kk-KZ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омпьютерлік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желілерде</a:t>
            </a:r>
            <a:r>
              <a:rPr lang="kk-KZ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ақпаратты қорғау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indent="-444500" algn="l" rtl="0">
              <a:buFont typeface="+mj-lt"/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444500" indent="-444500" algn="l" rtl="0">
              <a:buFont typeface="+mj-lt"/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444500" indent="-444500" algn="l" rtl="0">
              <a:buFont typeface="+mj-lt"/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444500" indent="-444500" algn="l" rtl="0">
              <a:buFont typeface="+mj-lt"/>
              <a:buAutoNum type="arabicPeriod"/>
            </a:pP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5813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32098" y="1938723"/>
            <a:ext cx="7571818" cy="402336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-</a:t>
            </a:r>
            <a:r>
              <a:rPr lang="kk-KZ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ұл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нені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білдіреді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сапа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жағдайы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қауіптен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арылу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Бірақ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қауіпсіздіктің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қандай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туралы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алаңдауымыз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керек?</a:t>
            </a:r>
          </a:p>
          <a:p>
            <a:pPr algn="just" rtl="0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 қауіпсіздік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ұйымның физикалық нысандарын, объектілерін немесе аумақтарын рұқсатсыз кіруден және теріс пайдаланудан қорғау үшін қажетті мәселелерді шешеді.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Жеке қауіпсіздік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ұйымға және оның қызметіне кіруге рұқсат етілген жеке тұлғаны немесе адамдар тобын қорғауға қатысты.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Операция қауіпсіздігі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белгілі бір операцияның немесе оқиғалар қатарының мәліметтерін қорғау.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0"/>
            <a:endParaRPr lang="ru-RU" dirty="0"/>
          </a:p>
        </p:txBody>
      </p:sp>
      <p:sp>
        <p:nvSpPr>
          <p:cNvPr id="7" name="Объект 2"/>
          <p:cNvSpPr>
            <a:spLocks noGrp="1"/>
          </p:cNvSpPr>
          <p:nvPr>
            <p:ph type="title"/>
          </p:nvPr>
        </p:nvSpPr>
        <p:spPr>
          <a:xfrm>
            <a:off x="1066800" y="715562"/>
            <a:ext cx="10058400" cy="747819"/>
          </a:xfrm>
        </p:spPr>
        <p:txBody>
          <a:bodyPr>
            <a:normAutofit/>
          </a:bodyPr>
          <a:lstStyle/>
          <a:p>
            <a:pPr algn="l" rtl="0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Киберқауіпсіздікке кіріспе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46" y="1938723"/>
            <a:ext cx="3281062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24" y="3993035"/>
            <a:ext cx="3275784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0677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95680" y="414626"/>
            <a:ext cx="10058400" cy="748454"/>
          </a:xfrm>
        </p:spPr>
        <p:txBody>
          <a:bodyPr>
            <a:normAutofit/>
          </a:bodyPr>
          <a:lstStyle/>
          <a:p>
            <a:pPr algn="l" rt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Киберқауіпсіздікке кіріспе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95680" y="1806558"/>
            <a:ext cx="6573520" cy="402336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-</a:t>
            </a:r>
            <a:r>
              <a:rPr lang="kk-KZ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ұл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нені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білдіреді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Font typeface="Wingdings" panose="05000000000000000000" pitchFamily="2" charset="2"/>
              <a:buChar char="§"/>
            </a:pP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қауіпсіздігі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ұйымның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құралдарын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мазмұнын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қорғауға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қатысты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Желілік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желілік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компоненттерді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қосылымдарды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мазмұнды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қорғау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rtl="0">
              <a:buFont typeface="Wingdings" panose="05000000000000000000" pitchFamily="2" charset="2"/>
              <a:buChar char="§"/>
            </a:pP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қауіпсіздік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ақпаратты және оның маңызды элементтерін, соның ішінде осы ақпаратты пайдаланатын, сақтайтын немесе тасымалдайтын жүйелер мен жабдықтарды қорғау.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279" y="1806558"/>
            <a:ext cx="3448050" cy="1781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906" y="3702925"/>
            <a:ext cx="3449423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2851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177802"/>
            <a:ext cx="10058400" cy="1108073"/>
          </a:xfrm>
        </p:spPr>
        <p:txBody>
          <a:bodyPr>
            <a:normAutofit/>
          </a:bodyPr>
          <a:lstStyle/>
          <a:p>
            <a:pPr algn="l" rtl="0"/>
            <a:r>
              <a:rPr lang="ru-RU" sz="3600" b="1" dirty="0"/>
              <a:t>1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Киберқауіпсіздікке кіріспе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1040" y="1714288"/>
            <a:ext cx="7244355" cy="4513791"/>
          </a:xfrm>
        </p:spPr>
        <p:txBody>
          <a:bodyPr>
            <a:normAutofit fontScale="77500" lnSpcReduction="20000"/>
          </a:bodyPr>
          <a:lstStyle/>
          <a:p>
            <a:pPr algn="just" rtl="0"/>
            <a:r>
              <a:rPr lang="ru-RU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Киберқауіпсіздік</a:t>
            </a:r>
            <a:r>
              <a:rPr lang="ru-RU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киберқоршаған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ортаны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ресурстарды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ұйымдарды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пайдаланушыларды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қорғау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үшін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қолданылатын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саясаттар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принциптері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кепілдіктері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тәуекелдерді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басқару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тәсілдері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әрекеттер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сақтандыру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жиынтығы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ru-RU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Киберқауіпсіздік</a:t>
            </a:r>
            <a:r>
              <a:rPr lang="ru-RU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ұйым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ресурстарының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пайдаланушыларының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киберқауіптерге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қарсы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қасиеттеріне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жеткізуге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сақтауға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бағытталған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ru-RU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Киберқауіпсіздік</a:t>
            </a:r>
            <a:r>
              <a:rPr lang="ru-RU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қоғамды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дамытудың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міндетті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шарты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болып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табылады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ru-RU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ru-RU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қосалқы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инфрақұрылымды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қатынастардың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субъектілеріне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соның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ішінде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қосалқы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инфрақұрылымның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иелері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пайдаланушыларына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зиян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келтіруі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табиғи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жасанды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шығу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тегінің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кездейсоқ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қасақана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әсерінен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қорғау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қауіпсіздікті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қамтамасыз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етуге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бағытталған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шаралар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кешені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4359" y="1845734"/>
            <a:ext cx="3533775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4359" y="3429000"/>
            <a:ext cx="353377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307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1" y="301657"/>
            <a:ext cx="10058400" cy="964362"/>
          </a:xfrm>
        </p:spPr>
        <p:txBody>
          <a:bodyPr>
            <a:normAutofit/>
          </a:bodyPr>
          <a:lstStyle/>
          <a:p>
            <a:pPr algn="l" rtl="0"/>
            <a:r>
              <a:rPr lang="ru-RU" sz="3600" b="1" dirty="0"/>
              <a:t>2</a:t>
            </a:r>
            <a:r>
              <a:rPr lang="en-US" sz="3600" b="1" dirty="0"/>
              <a:t>.</a:t>
            </a:r>
            <a:r>
              <a:rPr lang="kk-KZ" sz="3600" b="1" dirty="0"/>
              <a:t>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қауіпсіздік қатерлері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6280" y="1845734"/>
            <a:ext cx="7208519" cy="4023360"/>
          </a:xfrm>
        </p:spPr>
        <p:txBody>
          <a:bodyPr>
            <a:normAutofit/>
          </a:bodyPr>
          <a:lstStyle/>
          <a:p>
            <a:pPr algn="just" rtl="0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 қауіпсіздік қаупі (IST)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қорғалатын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ақпаратқа жағымсыз әсер етуі мүмкін ықтимал оқиға, әрекет, процесс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құбылыс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Іс-әрекетке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төндіретін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шабуыл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деп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атайды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көзі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ақпаратқа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теріс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әсер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ету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тұрғысынан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нақты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қауіп-қатерді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орындаушы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(оны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адамдар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техникалық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құрылғылар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модельдер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алгоритмдер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сыртқы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орта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ұсынуы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 rtl="0"/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269" y="1845734"/>
            <a:ext cx="3505200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3269" y="3429000"/>
            <a:ext cx="3461908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5556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0968" y="376448"/>
            <a:ext cx="10058400" cy="1224915"/>
          </a:xfrm>
        </p:spPr>
        <p:txBody>
          <a:bodyPr>
            <a:normAutofit/>
          </a:bodyPr>
          <a:lstStyle/>
          <a:p>
            <a:pPr algn="l" rt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қауіпсіздікке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төнетін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қатерлердің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20529" y="1845734"/>
            <a:ext cx="7836587" cy="3825674"/>
          </a:xfrm>
        </p:spPr>
        <p:txBody>
          <a:bodyPr>
            <a:normAutofit/>
          </a:bodyPr>
          <a:lstStyle/>
          <a:p>
            <a:pPr algn="just" rtl="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АЖ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қауіптерін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жіктеу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бірнеше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критерийлер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жүзеге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асырылуы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аспектісі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жетімділік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тұтастық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құпиялылық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қауіптер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бағытталған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АЖ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компоненттері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бағдарламалық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қамтамасыз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ету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жабдықтар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қосалқы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инфрақұрылым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іске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асыру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әдісі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табиғи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жасанды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шыққан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кездейсоқ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қасақана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әрекет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buFont typeface="Wingdings" panose="05000000000000000000" pitchFamily="2" charset="2"/>
              <a:buChar char="Ø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көзінің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орналасқан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жері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(АЖ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ішінде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сыртында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68" y="1976738"/>
            <a:ext cx="2390775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83" y="3928333"/>
            <a:ext cx="261937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7259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1097281" y="1845733"/>
            <a:ext cx="10135011" cy="4085509"/>
          </a:xfrm>
        </p:spPr>
        <p:txBody>
          <a:bodyPr>
            <a:normAutofit/>
          </a:bodyPr>
          <a:lstStyle/>
          <a:p>
            <a:pPr algn="l" rtl="0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Қауіптердің нақты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түрлеріне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қарамастан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жүйе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ақпарат пен оның жүйелерінің негізгі қасиеттеріне ие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болуы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 rtl="0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endParaRPr lang="ru-RU" dirty="0"/>
          </a:p>
          <a:p>
            <a:pPr algn="l" rtl="0"/>
            <a:r>
              <a:rPr lang="en-US" dirty="0"/>
              <a:t> </a:t>
            </a:r>
            <a:endParaRPr lang="ru-RU" dirty="0"/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ru-RU" dirty="0"/>
          </a:p>
          <a:p>
            <a:pPr algn="l" rtl="0"/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283868" y="2767914"/>
            <a:ext cx="196472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b="1" dirty="0"/>
              <a:t>қолжетімділігі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274850" y="3756453"/>
            <a:ext cx="196472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b="1" dirty="0"/>
              <a:t>адалдық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283868" y="4749690"/>
            <a:ext cx="1964724" cy="667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b="1" dirty="0"/>
              <a:t>құпиялылық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397923" y="2780270"/>
            <a:ext cx="7661189" cy="64255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  <a:p>
            <a:pPr rtl="0"/>
            <a:r>
              <a:rPr lang="en-US" dirty="0"/>
              <a:t>ақылға қонымды мерзімде ақпаратты немесе ақпараттық қызметтерді алу мүмкіндігі;</a:t>
            </a:r>
            <a:endParaRPr lang="ru-RU" dirty="0"/>
          </a:p>
          <a:p>
            <a:pPr algn="ctr" rtl="0"/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430052" y="3756453"/>
            <a:ext cx="7636475" cy="71669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n-US" dirty="0"/>
          </a:p>
          <a:p>
            <a:pPr algn="l" rtl="0"/>
            <a:r>
              <a:rPr lang="en-US" dirty="0"/>
              <a:t>мүліктің жиынтығы және ақпарат реттілігі, оның</a:t>
            </a:r>
            <a:endParaRPr lang="ru-RU" dirty="0"/>
          </a:p>
          <a:p>
            <a:pPr rtl="0"/>
            <a:r>
              <a:rPr lang="en-US" dirty="0"/>
              <a:t>жойылудан және рұқсат етілмеген өзгертулерден қорғау;</a:t>
            </a:r>
            <a:endParaRPr lang="ru-RU" dirty="0"/>
          </a:p>
          <a:p>
            <a:pPr algn="ctr" rtl="0"/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3405337" y="4799117"/>
            <a:ext cx="7661190" cy="5684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/>
            <a:r>
              <a:rPr lang="en-US" dirty="0"/>
              <a:t>Ақпаратқа рұқсатсыз қол жеткізуден қорғау.</a:t>
            </a:r>
            <a:endParaRPr lang="ru-RU" dirty="0"/>
          </a:p>
          <a:p>
            <a:pPr algn="ctr" rtl="0"/>
            <a:endParaRPr lang="ru-RU" dirty="0"/>
          </a:p>
        </p:txBody>
      </p: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қауіпсіздікке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төнетін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қатерлердің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endParaRPr lang="ru-RU" sz="3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588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49086" y="1845734"/>
            <a:ext cx="7913914" cy="4085509"/>
          </a:xfrm>
        </p:spPr>
        <p:txBody>
          <a:bodyPr>
            <a:normAutofit lnSpcReduction="10000"/>
          </a:bodyPr>
          <a:lstStyle/>
          <a:p>
            <a:pPr algn="just" rtl="0"/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Зиянды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бағдарламалық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жасақтама</a:t>
            </a:r>
            <a:endParaRPr lang="ru-RU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Шабуыл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әдістерінің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бірі-жүйеге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зиянды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бағдарламалық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жасақтаманы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енгізу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rtl="0"/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Тарату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механизмдеріне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сәйкес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мыналар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бар:</a:t>
            </a:r>
          </a:p>
          <a:p>
            <a:pPr algn="just" rtl="0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Вирустар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басқа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бағдарламаларға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енгізу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өздігінен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таралу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мүмкіндігі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бар код;</a:t>
            </a:r>
          </a:p>
          <a:p>
            <a:pPr algn="just" rtl="0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Құрттар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өз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көшірмелерінің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таралуына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олардың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орындалуына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себеп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болатын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кодтар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rtl="0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Трояндық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ат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фонда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зиянды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тапсырманы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орындау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кезінде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бір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тапсырманы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орындайтын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код.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2492" y="1845734"/>
            <a:ext cx="261937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2492" y="4043458"/>
            <a:ext cx="2584965" cy="1622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1023389" y="840509"/>
            <a:ext cx="10058400" cy="8968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қауіпсіздікке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төнетін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қатерлердің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endParaRPr lang="ru-RU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245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80740" y="1771594"/>
            <a:ext cx="7132319" cy="414729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just" rtl="0"/>
            <a:r>
              <a:rPr lang="ru-RU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ВИРУС</a:t>
            </a:r>
          </a:p>
          <a:p>
            <a:pPr algn="just" rtl="0"/>
            <a:r>
              <a:rPr lang="ru-RU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Вирус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файлға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бағдарламалық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жасақтамаға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қосылады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содан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кейін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оның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көшірмелерін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басқа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файлдарға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таратып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компьютерде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қайталанады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rtl="0"/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Ол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файлдарды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бүлдіруі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деректерді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өзгертуі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жоюы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тітіркендіргіш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хабарларды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көрсетуі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компьютердің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жұмысын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бұзуы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rtl="0"/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Вирус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жұққан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файлдар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Оларды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Интернет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алынбалы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сақтау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басқа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компьютерлерге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тасымалдаған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кезде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таралуы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741" y="3791250"/>
            <a:ext cx="2868269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699" y="1989481"/>
            <a:ext cx="2962275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Заголовок 1"/>
          <p:cNvSpPr txBox="1">
            <a:spLocks/>
          </p:cNvSpPr>
          <p:nvPr/>
        </p:nvSpPr>
        <p:spPr>
          <a:xfrm>
            <a:off x="1023389" y="840509"/>
            <a:ext cx="10058400" cy="8968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қауіпсіздікке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төнетін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қатерлердің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endParaRPr lang="ru-RU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569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78086" y="1845733"/>
            <a:ext cx="7258594" cy="4043437"/>
          </a:xfrm>
        </p:spPr>
        <p:txBody>
          <a:bodyPr>
            <a:normAutofit/>
          </a:bodyPr>
          <a:lstStyle/>
          <a:p>
            <a:pPr algn="just" rtl="0"/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Трояндық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ат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зиянды тапсырманы фондық режимде орындау кезінде бір тапсырманы орындайтын бағдарлама.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Құрт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осал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қашықтағы компьютерде жұмыс істей алатын зиянды бағдарламалық құрал.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Файлдарды зақымдайтын және вирус жұққан файлдар мен электрондық пошта хабарларын тасымалдау арқылы таралатын вирустармен салыстырғанда, құрттар компьютерлік жүйелерге оңай енеді, себебі оларды іске қосу үшін пайдаланушы қажет емес.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Құрттар тітіркендіргіш хабарларды көрсетуден деректерді жоюға дейінгі триггер оқиғаларын орындай алады.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275" y="1948550"/>
            <a:ext cx="284797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800" y="4061555"/>
            <a:ext cx="28575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Заголовок 1"/>
          <p:cNvSpPr txBox="1">
            <a:spLocks/>
          </p:cNvSpPr>
          <p:nvPr/>
        </p:nvSpPr>
        <p:spPr>
          <a:xfrm>
            <a:off x="1023389" y="840509"/>
            <a:ext cx="10058400" cy="8968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қауіпсіздікке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төнетін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қатерлердің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endParaRPr lang="ru-RU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371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1023389" y="840509"/>
            <a:ext cx="10058400" cy="89685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қауіпсіздікке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төнетін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қатерлердің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endParaRPr lang="ru-RU" sz="3600" dirty="0">
              <a:solidFill>
                <a:schemeClr val="tx1"/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xmlns="" id="{98737ED2-A22F-1BD6-9EF0-C0129BB24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424161" cy="4320288"/>
          </a:xfrm>
        </p:spPr>
        <p:txBody>
          <a:bodyPr>
            <a:normAutofit/>
          </a:bodyPr>
          <a:lstStyle/>
          <a:p>
            <a:pPr algn="just" rtl="0"/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Қауіпсіздіктің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маңызды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Әдістері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келесі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шараларды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қамтуы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rtl="0"/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жетімділікті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басқару-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жүйенің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ресурстарын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пайдалануды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реттеу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әдісі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кедергі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қылмыскердің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ақпаратқа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жолын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блоктау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әдісі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маскировка-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оны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криптографиялық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түрлендірудің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әдісіреттеу-рұқсат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етілмеген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жеткізу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мүмкіндіктері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барынша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азайтылатын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автоматтандырылған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өңдеу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жағдайларын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жасаудың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әдісі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мәжбүрлеу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персоналды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өңдеу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беру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ережелерін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сақтауға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мәжбүрлеудің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әдісі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мотивация -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пайдаланушыны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этикалық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моральдық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нормаларды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сақтауға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байланысты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өңдеу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беру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режимдерін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бұзбауға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итермелейтін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әдісі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318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/>
          <p:cNvSpPr txBox="1">
            <a:spLocks/>
          </p:cNvSpPr>
          <p:nvPr/>
        </p:nvSpPr>
        <p:spPr>
          <a:xfrm>
            <a:off x="1097280" y="540480"/>
            <a:ext cx="10058400" cy="8968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қауіпсіздік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құралдарының</a:t>
            </a:r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түрі</a:t>
            </a:r>
            <a:endParaRPr lang="ru-RU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936171" y="1845734"/>
            <a:ext cx="10570029" cy="4023360"/>
          </a:xfrm>
        </p:spPr>
        <p:txBody>
          <a:bodyPr>
            <a:normAutofit fontScale="92500" lnSpcReduction="20000"/>
          </a:bodyPr>
          <a:lstStyle/>
          <a:p>
            <a:pPr algn="just" rtl="0"/>
            <a:r>
              <a:rPr lang="ru-RU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en-US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ехникалық</a:t>
            </a:r>
            <a:r>
              <a:rPr lang="ru-RU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k-KZ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әртүрлі электрлік, электронды және компьютерлік құрылғылар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физикалық құралдар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автономды түйіндер мен жүйелер ретінде жүзеге асырылатын құралдар.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бағдарламалық қамтамасыз ету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ақпаратты қорғау функцияларын орындауға арналған бағдарламалық қамтамасыз ету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криптографиялық құралдар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ақпаратты қорғау мәселелерін шешу үшін деректерді түрлендіруді қамтамасыз ететін математикалық алгоритмдер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ұйымдастыру құралдары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техникалық-ұйымдастырушылық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құқықтық-ұйымдастырушылық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шаралар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кешені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моральдық-этикалық құралдар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компьютерлік және ақпараттық технологияларды тарату процесінде әзірленген нормативтік құқықтық актілер түрінде іске асырылатын құралдар;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заңнамалық құралдар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АЖ пайдалануды, ақпаратты өңдеуді және беруді реттейтін құқықтық актілердің жиынтығы.</a:t>
            </a:r>
            <a:endParaRPr lang="ru-RU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3371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1098" y="1081650"/>
            <a:ext cx="10058400" cy="725378"/>
          </a:xfrm>
        </p:spPr>
        <p:txBody>
          <a:bodyPr>
            <a:normAutofit/>
          </a:bodyPr>
          <a:lstStyle/>
          <a:p>
            <a:pPr algn="l" rtl="0"/>
            <a:r>
              <a:rPr lang="ru-RU" sz="3600" b="1" dirty="0"/>
              <a:t>5</a:t>
            </a:r>
            <a:r>
              <a:rPr lang="en-US" sz="3600" b="1" dirty="0"/>
              <a:t>.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риптография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ның негізгі термині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728" y="1799497"/>
            <a:ext cx="3209925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4926226" y="2142008"/>
            <a:ext cx="6183271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 rtl="0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Шифрлау</a:t>
            </a:r>
            <a:r>
              <a:rPr lang="kk-K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хабарды немесе ақпаратты оған тек уәкілетті тараптар қол жеткізе алатындай кодтау процесі.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60854" y="3946094"/>
            <a:ext cx="6096000" cy="7078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l" rtl="0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Шифрды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шешу</a:t>
            </a:r>
            <a:r>
              <a:rPr lang="kk-KZ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шифрланған хабарламаны қалыпты, бастапқы пішініне қайтаратын кері процесс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908" y="3393260"/>
            <a:ext cx="3447536" cy="1598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991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960582"/>
            <a:ext cx="10058400" cy="776778"/>
          </a:xfrm>
        </p:spPr>
        <p:txBody>
          <a:bodyPr>
            <a:normAutofit/>
          </a:bodyPr>
          <a:lstStyle/>
          <a:p>
            <a:pPr algn="l" rtl="0"/>
            <a:r>
              <a:rPr lang="ru-RU" sz="3600" b="1" dirty="0"/>
              <a:t>6</a:t>
            </a:r>
            <a:r>
              <a:rPr lang="en-US" sz="3600" b="1" dirty="0"/>
              <a:t>.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лгоритмдер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классификациясы 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3"/>
            <a:ext cx="10891520" cy="4028594"/>
          </a:xfrm>
        </p:spPr>
        <p:txBody>
          <a:bodyPr>
            <a:normAutofit lnSpcReduction="10000"/>
          </a:bodyPr>
          <a:lstStyle/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Асимметриялық (ашық кілт)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шифрлау және дешифрлеу үшін бөлек кілттер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Диффи-Хелман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RSA,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ЭльГамал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Симметриялық (бір кілтпен)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шифрлау және шифрды шешу үшін бір кілт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Ағындық шифрлар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Шифрларды блоктау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Транспозициялық шифрлар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Ауыстыру шифрлары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моноалфавиттік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шифрлар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(Цезарь шифры)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Полиалфавиттік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шифрлар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(Vigenère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шифр</a:t>
            </a:r>
            <a:r>
              <a:rPr lang="kk-K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Enigma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шифр</a:t>
            </a:r>
            <a:r>
              <a:rPr lang="kk-K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Құрама шифрлар (Lucifer, DES, FEAL, IDEA</a:t>
            </a:r>
            <a:r>
              <a:rPr lang="kk-K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938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1490" y="2293697"/>
            <a:ext cx="6415628" cy="2599577"/>
          </a:xfrm>
        </p:spPr>
        <p:txBody>
          <a:bodyPr>
            <a:noAutofit/>
          </a:bodyPr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Симметриялық алгоритмдер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Симметриялық алгоритмдер шифрлау үшін де, шифрды шешу үшін де бірдей key.text пайдаланады.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Оны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k-KZ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ұпия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кілт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криптографиясы</a:t>
            </a:r>
            <a:r>
              <a:rPr lang="kk-KZ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k-K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деп те атайды</a:t>
            </a:r>
            <a:r>
              <a:rPr lang="kk-KZ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Кілт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хабарламаны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жіберуші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алушыға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белгілі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болуы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керек.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Кілтті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құпия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сақтау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керек.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133" y="2401715"/>
            <a:ext cx="4138280" cy="2491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1097280" y="960582"/>
            <a:ext cx="10058400" cy="776778"/>
          </a:xfrm>
        </p:spPr>
        <p:txBody>
          <a:bodyPr>
            <a:normAutofit/>
          </a:bodyPr>
          <a:lstStyle/>
          <a:p>
            <a:r>
              <a:rPr lang="ru-RU" sz="3600" b="1" dirty="0"/>
              <a:t>6</a:t>
            </a:r>
            <a:r>
              <a:rPr lang="en-US" sz="3600" b="1" dirty="0"/>
              <a:t>.</a:t>
            </a:r>
            <a:r>
              <a:rPr lang="kk-KZ" sz="3600" b="1" dirty="0"/>
              <a:t> 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лгоритмдер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классификациясы 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097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1629" y="1845734"/>
            <a:ext cx="6822043" cy="4023360"/>
          </a:xfrm>
        </p:spPr>
        <p:txBody>
          <a:bodyPr>
            <a:normAutofit fontScale="92500" lnSpcReduction="20000"/>
          </a:bodyPr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Асимметриялық алгоритмдер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Асимметриялық алгоритмдерде хабарламаны шифрлау үшін барлығына белгілі бір ашық кілт, ал хабарламаның шифрын шешу үшін тек алушыға ғана белгілі басқа құпия кілт қолданылады.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Хабарлама алмасу схемасы келесідей: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rtl="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Хабарламаны алушы ашық және жабық кілттерді есептейді.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rtl="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Жеке кілт құпия сақталады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rtl="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Ашық кілт хабарлама жіберушіге беріледі.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rtl="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Жіберуші ашық кілтті пайдаланып хабарламаны шифрлайды және оны алушыға жібереді.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rtl="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Алушы өзінің жеке кілтін пайдаланып хабарламаның шифрын шешеді.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endParaRPr lang="ru-RU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3672" y="2582562"/>
            <a:ext cx="4678555" cy="2284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1066800" y="700542"/>
            <a:ext cx="10058400" cy="776778"/>
          </a:xfrm>
        </p:spPr>
        <p:txBody>
          <a:bodyPr>
            <a:normAutofit/>
          </a:bodyPr>
          <a:lstStyle/>
          <a:p>
            <a:r>
              <a:rPr lang="ru-RU" sz="3600" b="1" dirty="0"/>
              <a:t>6</a:t>
            </a:r>
            <a:r>
              <a:rPr lang="en-US" sz="3600" b="1" dirty="0"/>
              <a:t>.</a:t>
            </a:r>
            <a:r>
              <a:rPr lang="kk-KZ" sz="3600" b="1" dirty="0"/>
              <a:t> 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лгоритмдер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классификациясы 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143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979055"/>
            <a:ext cx="10058400" cy="758305"/>
          </a:xfrm>
        </p:spPr>
        <p:txBody>
          <a:bodyPr>
            <a:normAutofit/>
          </a:bodyPr>
          <a:lstStyle/>
          <a:p>
            <a:pPr algn="l" rtl="0"/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омпьютерлік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желілерде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ақпаратты қорғау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97942" cy="4023360"/>
          </a:xfrm>
        </p:spPr>
        <p:txBody>
          <a:bodyPr>
            <a:noAutofit/>
          </a:bodyPr>
          <a:lstStyle/>
          <a:p>
            <a:pPr algn="just" rtl="0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Қазіргі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заманғы</a:t>
            </a:r>
            <a:r>
              <a:rPr lang="kk-K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kk-K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жүйе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әдетте таратылған деректерді өңдеу режимінде жұмыс істейді. Ол компьютерлік желі арқылы өзара байланысқан көптеген компьютерлік жүйелерді қамтиды.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Персоналдың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компьютерінің жергілікті желісіне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кіру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мүмкіндігі</a:t>
            </a:r>
            <a:r>
              <a:rPr lang="kk-K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кабельдік байланыс желілері арқылы қол жеткізу;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Құқық бұзушы қызметкердің қол жеткізуі;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Сыртқы компьютерге және басқа жабдыққа қосылу;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Жалған электромагниттік сәулелену және ақпараттық бағдарлау;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Төтенше жағдай, аппараттық құралдың ақаулығы, адам қатесі, бағдарламалық жасақтаманы әзірлеуші ​​қатесі және т.б.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5021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79" y="1845734"/>
            <a:ext cx="10147369" cy="1367023"/>
          </a:xfrm>
        </p:spPr>
        <p:txBody>
          <a:bodyPr>
            <a:normAutofit/>
          </a:bodyPr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Алдын алу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Брандмауэр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қауіпсіз желіге немесе компьютерлік жүйеге кіретін Интернеттен кіріс пакеттерін сүзу арқылы желіңізді қорғайтын бағдарлама немесе аппараттық құрал.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endParaRPr lang="ru-RU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449" y="3729810"/>
            <a:ext cx="3152775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7383" y="3177488"/>
            <a:ext cx="5623568" cy="2811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097280" y="979055"/>
            <a:ext cx="10058400" cy="758305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омпьютерлік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желілерде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ақпаратты қорғау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800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4"/>
            <a:ext cx="6094352" cy="4023360"/>
          </a:xfrm>
        </p:spPr>
        <p:txBody>
          <a:bodyPr>
            <a:normAutofit/>
          </a:bodyPr>
          <a:lstStyle/>
          <a:p>
            <a:pPr algn="just" rtl="0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Брандмауэрлер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Брандмауэрдің екі түрі бар.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Бірінші түрі қолданбалы шлюз болып табылады. Корпоративтік хосттарға сыртқы хосттармен тікелей байланысуға мүмкіндік берудің орнына байланыс желіаралық қалқанда немесе оның артында жұмыс істейтін прокси деп аталатын қолданба арқылы өтуі керек.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Брандмауэрдің екінші түрі – пакеттік сүзгі. Ол пакеттің брандмауэр арқылы өту мүмкіндігін шешу үшін әр пакеттің тақырыбындағы ақпаратты пайдаланады.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endParaRPr lang="ru-RU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706" y="1955071"/>
            <a:ext cx="3475910" cy="1850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428" y="4164098"/>
            <a:ext cx="3321313" cy="1730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097280" y="979055"/>
            <a:ext cx="10058400" cy="758305"/>
          </a:xfrm>
        </p:spPr>
        <p:txBody>
          <a:bodyPr>
            <a:normAutofit/>
          </a:bodyPr>
          <a:lstStyle/>
          <a:p>
            <a:r>
              <a:rPr lang="ru-RU" sz="3600" b="1" dirty="0"/>
              <a:t>7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омпьютерлік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желілерде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ақпаратты қорғау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955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07026" y="1845734"/>
            <a:ext cx="7966814" cy="4023360"/>
          </a:xfrm>
        </p:spPr>
        <p:txBody>
          <a:bodyPr>
            <a:normAutofit/>
          </a:bodyPr>
          <a:lstStyle/>
          <a:p>
            <a:pPr algn="just" rtl="0"/>
            <a:r>
              <a:rPr lang="kk-KZ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лектрондық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қолтаңба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kk-KZ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лектрондық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белгі</a:t>
            </a:r>
            <a:r>
              <a:rPr lang="kk-KZ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Қолтаңба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немесе электрондық қолтаңба электрондық түрдегі басқа деректермен логикалық түрде байланыстырылған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қою үшін пайдаланатын электрондық түрдегі деректерге жатады. Қолтаңбаның бұл түрі, ол жасалған нақты ереженің талаптарына сәйкес болған жағдайда, қолмен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қойылған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k-KZ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қолтаңбамен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бірдей заңды әсер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/>
            <a:r>
              <a:rPr lang="kk-KZ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ифрлық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қолтаңба</a:t>
            </a:r>
            <a:r>
              <a:rPr lang="kk-KZ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арқылы жіберілген хабарламалардың түпнұсқалығын, деректердің тұтастығын және бас тартпауын дәлелдеу ретінде пайдаланылатын электрондық қолтаңбалардың криптографиялық жүзеге асырылуы.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576" y="2022261"/>
            <a:ext cx="24669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004" y="4123553"/>
            <a:ext cx="21431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097280" y="979055"/>
            <a:ext cx="10058400" cy="758305"/>
          </a:xfrm>
        </p:spPr>
        <p:txBody>
          <a:bodyPr>
            <a:normAutofit/>
          </a:bodyPr>
          <a:lstStyle/>
          <a:p>
            <a:r>
              <a:rPr lang="ru-RU" sz="3600" b="1" dirty="0"/>
              <a:t>7</a:t>
            </a:r>
            <a:r>
              <a:rPr lang="en-US" sz="3600" b="1" dirty="0"/>
              <a:t>.</a:t>
            </a:r>
            <a:r>
              <a:rPr lang="kk-KZ" sz="3600" b="1" dirty="0"/>
              <a:t> </a:t>
            </a:r>
            <a:r>
              <a:rPr lang="kk-K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омпьютерлік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желілерде</a:t>
            </a:r>
            <a:r>
              <a:rPr lang="kk-KZ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ақпаратты қорғау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257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36643" y="1845734"/>
            <a:ext cx="6960448" cy="4289609"/>
          </a:xfrm>
        </p:spPr>
        <p:txBody>
          <a:bodyPr>
            <a:normAutofit/>
          </a:bodyPr>
          <a:lstStyle/>
          <a:p>
            <a:pPr algn="l" rtl="0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Сандық қолтаңба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ЭЦҚ процесіне әдетте үш алгоритм қатысады: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/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Кілттерді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генерациялау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сәйкес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ашық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кілтпен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бірге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жеке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кілтті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қамтамасыз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етеді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rtl="0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қою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жеке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кілт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пен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қойылған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хабарламаны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алғаннан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кейін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қояды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rtl="0"/>
            <a:r>
              <a:rPr lang="ru-RU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Тексеру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хабарламаның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түпнұсқалығын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қолтаңбамен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ашық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кілтпен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бірге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тексеру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тексереді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8528" y="4495000"/>
            <a:ext cx="3781167" cy="1640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534" y="1737360"/>
            <a:ext cx="3816140" cy="2453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097280" y="979055"/>
            <a:ext cx="10058400" cy="758305"/>
          </a:xfrm>
        </p:spPr>
        <p:txBody>
          <a:bodyPr>
            <a:normAutofit/>
          </a:bodyPr>
          <a:lstStyle/>
          <a:p>
            <a:r>
              <a:rPr lang="ru-RU" sz="3600" b="1" dirty="0"/>
              <a:t>7</a:t>
            </a:r>
            <a:r>
              <a:rPr lang="en-US" sz="3600" b="1" dirty="0"/>
              <a:t>.</a:t>
            </a:r>
            <a:r>
              <a:rPr lang="kk-KZ" sz="3600" b="1" dirty="0"/>
              <a:t> 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омпьютерлік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желілерде</a:t>
            </a:r>
            <a:r>
              <a:rPr lang="kk-KZ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ақпаратты қорғау</a:t>
            </a:r>
            <a:endParaRPr lang="ru-RU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147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140542" y="1122874"/>
            <a:ext cx="10235381" cy="783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kk-KZ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</a:t>
            </a:r>
            <a:r>
              <a:rPr lang="ru-RU" sz="24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иберқауіпсіздік</a:t>
            </a:r>
            <a:r>
              <a:rPr lang="ru-RU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тақырыбы</a:t>
            </a: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бойынша</a:t>
            </a: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ситуациялық</a:t>
            </a:r>
            <a:r>
              <a:rPr lang="ru-RU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сұрақтар</a:t>
            </a:r>
            <a:r>
              <a:rPr lang="en-US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128" y="2467195"/>
            <a:ext cx="3876367" cy="249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845573" y="2068863"/>
            <a:ext cx="6902245" cy="302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0"/>
              </a:spcAft>
              <a:buAutoNum type="arabicPeriod"/>
            </a:pPr>
            <a:r>
              <a:rPr lang="ru-RU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Фишингтік</a:t>
            </a:r>
            <a:r>
              <a:rPr lang="ru-RU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шабуыл</a:t>
            </a:r>
            <a:endParaRPr lang="ru-RU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Ситуациялық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сіз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компанияда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жұмыс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істейсіз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және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сізге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"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банктен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электрондық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пошта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келді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ол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сайтта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логин мен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парольді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енгізу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арқылы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жеке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деректерді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растауды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сұрайды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</a:t>
            </a:r>
            <a:r>
              <a:rPr lang="ru-RU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Сұрақ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бұл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фишингтік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шабуыл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болуы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мүмкін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екенін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қалай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анықтауға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болады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Деректерді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қорғау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үшін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қандай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қадамдар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жасайсыз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747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727587" y="1251134"/>
            <a:ext cx="11336593" cy="4998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Фишингтік</a:t>
            </a:r>
            <a:r>
              <a:rPr lang="ru-RU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шабуылдың</a:t>
            </a:r>
            <a:r>
              <a:rPr lang="ru-RU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анықтау</a:t>
            </a:r>
            <a:r>
              <a:rPr lang="ru-RU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Жіберушінің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мекен-жайы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жіберушінің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электрондық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пошта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мекенжайын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тексеріңіз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Көбінесе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фишингтік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хаттар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жалған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домендерден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келеді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олар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нақты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сияқты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көрінуі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мүмкін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бірақ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шамалы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айырмашылықтарды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қамтиды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мысалы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орнына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bank.com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мүмкін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bank-com.net).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Электрондық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поштадағы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сілтемелер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сілтемені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апарыңыз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бірақ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оны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баспаңыз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Сілтеме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жүргізетін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URL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мекен-жайына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назар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аударыңыз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Егер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ол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банктің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ресми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сайтынан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өзгеше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болса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күдікті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болып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көрінсе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мысалы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оғаш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таңбалар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ұзын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тізбектер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болса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бұл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фишингтік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шабуыл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болуы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мүмкін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Хаттың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үні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мен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мазмұны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фишингтік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хаттар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көбінесе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грамматикалық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қателерді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қауіптерді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қамтамасыз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етудің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шұғыл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талаптарын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қамтиды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мысалы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сіздің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k-KZ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счетыңыз блокталған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Ресми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банктер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мұндай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электрондық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пошта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арқылы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сирек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талап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етеді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Жеке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ақпаратты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сұрау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банктер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ешқашан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электрондық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пошта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арқылы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логиндер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парольдер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басқа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құпия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ақпаратты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сұрамайды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Егер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бұл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орын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алса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бұл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алаяқтық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болуы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мүмкін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658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89936" y="1173495"/>
            <a:ext cx="11061291" cy="4932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Деректерді</a:t>
            </a: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қорғау</a:t>
            </a: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қадамдары</a:t>
            </a: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Сілтемелерге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өтпеңіз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электрондық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поштадағы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сілтемелерді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баспаңыз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тіркемелерді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жүктемеңіз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себебі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оларда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вирустар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болуы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сізді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жалған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сайтқа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бағыттауы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мүмкін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Ресми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сайтты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тексеріңіз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егер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күмән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туындаса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хаттың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сілтемелерін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пайдаланбай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банктің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ресми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сайтына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k-KZ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браузер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арқылы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қолмен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кіріп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Жеке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кабинеттегі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ақпаратты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тексеріңіз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Банкке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хабарласыңыз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сізге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хат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жібергенін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анықтау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үшін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ресми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нөмірді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пайдаланып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банкті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қолдау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қызметіне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қоңырау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шалыңыз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Фишингтік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шабуыл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туралы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хабарлаңыз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күдікті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хатты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компанияның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бөліміне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банктің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қауіпсіздік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қызметіне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хабарлаңыз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сонда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олар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әрекет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ете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алады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Жүйені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вирустарға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тексеріңіз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құрылғының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вирус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жұқтырмағанына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көз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жеткізу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үшін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антивирустық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тексеруді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іске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қосыңыз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569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140542" y="1122874"/>
            <a:ext cx="10235381" cy="783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kk-KZ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</a:t>
            </a:r>
            <a:r>
              <a:rPr lang="ru-RU" sz="24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иберқауіпсіздік</a:t>
            </a:r>
            <a:r>
              <a:rPr lang="ru-RU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тақырыбы</a:t>
            </a: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бойынша</a:t>
            </a: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ситуациялық</a:t>
            </a:r>
            <a:r>
              <a:rPr lang="ru-RU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сұрақтар</a:t>
            </a:r>
            <a:r>
              <a:rPr lang="en-US" sz="24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128" y="2467195"/>
            <a:ext cx="3876367" cy="249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845573" y="2068863"/>
            <a:ext cx="6902245" cy="302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0"/>
              </a:spcAft>
              <a:buAutoNum type="arabicPeriod"/>
            </a:pPr>
            <a:r>
              <a:rPr lang="ru-RU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Фишингтік</a:t>
            </a:r>
            <a:r>
              <a:rPr lang="ru-RU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шабуыл</a:t>
            </a:r>
            <a:endParaRPr lang="ru-RU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Ситуациялық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сіз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компанияда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жұмыс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істейсіз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және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сізге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"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банктен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электрондық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пошта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келді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ол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сайтта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логин мен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парольді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енгізу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арқылы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жеке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деректерді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растауды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сұрайды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</a:t>
            </a:r>
            <a:r>
              <a:rPr lang="ru-RU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Сұрақ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бұл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фишингтік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шабуыл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болуы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мүмкін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екенін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қалай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анықтауға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болады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Деректерді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қорғау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үшін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қандай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қадамдар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жасайсыз</a:t>
            </a: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271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727587" y="1251134"/>
            <a:ext cx="11336593" cy="4998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Фишингтік</a:t>
            </a:r>
            <a:r>
              <a:rPr lang="ru-RU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шабуылдың</a:t>
            </a:r>
            <a:r>
              <a:rPr lang="ru-RU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анықтау</a:t>
            </a:r>
            <a:r>
              <a:rPr lang="ru-RU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Жіберушінің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мекен-жайы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жіберушінің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электрондық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пошта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мекенжайын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тексеріңіз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Көбінесе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фишингтік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хаттар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жалған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домендерден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келеді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олар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нақты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сияқты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көрінуі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мүмкін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бірақ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шамалы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айырмашылықтарды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қамтиды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мысалы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орнына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bank.com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мүмкін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bank-com.net).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Электрондық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поштадағы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сілтемелер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сілтемені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апарыңыз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бірақ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оны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баспаңыз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Сілтеме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жүргізетін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URL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мекен-жайына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назар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аударыңыз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Егер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ол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банктің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ресми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сайтынан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өзгеше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болса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күдікті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болып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көрінсе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мысалы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оғаш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таңбалар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ұзын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тізбектер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болса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бұл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фишингтік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шабуыл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болуы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мүмкін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Хаттың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үні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мен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мазмұны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фишингтік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хаттар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көбінесе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грамматикалық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қателерді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қауіптерді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қамтамасыз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етудің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шұғыл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талаптарын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қамтиды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мысалы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сіздің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k-KZ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счетыңыз блокталған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Ресми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банктер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мұндай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электрондық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пошта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арқылы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сирек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талап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етеді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Жеке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ақпаратты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сұрау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банктер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ешқашан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электрондық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пошта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арқылы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логиндер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парольдер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басқа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құпия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ақпаратты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сұрамайды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Егер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бұл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орын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алса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бұл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алаяқтық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болуы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мүмкін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251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89936" y="1173495"/>
            <a:ext cx="11061291" cy="4932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Деректерді</a:t>
            </a: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қорғау</a:t>
            </a: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қадамдары</a:t>
            </a:r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Сілтемелерге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өтпеңіз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электрондық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поштадағы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сілтемелерді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баспаңыз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тіркемелерді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жүктемеңіз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себебі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оларда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вирустар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болуы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сізді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жалған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сайтқа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бағыттауы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мүмкін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Ресми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сайтты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тексеріңіз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егер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күмән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туындаса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хаттың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сілтемелерін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пайдаланбай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банктің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ресми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сайтына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k-KZ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браузер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арқылы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қолмен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кіріп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Жеке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кабинеттегі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ақпаратты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тексеріңіз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Банкке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хабарласыңыз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сізге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хат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жібергенін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анықтау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үшін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ресми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нөмірді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пайдаланып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банкті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қолдау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қызметіне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қоңырау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шалыңыз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Фишингтік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шабуыл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туралы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хабарлаңыз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күдікті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хатты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компанияның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бөліміне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немесе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банктің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қауіпсіздік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қызметіне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хабарлаңыз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сонда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олар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әрекет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ете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алады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Жүйені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вирустарға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тексеріңіз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құрылғының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вирус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жұқтырмағанына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көз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жеткізу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үшін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антивирустық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тексеруді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іске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қосыңыз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712319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Ретр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1097</TotalTime>
  <Words>1542</Words>
  <Application>Microsoft Office PowerPoint</Application>
  <PresentationFormat>Широкоэкранный</PresentationFormat>
  <Paragraphs>194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Times New Roman</vt:lpstr>
      <vt:lpstr>Wingdings</vt:lpstr>
      <vt:lpstr>Ретро</vt:lpstr>
      <vt:lpstr>   Киберқауіпсіздік</vt:lpstr>
      <vt:lpstr>Дәріс мазмұны</vt:lpstr>
      <vt:lpstr>1. Киберқауіпсіздікке кіріспе</vt:lpstr>
      <vt:lpstr>1. Киберқауіпсіздікке кіріспе</vt:lpstr>
      <vt:lpstr>1. Киберқауіпсіздікке кіріспе</vt:lpstr>
      <vt:lpstr>2. Ақпараттық қауіпсіздік қатерлері</vt:lpstr>
      <vt:lpstr>3. Ақпараттық қауіпсіздікке төнетін қатерлердің түрлері</vt:lpstr>
      <vt:lpstr>3. Ақпараттық қауіпсіздікке төнетін қатерлердің түрлері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5.Криптографияның негізгі термині</vt:lpstr>
      <vt:lpstr>6.Алгоритмдер классификациясы </vt:lpstr>
      <vt:lpstr>6. Алгоритмдер классификациясы </vt:lpstr>
      <vt:lpstr>6. Алгоритмдер классификациясы </vt:lpstr>
      <vt:lpstr>7. Компьютерлік желілерде ақпаратты қорғау</vt:lpstr>
      <vt:lpstr>7. Компьютерлік желілерде ақпаратты қорғау</vt:lpstr>
      <vt:lpstr>7. Компьютерлік желілерде ақпаратты қорғау</vt:lpstr>
      <vt:lpstr>7. Компьютерлік желілерде ақпаратты қорғау</vt:lpstr>
      <vt:lpstr>7. Компьютерлік желілерде ақпаратты қорғау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ICT</dc:title>
  <dc:creator>User</dc:creator>
  <cp:lastModifiedBy>Учетная запись Майкрософт</cp:lastModifiedBy>
  <cp:revision>98</cp:revision>
  <dcterms:created xsi:type="dcterms:W3CDTF">2021-09-07T08:28:01Z</dcterms:created>
  <dcterms:modified xsi:type="dcterms:W3CDTF">2024-10-21T13:31:31Z</dcterms:modified>
</cp:coreProperties>
</file>
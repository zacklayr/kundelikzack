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3" r:id="rId1"/>
  </p:sldMasterIdLst>
  <p:notesMasterIdLst>
    <p:notesMasterId r:id="rId23"/>
  </p:notesMasterIdLst>
  <p:sldIdLst>
    <p:sldId id="304" r:id="rId2"/>
    <p:sldId id="305" r:id="rId3"/>
    <p:sldId id="256" r:id="rId4"/>
    <p:sldId id="301" r:id="rId5"/>
    <p:sldId id="307" r:id="rId6"/>
    <p:sldId id="308" r:id="rId7"/>
    <p:sldId id="258" r:id="rId8"/>
    <p:sldId id="261" r:id="rId9"/>
    <p:sldId id="306" r:id="rId10"/>
    <p:sldId id="302" r:id="rId11"/>
    <p:sldId id="270" r:id="rId12"/>
    <p:sldId id="271" r:id="rId13"/>
    <p:sldId id="291" r:id="rId14"/>
    <p:sldId id="309" r:id="rId15"/>
    <p:sldId id="313" r:id="rId16"/>
    <p:sldId id="312" r:id="rId17"/>
    <p:sldId id="311" r:id="rId18"/>
    <p:sldId id="294" r:id="rId19"/>
    <p:sldId id="310" r:id="rId20"/>
    <p:sldId id="314" r:id="rId21"/>
    <p:sldId id="315" r:id="rId22"/>
  </p:sldIdLst>
  <p:sldSz cx="12192000" cy="6858000"/>
  <p:notesSz cx="6858000" cy="9144000"/>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9" d="100"/>
          <a:sy n="69" d="100"/>
        </p:scale>
        <p:origin x="564" y="4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2EFAA-9AFC-4878-B7DA-1F63A92545F0}" type="datetimeFigureOut">
              <a:rPr lang="ru-RU" smtClean="0"/>
              <a:t>03.03.2025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46D09-4952-4ED5-8125-CC7ABAD91415}" type="slidenum">
              <a:rPr lang="ru-RU" smtClean="0"/>
              <a:t>‹#›</a:t>
            </a:fld>
            <a:endParaRPr lang="ru-RU"/>
          </a:p>
        </p:txBody>
      </p:sp>
    </p:spTree>
    <p:extLst>
      <p:ext uri="{BB962C8B-B14F-4D97-AF65-F5344CB8AC3E}">
        <p14:creationId xmlns:p14="http://schemas.microsoft.com/office/powerpoint/2010/main" val="3962662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pPr algn="l" rtl="0"/>
            <a:endParaRPr lang="ru-RU"/>
          </a:p>
        </p:txBody>
      </p:sp>
      <p:sp>
        <p:nvSpPr>
          <p:cNvPr id="4" name="Номер слайда 3"/>
          <p:cNvSpPr>
            <a:spLocks noGrp="1"/>
          </p:cNvSpPr>
          <p:nvPr>
            <p:ph type="sldNum" sz="quarter" idx="10"/>
          </p:nvPr>
        </p:nvSpPr>
        <p:spPr/>
        <p:txBody>
          <a:bodyPr/>
          <a:lstStyle/>
          <a:p>
            <a:pPr algn="l" rtl="0"/>
            <a:fld id="{89246D09-4952-4ED5-8125-CC7ABAD91415}" type="slidenum">
              <a:rPr lang="ru-RU" smtClean="0"/>
              <a:t>2</a:t>
            </a:fld>
            <a:endParaRPr lang="ru-RU"/>
          </a:p>
        </p:txBody>
      </p:sp>
    </p:spTree>
    <p:extLst>
      <p:ext uri="{BB962C8B-B14F-4D97-AF65-F5344CB8AC3E}">
        <p14:creationId xmlns:p14="http://schemas.microsoft.com/office/powerpoint/2010/main" val="3440007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pPr algn="l" rtl="0"/>
            <a:endParaRPr lang="ru-RU"/>
          </a:p>
        </p:txBody>
      </p:sp>
      <p:sp>
        <p:nvSpPr>
          <p:cNvPr id="4" name="Номер слайда 3"/>
          <p:cNvSpPr>
            <a:spLocks noGrp="1"/>
          </p:cNvSpPr>
          <p:nvPr>
            <p:ph type="sldNum" sz="quarter" idx="10"/>
          </p:nvPr>
        </p:nvSpPr>
        <p:spPr/>
        <p:txBody>
          <a:bodyPr/>
          <a:lstStyle/>
          <a:p>
            <a:pPr algn="l" rtl="0"/>
            <a:fld id="{89246D09-4952-4ED5-8125-CC7ABAD91415}" type="slidenum">
              <a:rPr lang="ru-RU" smtClean="0"/>
              <a:t>3</a:t>
            </a:fld>
            <a:endParaRPr lang="ru-RU"/>
          </a:p>
        </p:txBody>
      </p:sp>
    </p:spTree>
    <p:extLst>
      <p:ext uri="{BB962C8B-B14F-4D97-AF65-F5344CB8AC3E}">
        <p14:creationId xmlns:p14="http://schemas.microsoft.com/office/powerpoint/2010/main" val="314701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rtl="0"/>
            <a:endParaRPr lang="ru-KZ" dirty="0"/>
          </a:p>
        </p:txBody>
      </p:sp>
      <p:sp>
        <p:nvSpPr>
          <p:cNvPr id="4" name="Номер слайда 3"/>
          <p:cNvSpPr>
            <a:spLocks noGrp="1"/>
          </p:cNvSpPr>
          <p:nvPr>
            <p:ph type="sldNum" sz="quarter" idx="5"/>
          </p:nvPr>
        </p:nvSpPr>
        <p:spPr/>
        <p:txBody>
          <a:bodyPr/>
          <a:lstStyle/>
          <a:p>
            <a:pPr algn="l" rtl="0"/>
            <a:fld id="{89246D09-4952-4ED5-8125-CC7ABAD91415}" type="slidenum">
              <a:rPr lang="ru-RU" smtClean="0"/>
              <a:t>4</a:t>
            </a:fld>
            <a:endParaRPr lang="ru-RU"/>
          </a:p>
        </p:txBody>
      </p:sp>
    </p:spTree>
    <p:extLst>
      <p:ext uri="{BB962C8B-B14F-4D97-AF65-F5344CB8AC3E}">
        <p14:creationId xmlns:p14="http://schemas.microsoft.com/office/powerpoint/2010/main" val="2831938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rtl="0"/>
            <a:endParaRPr lang="ru-KZ" dirty="0"/>
          </a:p>
        </p:txBody>
      </p:sp>
      <p:sp>
        <p:nvSpPr>
          <p:cNvPr id="4" name="Номер слайда 3"/>
          <p:cNvSpPr>
            <a:spLocks noGrp="1"/>
          </p:cNvSpPr>
          <p:nvPr>
            <p:ph type="sldNum" sz="quarter" idx="5"/>
          </p:nvPr>
        </p:nvSpPr>
        <p:spPr/>
        <p:txBody>
          <a:bodyPr/>
          <a:lstStyle/>
          <a:p>
            <a:pPr algn="l" rtl="0"/>
            <a:fld id="{89246D09-4952-4ED5-8125-CC7ABAD91415}" type="slidenum">
              <a:rPr lang="ru-RU" smtClean="0"/>
              <a:t>5</a:t>
            </a:fld>
            <a:endParaRPr lang="ru-RU"/>
          </a:p>
        </p:txBody>
      </p:sp>
    </p:spTree>
    <p:extLst>
      <p:ext uri="{BB962C8B-B14F-4D97-AF65-F5344CB8AC3E}">
        <p14:creationId xmlns:p14="http://schemas.microsoft.com/office/powerpoint/2010/main" val="1372343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rtl="0"/>
            <a:endParaRPr lang="ru-KZ" dirty="0"/>
          </a:p>
        </p:txBody>
      </p:sp>
      <p:sp>
        <p:nvSpPr>
          <p:cNvPr id="4" name="Номер слайда 3"/>
          <p:cNvSpPr>
            <a:spLocks noGrp="1"/>
          </p:cNvSpPr>
          <p:nvPr>
            <p:ph type="sldNum" sz="quarter" idx="5"/>
          </p:nvPr>
        </p:nvSpPr>
        <p:spPr/>
        <p:txBody>
          <a:bodyPr/>
          <a:lstStyle/>
          <a:p>
            <a:pPr algn="l" rtl="0"/>
            <a:fld id="{89246D09-4952-4ED5-8125-CC7ABAD91415}" type="slidenum">
              <a:rPr lang="ru-RU" smtClean="0"/>
              <a:t>6</a:t>
            </a:fld>
            <a:endParaRPr lang="ru-RU"/>
          </a:p>
        </p:txBody>
      </p:sp>
    </p:spTree>
    <p:extLst>
      <p:ext uri="{BB962C8B-B14F-4D97-AF65-F5344CB8AC3E}">
        <p14:creationId xmlns:p14="http://schemas.microsoft.com/office/powerpoint/2010/main" val="2352494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pPr algn="l" rtl="0"/>
            <a:endParaRPr lang="ru-RU"/>
          </a:p>
        </p:txBody>
      </p:sp>
      <p:sp>
        <p:nvSpPr>
          <p:cNvPr id="4" name="Номер слайда 3"/>
          <p:cNvSpPr>
            <a:spLocks noGrp="1"/>
          </p:cNvSpPr>
          <p:nvPr>
            <p:ph type="sldNum" sz="quarter" idx="10"/>
          </p:nvPr>
        </p:nvSpPr>
        <p:spPr/>
        <p:txBody>
          <a:bodyPr/>
          <a:lstStyle/>
          <a:p>
            <a:pPr algn="l" rtl="0"/>
            <a:fld id="{89246D09-4952-4ED5-8125-CC7ABAD91415}" type="slidenum">
              <a:rPr lang="ru-RU" smtClean="0"/>
              <a:t>9</a:t>
            </a:fld>
            <a:endParaRPr lang="ru-RU"/>
          </a:p>
        </p:txBody>
      </p:sp>
    </p:spTree>
    <p:extLst>
      <p:ext uri="{BB962C8B-B14F-4D97-AF65-F5344CB8AC3E}">
        <p14:creationId xmlns:p14="http://schemas.microsoft.com/office/powerpoint/2010/main" val="3990744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84095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ru-RU"/>
              <a:t>Образец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176686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1124691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6" name="Footer Placeholder 5"/>
          <p:cNvSpPr>
            <a:spLocks noGrp="1"/>
          </p:cNvSpPr>
          <p:nvPr>
            <p:ph type="ftr" sz="quarter" idx="11"/>
          </p:nvPr>
        </p:nvSpPr>
        <p:spPr/>
        <p:txBody>
          <a:bodyPr/>
          <a:lstStyle/>
          <a:p>
            <a:endParaRPr lang="ru-RU"/>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2333542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8" name="Footer Placeholder 7"/>
          <p:cNvSpPr>
            <a:spLocks noGrp="1"/>
          </p:cNvSpPr>
          <p:nvPr>
            <p:ph type="ftr" sz="quarter" idx="11"/>
          </p:nvPr>
        </p:nvSpPr>
        <p:spPr/>
        <p:txBody>
          <a:bodyPr/>
          <a:lstStyle/>
          <a:p>
            <a:endParaRPr lang="ru-RU"/>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814292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4" name="Footer Placeholder 3"/>
          <p:cNvSpPr>
            <a:spLocks noGrp="1"/>
          </p:cNvSpPr>
          <p:nvPr>
            <p:ph type="ftr" sz="quarter" idx="11"/>
          </p:nvPr>
        </p:nvSpPr>
        <p:spPr/>
        <p:txBody>
          <a:bodyPr/>
          <a:lstStyle/>
          <a:p>
            <a:endParaRPr lang="ru-RU"/>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2048909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3" name="Footer Placeholder 2"/>
          <p:cNvSpPr>
            <a:spLocks noGrp="1"/>
          </p:cNvSpPr>
          <p:nvPr>
            <p:ph type="ftr" sz="quarter" idx="11"/>
          </p:nvPr>
        </p:nvSpPr>
        <p:spPr/>
        <p:txBody>
          <a:bodyPr/>
          <a:lstStyle/>
          <a:p>
            <a:endParaRPr lang="ru-RU"/>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2740806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ru-RU"/>
              <a:t>Образец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3844978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390023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35060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57C923-8D9C-4766-9B99-1C318839DA33}" type="slidenum">
              <a:rPr lang="ru-RU" smtClean="0"/>
              <a:pPr/>
              <a:t>‹#›</a:t>
            </a:fld>
            <a:endParaRPr lang="ru-RU"/>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88234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ru-RU"/>
              <a:t>Образец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3163620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Цитата карточки имен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6" name="Footer Placeholder 5"/>
          <p:cNvSpPr>
            <a:spLocks noGrp="1"/>
          </p:cNvSpPr>
          <p:nvPr>
            <p:ph type="ftr" sz="quarter" idx="11"/>
          </p:nvPr>
        </p:nvSpPr>
        <p:spPr/>
        <p:txBody>
          <a:bodyPr/>
          <a:lstStyle/>
          <a:p>
            <a:endParaRPr lang="ru-RU"/>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57C923-8D9C-4766-9B99-1C318839DA33}" type="slidenum">
              <a:rPr lang="ru-RU" smtClean="0"/>
              <a:pPr/>
              <a:t>‹#›</a:t>
            </a:fld>
            <a:endParaRPr lang="ru-RU"/>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72180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2539292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316135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C2019B7-A633-41B0-8ADD-63A99E21BB9E}" type="datetimeFigureOut">
              <a:rPr lang="ru-RU" smtClean="0"/>
              <a:pPr/>
              <a:t>03.03.2025</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57C923-8D9C-4766-9B99-1C318839DA33}" type="slidenum">
              <a:rPr lang="ru-RU" smtClean="0"/>
              <a:pPr/>
              <a:t>‹#›</a:t>
            </a:fld>
            <a:endParaRPr lang="ru-RU"/>
          </a:p>
        </p:txBody>
      </p:sp>
    </p:spTree>
    <p:extLst>
      <p:ext uri="{BB962C8B-B14F-4D97-AF65-F5344CB8AC3E}">
        <p14:creationId xmlns:p14="http://schemas.microsoft.com/office/powerpoint/2010/main" val="2224088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C2019B7-A633-41B0-8ADD-63A99E21BB9E}" type="datetimeFigureOut">
              <a:rPr lang="ru-RU" smtClean="0"/>
              <a:pPr/>
              <a:t>03.03.2025</a:t>
            </a:fld>
            <a:endParaRPr lang="ru-RU"/>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B57C923-8D9C-4766-9B99-1C318839DA33}" type="slidenum">
              <a:rPr lang="ru-RU" smtClean="0"/>
              <a:pPr/>
              <a:t>‹#›</a:t>
            </a:fld>
            <a:endParaRPr lang="ru-RU"/>
          </a:p>
        </p:txBody>
      </p:sp>
    </p:spTree>
    <p:extLst>
      <p:ext uri="{BB962C8B-B14F-4D97-AF65-F5344CB8AC3E}">
        <p14:creationId xmlns:p14="http://schemas.microsoft.com/office/powerpoint/2010/main" val="3225695345"/>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866" r:id="rId13"/>
    <p:sldLayoutId id="2147483867" r:id="rId14"/>
    <p:sldLayoutId id="2147483868" r:id="rId15"/>
    <p:sldLayoutId id="214748386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iitu.okudemia.kz/course/~hLSI/~JKah/~wgyn" TargetMode="External"/><Relationship Id="rId7" Type="http://schemas.openxmlformats.org/officeDocument/2006/relationships/hyperlink" Target="https://iitu.okudemia.kz/course/~hLSI/~JKah/~tDzh"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iitu.okudemia.kz/course/~hLSI/~JKah/~HT6F" TargetMode="External"/><Relationship Id="rId5" Type="http://schemas.openxmlformats.org/officeDocument/2006/relationships/hyperlink" Target="https://iitu.okudemia.kz/course/~hLSI/~JKah/~14HV" TargetMode="External"/><Relationship Id="rId4" Type="http://schemas.openxmlformats.org/officeDocument/2006/relationships/hyperlink" Target="https://iitu.okudemia.kz/course/~hLSI/~JKah/~207o"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25638B93-AFE8-EAD0-3F34-1420519110AC}"/>
              </a:ext>
            </a:extLst>
          </p:cNvPr>
          <p:cNvSpPr>
            <a:spLocks noGrp="1"/>
          </p:cNvSpPr>
          <p:nvPr>
            <p:ph type="ctrTitle"/>
          </p:nvPr>
        </p:nvSpPr>
        <p:spPr>
          <a:xfrm>
            <a:off x="1703512" y="1031709"/>
            <a:ext cx="10058400" cy="2264264"/>
          </a:xfrm>
        </p:spPr>
        <p:txBody>
          <a:bodyPr>
            <a:normAutofit/>
          </a:bodyPr>
          <a:lstStyle/>
          <a:p>
            <a:pPr algn="ctr" rtl="0"/>
            <a:r>
              <a:rPr lang="kk-KZ" sz="4000" b="1" u="sng" dirty="0">
                <a:solidFill>
                  <a:srgbClr val="000000"/>
                </a:solidFill>
                <a:effectLst/>
                <a:latin typeface="Times New Roman" panose="02020603050405020304" pitchFamily="18" charset="0"/>
                <a:ea typeface="Times New Roman" panose="02020603050405020304" pitchFamily="18" charset="0"/>
              </a:rPr>
              <a:t>Деректер қорларының жүйелері</a:t>
            </a:r>
            <a:r>
              <a:rPr lang="ru-RU" sz="4800" dirty="0">
                <a:solidFill>
                  <a:srgbClr val="000000"/>
                </a:solidFill>
                <a:effectLst/>
                <a:latin typeface="Times New Roman" panose="02020603050405020304" pitchFamily="18" charset="0"/>
                <a:ea typeface="Times New Roman" panose="02020603050405020304" pitchFamily="18" charset="0"/>
              </a:rPr>
              <a:t>.</a:t>
            </a:r>
            <a:r>
              <a:rPr lang="ru-RU" sz="4000" dirty="0">
                <a:solidFill>
                  <a:srgbClr val="000000"/>
                </a:solidFill>
                <a:effectLst/>
                <a:latin typeface="Times New Roman" panose="02020603050405020304" pitchFamily="18" charset="0"/>
                <a:ea typeface="Times New Roman" panose="02020603050405020304" pitchFamily="18" charset="0"/>
              </a:rPr>
              <a:t/>
            </a:r>
            <a:br>
              <a:rPr lang="ru-RU" sz="4000" dirty="0">
                <a:solidFill>
                  <a:srgbClr val="000000"/>
                </a:solidFill>
                <a:effectLst/>
                <a:latin typeface="Times New Roman" panose="02020603050405020304" pitchFamily="18" charset="0"/>
                <a:ea typeface="Times New Roman" panose="02020603050405020304" pitchFamily="18" charset="0"/>
              </a:rPr>
            </a:br>
            <a:r>
              <a:rPr lang="ru-RU" sz="2800" dirty="0">
                <a:solidFill>
                  <a:srgbClr val="000000"/>
                </a:solidFill>
                <a:effectLst/>
                <a:latin typeface="Times New Roman" panose="02020603050405020304" pitchFamily="18" charset="0"/>
                <a:ea typeface="Times New Roman" panose="02020603050405020304" pitchFamily="18" charset="0"/>
              </a:rPr>
              <a:t>Системы баз данных</a:t>
            </a:r>
            <a:br>
              <a:rPr lang="ru-RU" sz="2800" dirty="0">
                <a:solidFill>
                  <a:srgbClr val="000000"/>
                </a:solidFill>
                <a:effectLst/>
                <a:latin typeface="Times New Roman" panose="02020603050405020304" pitchFamily="18" charset="0"/>
                <a:ea typeface="Times New Roman" panose="02020603050405020304" pitchFamily="18" charset="0"/>
              </a:rPr>
            </a:br>
            <a:r>
              <a:rPr lang="en-US" sz="2800" dirty="0">
                <a:solidFill>
                  <a:srgbClr val="000000"/>
                </a:solidFill>
                <a:effectLst/>
                <a:latin typeface="Times New Roman" panose="02020603050405020304" pitchFamily="18" charset="0"/>
                <a:ea typeface="Times New Roman" panose="02020603050405020304" pitchFamily="18" charset="0"/>
              </a:rPr>
              <a:t>Database systems</a:t>
            </a:r>
            <a:endParaRPr lang="ru-KZ" sz="19900" b="1" dirty="0">
              <a:solidFill>
                <a:srgbClr val="002060"/>
              </a:solidFill>
              <a:latin typeface="Times New Roman" panose="02020603050405020304" pitchFamily="18" charset="0"/>
              <a:cs typeface="Times New Roman" panose="02020603050405020304" pitchFamily="18" charset="0"/>
            </a:endParaRPr>
          </a:p>
        </p:txBody>
      </p:sp>
      <p:sp>
        <p:nvSpPr>
          <p:cNvPr id="4" name="Подзаголовок 3">
            <a:extLst>
              <a:ext uri="{FF2B5EF4-FFF2-40B4-BE49-F238E27FC236}">
                <a16:creationId xmlns:a16="http://schemas.microsoft.com/office/drawing/2014/main" xmlns="" id="{53BB799F-B04F-28CE-CCD1-D4DE0F12C7B2}"/>
              </a:ext>
            </a:extLst>
          </p:cNvPr>
          <p:cNvSpPr>
            <a:spLocks noGrp="1"/>
          </p:cNvSpPr>
          <p:nvPr>
            <p:ph type="subTitle" idx="1"/>
          </p:nvPr>
        </p:nvSpPr>
        <p:spPr>
          <a:xfrm>
            <a:off x="4079776" y="3573016"/>
            <a:ext cx="7682136" cy="1143000"/>
          </a:xfrm>
        </p:spPr>
        <p:txBody>
          <a:bodyPr>
            <a:normAutofit/>
          </a:bodyPr>
          <a:lstStyle/>
          <a:p>
            <a:pPr algn="l" rtl="0"/>
            <a:r>
              <a:rPr lang="en-US" sz="3200" b="1" dirty="0" err="1">
                <a:latin typeface="Times New Roman" panose="02020603050405020304" pitchFamily="18" charset="0"/>
                <a:cs typeface="Times New Roman" panose="02020603050405020304" pitchFamily="18" charset="0"/>
              </a:rPr>
              <a:t>Дәріс</a:t>
            </a:r>
            <a:r>
              <a:rPr lang="kk-KZ" sz="3200" b="1" dirty="0">
                <a:latin typeface="Times New Roman" panose="02020603050405020304" pitchFamily="18" charset="0"/>
                <a:cs typeface="Times New Roman" panose="02020603050405020304" pitchFamily="18" charset="0"/>
              </a:rPr>
              <a:t> 5</a:t>
            </a:r>
            <a:endParaRPr lang="ru-KZ" sz="3200" b="1" dirty="0">
              <a:latin typeface="Times New Roman" panose="02020603050405020304" pitchFamily="18" charset="0"/>
              <a:cs typeface="Times New Roman" panose="02020603050405020304" pitchFamily="18" charset="0"/>
            </a:endParaRPr>
          </a:p>
        </p:txBody>
      </p:sp>
      <p:pic>
        <p:nvPicPr>
          <p:cNvPr id="1000100002" name="ODT_ATTR_LBL_LOGO">
            <a:extLst>
              <a:ext uri="{FF2B5EF4-FFF2-40B4-BE49-F238E27FC236}">
                <a16:creationId xmlns:a16="http://schemas.microsoft.com/office/drawing/2014/main" xmlns="" id="{B066AC4A-9A1C-4C10-800A-DAF9F276438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36000"/>
            <a:ext cx="316230" cy="179705"/>
          </a:xfrm>
          <a:prstGeom prst="rect">
            <a:avLst/>
          </a:prstGeom>
        </p:spPr>
      </p:pic>
    </p:spTree>
    <p:extLst>
      <p:ext uri="{BB962C8B-B14F-4D97-AF65-F5344CB8AC3E}">
        <p14:creationId xmlns:p14="http://schemas.microsoft.com/office/powerpoint/2010/main" val="115679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FC1C1248-43B2-4971-A86A-A91E9DAB650A}"/>
              </a:ext>
            </a:extLst>
          </p:cNvPr>
          <p:cNvSpPr txBox="1"/>
          <p:nvPr/>
        </p:nvSpPr>
        <p:spPr>
          <a:xfrm>
            <a:off x="2351584" y="1052736"/>
            <a:ext cx="8928992" cy="4598054"/>
          </a:xfrm>
          <a:prstGeom prst="rect">
            <a:avLst/>
          </a:prstGeom>
          <a:noFill/>
        </p:spPr>
        <p:txBody>
          <a:bodyPr wrap="square">
            <a:spAutoFit/>
          </a:bodyPr>
          <a:lstStyle/>
          <a:p>
            <a:pPr algn="l" rtl="0"/>
            <a:endParaRPr lang="ru-RU" dirty="0"/>
          </a:p>
          <a:p>
            <a:pPr algn="ctr" rtl="0"/>
            <a:r>
              <a:rPr lang="en" sz="3200" b="1" dirty="0">
                <a:latin typeface="Times New Roman" panose="02020603050405020304" pitchFamily="18" charset="0"/>
                <a:cs typeface="Times New Roman" panose="02020603050405020304" pitchFamily="18" charset="0"/>
              </a:rPr>
              <a:t>ДӘРІС МАЗМҰНЫ</a:t>
            </a:r>
            <a:endParaRPr lang="kk-KZ" sz="3200" b="1" dirty="0">
              <a:latin typeface="Times New Roman" panose="02020603050405020304" pitchFamily="18" charset="0"/>
              <a:cs typeface="Times New Roman" panose="02020603050405020304" pitchFamily="18" charset="0"/>
            </a:endParaRPr>
          </a:p>
          <a:p>
            <a:pPr algn="l" rtl="0"/>
            <a:endParaRPr lang="kk-KZ" dirty="0"/>
          </a:p>
          <a:p>
            <a:pPr indent="627063" algn="l" rtl="0">
              <a:lnSpc>
                <a:spcPct val="107000"/>
              </a:lnSpc>
              <a:spcAft>
                <a:spcPts val="0"/>
              </a:spcAft>
            </a:pPr>
            <a:r>
              <a:rPr lang="kk-KZ" sz="2200" dirty="0">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xmlns="" val="tx"/>
                    </a:ext>
                  </a:extLst>
                </a:hlinkClick>
              </a:rPr>
              <a:t>Мәліметтер қоры</a:t>
            </a:r>
          </a:p>
          <a:p>
            <a:pPr indent="627063" algn="l" rtl="0">
              <a:lnSpc>
                <a:spcPct val="107000"/>
              </a:lnSpc>
              <a:spcAft>
                <a:spcPts val="0"/>
              </a:spcAft>
            </a:pPr>
            <a:r>
              <a:rPr lang="kk-KZ" sz="2200" dirty="0">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xmlns="" val="tx"/>
                    </a:ext>
                  </a:extLst>
                </a:hlinkClick>
              </a:rPr>
              <a:t>Деректер базасы және реляциялық мәліметтер базасы</a:t>
            </a:r>
            <a:endParaRPr lang="kk-KZ" sz="2200" dirty="0">
              <a:latin typeface="Times New Roman" panose="02020603050405020304" pitchFamily="18" charset="0"/>
              <a:ea typeface="Calibri" panose="020F0502020204030204" pitchFamily="34" charset="0"/>
              <a:cs typeface="Times New Roman" panose="02020603050405020304" pitchFamily="18" charset="0"/>
            </a:endParaRPr>
          </a:p>
          <a:p>
            <a:pPr indent="627063" algn="l" rtl="0">
              <a:lnSpc>
                <a:spcPct val="107000"/>
              </a:lnSpc>
              <a:spcAft>
                <a:spcPts val="0"/>
              </a:spcAft>
            </a:pPr>
            <a:r>
              <a:rPr lang="kk-KZ" sz="2200" dirty="0">
                <a:latin typeface="Times New Roman" panose="02020603050405020304" pitchFamily="18"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xmlns="" val="tx"/>
                    </a:ext>
                  </a:extLst>
                </a:hlinkClick>
              </a:rPr>
              <a:t>Мәліметтер қорының негізгі терминдері</a:t>
            </a:r>
            <a:endParaRPr lang="kk-KZ" sz="2200" dirty="0">
              <a:latin typeface="Times New Roman" panose="02020603050405020304" pitchFamily="18" charset="0"/>
              <a:ea typeface="Calibri" panose="020F0502020204030204" pitchFamily="34" charset="0"/>
              <a:cs typeface="Times New Roman" panose="02020603050405020304" pitchFamily="18" charset="0"/>
            </a:endParaRPr>
          </a:p>
          <a:p>
            <a:pPr indent="627063" algn="l" rtl="0">
              <a:lnSpc>
                <a:spcPct val="107000"/>
              </a:lnSpc>
              <a:spcAft>
                <a:spcPts val="0"/>
              </a:spcAft>
            </a:pPr>
            <a:r>
              <a:rPr lang="kk-KZ" sz="2200" dirty="0">
                <a:latin typeface="Times New Roman" panose="02020603050405020304" pitchFamily="18"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xmlns="" val="tx"/>
                    </a:ext>
                  </a:extLst>
                </a:hlinkClick>
              </a:rPr>
              <a:t>Реляциялық мәліметтер базасының бағдарламалық қамтамасыз ету.</a:t>
            </a:r>
            <a:endParaRPr lang="kk-KZ" sz="2200" dirty="0">
              <a:latin typeface="Times New Roman" panose="02020603050405020304" pitchFamily="18" charset="0"/>
              <a:ea typeface="Calibri" panose="020F0502020204030204" pitchFamily="34" charset="0"/>
              <a:cs typeface="Times New Roman" panose="02020603050405020304" pitchFamily="18" charset="0"/>
            </a:endParaRPr>
          </a:p>
          <a:p>
            <a:pPr indent="627063" algn="l" rtl="0">
              <a:lnSpc>
                <a:spcPct val="107000"/>
              </a:lnSpc>
              <a:spcAft>
                <a:spcPts val="0"/>
              </a:spcAft>
            </a:pPr>
            <a:r>
              <a:rPr lang="kk-KZ" sz="2200" dirty="0">
                <a:latin typeface="Times New Roman" panose="02020603050405020304" pitchFamily="18" charset="0"/>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xmlns="" val="tx"/>
                    </a:ext>
                  </a:extLst>
                </a:hlinkClick>
              </a:rPr>
              <a:t>Мәліметтер қорының құрылымын құру. Деректерді өңдеу және SQL пайдалану.</a:t>
            </a:r>
            <a:endParaRPr lang="kk-KZ" sz="2200" dirty="0">
              <a:latin typeface="Times New Roman" panose="02020603050405020304" pitchFamily="18" charset="0"/>
              <a:ea typeface="Calibri" panose="020F0502020204030204" pitchFamily="34" charset="0"/>
              <a:cs typeface="Times New Roman" panose="02020603050405020304" pitchFamily="18" charset="0"/>
            </a:endParaRPr>
          </a:p>
          <a:p>
            <a:pPr indent="627063" algn="l" rtl="0">
              <a:lnSpc>
                <a:spcPct val="107000"/>
              </a:lnSpc>
              <a:spcAft>
                <a:spcPts val="0"/>
              </a:spcAft>
            </a:pPr>
            <a:r>
              <a:rPr lang="kk-KZ" sz="2200" dirty="0">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xmlns="" val="tx"/>
                    </a:ext>
                  </a:extLst>
                </a:hlinkClick>
              </a:rPr>
              <a:t>Мәліметтерді ұсыну және есеп беру</a:t>
            </a:r>
            <a:endParaRPr lang="kk-KZ" sz="2200" dirty="0">
              <a:latin typeface="Times New Roman" panose="02020603050405020304" pitchFamily="18" charset="0"/>
              <a:ea typeface="Calibri" panose="020F0502020204030204" pitchFamily="34" charset="0"/>
              <a:cs typeface="Times New Roman" panose="02020603050405020304" pitchFamily="18" charset="0"/>
            </a:endParaRPr>
          </a:p>
          <a:p>
            <a:pPr indent="627063" algn="l" rtl="0"/>
            <a:endParaRPr lang="kk-KZ" sz="2400" dirty="0">
              <a:latin typeface="Times New Roman" panose="02020603050405020304" pitchFamily="18" charset="0"/>
              <a:cs typeface="Times New Roman" panose="02020603050405020304" pitchFamily="18" charset="0"/>
            </a:endParaRPr>
          </a:p>
          <a:p>
            <a:pPr algn="l" rtl="0"/>
            <a:endParaRPr lang="ru-RU" dirty="0"/>
          </a:p>
          <a:p>
            <a:pPr algn="l" rtl="0"/>
            <a:endParaRPr lang="kk-KZ" dirty="0"/>
          </a:p>
        </p:txBody>
      </p:sp>
    </p:spTree>
    <p:extLst>
      <p:ext uri="{BB962C8B-B14F-4D97-AF65-F5344CB8AC3E}">
        <p14:creationId xmlns:p14="http://schemas.microsoft.com/office/powerpoint/2010/main" val="1527255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1"/>
          <p:cNvSpPr txBox="1">
            <a:spLocks/>
          </p:cNvSpPr>
          <p:nvPr/>
        </p:nvSpPr>
        <p:spPr>
          <a:xfrm>
            <a:off x="1775520" y="1052736"/>
            <a:ext cx="6572264" cy="1143000"/>
          </a:xfrm>
          <a:prstGeom prst="rect">
            <a:avLst/>
          </a:prstGeom>
        </p:spPr>
        <p:txBody>
          <a:bodyPr vert="horz" lIns="91440" tIns="45720" rIns="91440" bIns="45720" rtlCol="0" anchor="ctr">
            <a:normAutofit/>
          </a:bodyPr>
          <a:lstStyle/>
          <a:p>
            <a:pPr algn="l" defTabSz="914400" rtl="0">
              <a:spcBef>
                <a:spcPct val="0"/>
              </a:spcBef>
              <a:defRPr/>
            </a:pPr>
            <a:endParaRPr lang="kk-KZ" sz="4400" dirty="0">
              <a:solidFill>
                <a:schemeClr val="tx2">
                  <a:lumMod val="75000"/>
                </a:schemeClr>
              </a:solidFill>
              <a:latin typeface="+mj-lt"/>
              <a:ea typeface="+mj-ea"/>
              <a:cs typeface="+mj-cs"/>
            </a:endParaRPr>
          </a:p>
          <a:p>
            <a:pPr algn="l" defTabSz="914400" rtl="0">
              <a:spcBef>
                <a:spcPct val="0"/>
              </a:spcBef>
              <a:defRPr/>
            </a:pPr>
            <a:endParaRPr lang="ru-RU" sz="4400" dirty="0">
              <a:solidFill>
                <a:schemeClr val="tx2">
                  <a:lumMod val="75000"/>
                </a:schemeClr>
              </a:solidFill>
              <a:latin typeface="+mj-lt"/>
              <a:ea typeface="+mj-ea"/>
              <a:cs typeface="+mj-cs"/>
            </a:endParaRPr>
          </a:p>
        </p:txBody>
      </p:sp>
      <p:sp>
        <p:nvSpPr>
          <p:cNvPr id="9" name="TextBox 8">
            <a:extLst>
              <a:ext uri="{FF2B5EF4-FFF2-40B4-BE49-F238E27FC236}">
                <a16:creationId xmlns:a16="http://schemas.microsoft.com/office/drawing/2014/main" xmlns="" id="{C788DABA-90A1-4454-A188-2569359E9FA6}"/>
              </a:ext>
            </a:extLst>
          </p:cNvPr>
          <p:cNvSpPr txBox="1"/>
          <p:nvPr/>
        </p:nvSpPr>
        <p:spPr>
          <a:xfrm>
            <a:off x="2279576" y="592706"/>
            <a:ext cx="8280920" cy="2246769"/>
          </a:xfrm>
          <a:prstGeom prst="rect">
            <a:avLst/>
          </a:prstGeom>
          <a:noFill/>
        </p:spPr>
        <p:txBody>
          <a:bodyPr wrap="square">
            <a:spAutoFit/>
          </a:bodyPr>
          <a:lstStyle/>
          <a:p>
            <a:pPr algn="just" rtl="0"/>
            <a:r>
              <a:rPr lang="ru-RU" sz="2800" b="1" i="0" dirty="0">
                <a:effectLst/>
                <a:latin typeface="Times New Roman" panose="02020603050405020304" pitchFamily="18" charset="0"/>
                <a:cs typeface="Times New Roman" panose="02020603050405020304" pitchFamily="18" charset="0"/>
              </a:rPr>
              <a:t>Мәліметтер қоры </a:t>
            </a:r>
            <a:r>
              <a:rPr lang="ru-RU" sz="2800" b="1" i="0" dirty="0" err="1">
                <a:effectLst/>
                <a:latin typeface="Times New Roman" panose="02020603050405020304" pitchFamily="18" charset="0"/>
                <a:cs typeface="Times New Roman" panose="02020603050405020304" pitchFamily="18" charset="0"/>
              </a:rPr>
              <a:t>жүйесі</a:t>
            </a:r>
            <a:r>
              <a:rPr lang="ru-RU" sz="2800" b="1" i="0" dirty="0">
                <a:effectLst/>
                <a:latin typeface="Times New Roman" panose="02020603050405020304" pitchFamily="18" charset="0"/>
                <a:cs typeface="Times New Roman" panose="02020603050405020304" pitchFamily="18" charset="0"/>
              </a:rPr>
              <a:t>  – </a:t>
            </a:r>
            <a:r>
              <a:rPr lang="ru-RU" sz="2800" b="1" i="0" dirty="0" err="1">
                <a:effectLst/>
                <a:latin typeface="Times New Roman" panose="02020603050405020304" pitchFamily="18" charset="0"/>
                <a:cs typeface="Times New Roman" panose="02020603050405020304" pitchFamily="18" charset="0"/>
              </a:rPr>
              <a:t>белгілі</a:t>
            </a:r>
            <a:r>
              <a:rPr lang="ru-RU" sz="2800" b="1" i="0" dirty="0">
                <a:effectLst/>
                <a:latin typeface="Times New Roman" panose="02020603050405020304" pitchFamily="18" charset="0"/>
                <a:cs typeface="Times New Roman" panose="02020603050405020304" pitchFamily="18" charset="0"/>
              </a:rPr>
              <a:t> </a:t>
            </a:r>
            <a:r>
              <a:rPr lang="ru-RU" sz="2800" b="1" i="0" dirty="0" err="1">
                <a:effectLst/>
                <a:latin typeface="Times New Roman" panose="02020603050405020304" pitchFamily="18" charset="0"/>
                <a:cs typeface="Times New Roman" panose="02020603050405020304" pitchFamily="18" charset="0"/>
              </a:rPr>
              <a:t>бір</a:t>
            </a:r>
            <a:r>
              <a:rPr lang="ru-RU" sz="2800" b="1" i="0" dirty="0">
                <a:effectLst/>
                <a:latin typeface="Times New Roman" panose="02020603050405020304" pitchFamily="18" charset="0"/>
                <a:cs typeface="Times New Roman" panose="02020603050405020304" pitchFamily="18" charset="0"/>
              </a:rPr>
              <a:t> </a:t>
            </a:r>
            <a:r>
              <a:rPr lang="ru-RU" sz="2800" b="1" i="0" dirty="0" err="1">
                <a:effectLst/>
                <a:latin typeface="Times New Roman" panose="02020603050405020304" pitchFamily="18" charset="0"/>
                <a:cs typeface="Times New Roman" panose="02020603050405020304" pitchFamily="18" charset="0"/>
              </a:rPr>
              <a:t>мақсаттағы</a:t>
            </a:r>
            <a:r>
              <a:rPr lang="ru-RU" sz="2800" b="1" i="0" dirty="0">
                <a:effectLst/>
                <a:latin typeface="Times New Roman" panose="02020603050405020304" pitchFamily="18" charset="0"/>
                <a:cs typeface="Times New Roman" panose="02020603050405020304" pitchFamily="18" charset="0"/>
              </a:rPr>
              <a:t> ақпаратты сақтау және оны сұраныс бойынша </a:t>
            </a:r>
            <a:r>
              <a:rPr lang="ru-RU" sz="2800" b="1" i="0" dirty="0" err="1">
                <a:effectLst/>
                <a:latin typeface="Times New Roman" panose="02020603050405020304" pitchFamily="18" charset="0"/>
                <a:cs typeface="Times New Roman" panose="02020603050405020304" pitchFamily="18" charset="0"/>
              </a:rPr>
              <a:t>қолжетімді</a:t>
            </a:r>
            <a:r>
              <a:rPr lang="ru-RU" sz="2800" b="1" i="0" dirty="0">
                <a:effectLst/>
                <a:latin typeface="Times New Roman" panose="02020603050405020304" pitchFamily="18" charset="0"/>
                <a:cs typeface="Times New Roman" panose="02020603050405020304" pitchFamily="18" charset="0"/>
              </a:rPr>
              <a:t> </a:t>
            </a:r>
            <a:r>
              <a:rPr lang="ru-RU" sz="2800" b="1" i="0" dirty="0" err="1">
                <a:effectLst/>
                <a:latin typeface="Times New Roman" panose="02020603050405020304" pitchFamily="18" charset="0"/>
                <a:cs typeface="Times New Roman" panose="02020603050405020304" pitchFamily="18" charset="0"/>
              </a:rPr>
              <a:t>ету</a:t>
            </a:r>
            <a:r>
              <a:rPr lang="ru-RU" sz="2800" b="1" dirty="0" err="1">
                <a:latin typeface="Times New Roman" panose="02020603050405020304" pitchFamily="18" charset="0"/>
                <a:cs typeface="Times New Roman" panose="02020603050405020304" pitchFamily="18" charset="0"/>
              </a:rPr>
              <a:t>ге</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арналған</a:t>
            </a:r>
            <a:r>
              <a:rPr lang="ru-RU" sz="2800" b="1" dirty="0">
                <a:latin typeface="Times New Roman" panose="02020603050405020304" pitchFamily="18" charset="0"/>
                <a:cs typeface="Times New Roman" panose="02020603050405020304" pitchFamily="18" charset="0"/>
              </a:rPr>
              <a:t> </a:t>
            </a:r>
            <a:r>
              <a:rPr lang="ru-RU" sz="2800" b="1" i="0" dirty="0">
                <a:effectLst/>
                <a:latin typeface="Times New Roman" panose="02020603050405020304" pitchFamily="18" charset="0"/>
                <a:cs typeface="Times New Roman" panose="02020603050405020304" pitchFamily="18" charset="0"/>
              </a:rPr>
              <a:t> компьютерленген құрылымдық деректерді сақтау жүйесі.</a:t>
            </a:r>
            <a:endParaRPr lang="kk-KZ" sz="2800" b="1" dirty="0">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xmlns="" id="{1A7A572D-A754-4254-9795-0D484F661C51}"/>
              </a:ext>
            </a:extLst>
          </p:cNvPr>
          <p:cNvPicPr>
            <a:picLocks noChangeAspect="1"/>
          </p:cNvPicPr>
          <p:nvPr/>
        </p:nvPicPr>
        <p:blipFill>
          <a:blip r:embed="rId3"/>
          <a:stretch>
            <a:fillRect/>
          </a:stretch>
        </p:blipFill>
        <p:spPr>
          <a:xfrm>
            <a:off x="3827748" y="3144660"/>
            <a:ext cx="4824536" cy="30926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xmlns="" id="{E5E75D15-8386-A4FC-CC11-FDD10F000B5D}"/>
              </a:ext>
            </a:extLst>
          </p:cNvPr>
          <p:cNvPicPr>
            <a:picLocks noChangeAspect="1"/>
          </p:cNvPicPr>
          <p:nvPr/>
        </p:nvPicPr>
        <p:blipFill>
          <a:blip r:embed="rId3"/>
          <a:stretch>
            <a:fillRect/>
          </a:stretch>
        </p:blipFill>
        <p:spPr>
          <a:xfrm>
            <a:off x="2207568" y="1268760"/>
            <a:ext cx="8267700" cy="2514600"/>
          </a:xfrm>
          <a:prstGeom prst="rect">
            <a:avLst/>
          </a:prstGeom>
        </p:spPr>
      </p:pic>
      <p:pic>
        <p:nvPicPr>
          <p:cNvPr id="6" name="Рисунок 5">
            <a:extLst>
              <a:ext uri="{FF2B5EF4-FFF2-40B4-BE49-F238E27FC236}">
                <a16:creationId xmlns:a16="http://schemas.microsoft.com/office/drawing/2014/main" xmlns="" id="{579A654C-AE07-A9DF-0E07-273669986681}"/>
              </a:ext>
            </a:extLst>
          </p:cNvPr>
          <p:cNvPicPr>
            <a:picLocks noChangeAspect="1"/>
          </p:cNvPicPr>
          <p:nvPr/>
        </p:nvPicPr>
        <p:blipFill>
          <a:blip r:embed="rId4"/>
          <a:stretch>
            <a:fillRect/>
          </a:stretch>
        </p:blipFill>
        <p:spPr>
          <a:xfrm>
            <a:off x="3450580" y="3783360"/>
            <a:ext cx="5781675" cy="2266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52D91DAD-5966-454A-A55B-16BCD51EB199}"/>
              </a:ext>
            </a:extLst>
          </p:cNvPr>
          <p:cNvSpPr txBox="1"/>
          <p:nvPr/>
        </p:nvSpPr>
        <p:spPr>
          <a:xfrm>
            <a:off x="2567608" y="2492896"/>
            <a:ext cx="8955763" cy="3447098"/>
          </a:xfrm>
          <a:prstGeom prst="rect">
            <a:avLst/>
          </a:prstGeom>
          <a:noFill/>
        </p:spPr>
        <p:txBody>
          <a:bodyPr wrap="square">
            <a:spAutoFit/>
          </a:bodyPr>
          <a:lstStyle/>
          <a:p>
            <a:pPr algn="l" rtl="0"/>
            <a:r>
              <a:rPr lang="ru-RU" sz="2400" b="1" dirty="0">
                <a:latin typeface="Times New Roman" panose="02020603050405020304" pitchFamily="18" charset="0"/>
                <a:cs typeface="Times New Roman" panose="02020603050405020304" pitchFamily="18" charset="0"/>
              </a:rPr>
              <a:t>Деректер категориялары</a:t>
            </a:r>
            <a:r>
              <a:rPr lang="en-US" sz="2400" b="1" dirty="0">
                <a:latin typeface="Times New Roman" panose="02020603050405020304" pitchFamily="18" charset="0"/>
                <a:cs typeface="Times New Roman" panose="02020603050405020304" pitchFamily="18" charset="0"/>
              </a:rPr>
              <a:t>:</a:t>
            </a:r>
          </a:p>
          <a:p>
            <a:pPr algn="l" rtl="0"/>
            <a:r>
              <a:rPr lang="ru-RU" sz="3600" b="1"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Деректердің екі негізгі категориясы бар</a:t>
            </a:r>
            <a:endParaRPr lang="en-US" sz="2000" b="1" dirty="0">
              <a:latin typeface="Times New Roman" panose="02020603050405020304" pitchFamily="18" charset="0"/>
              <a:cs typeface="Times New Roman" panose="02020603050405020304" pitchFamily="18" charset="0"/>
            </a:endParaRPr>
          </a:p>
          <a:p>
            <a:pPr marL="989013" indent="-342900" algn="l" rtl="0">
              <a:buFont typeface="Wingdings" panose="05000000000000000000" pitchFamily="2" charset="2"/>
              <a:buChar char="§"/>
            </a:pPr>
            <a:r>
              <a:rPr lang="ru-RU" sz="2000" dirty="0" err="1">
                <a:latin typeface="Times New Roman" panose="02020603050405020304" pitchFamily="18" charset="0"/>
                <a:cs typeface="Times New Roman" panose="02020603050405020304" pitchFamily="18" charset="0"/>
              </a:rPr>
              <a:t>Цифрлық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сандық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деректер</a:t>
            </a:r>
            <a:r>
              <a:rPr lang="ru-RU" sz="2000" dirty="0">
                <a:latin typeface="Times New Roman" panose="02020603050405020304" pitchFamily="18" charset="0"/>
                <a:cs typeface="Times New Roman" panose="02020603050405020304" pitchFamily="18" charset="0"/>
              </a:rPr>
              <a:t> – бұл компьютерде сақталатын және өңделетін мәліметтер.</a:t>
            </a:r>
          </a:p>
          <a:p>
            <a:pPr marL="989013" indent="-3429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Аналогтық деректер - бұл компьютер жинайтын деректер.</a:t>
            </a:r>
            <a:endParaRPr lang="en-US" sz="2000" dirty="0">
              <a:latin typeface="Times New Roman" panose="02020603050405020304" pitchFamily="18" charset="0"/>
              <a:cs typeface="Times New Roman" panose="02020603050405020304" pitchFamily="18" charset="0"/>
            </a:endParaRPr>
          </a:p>
          <a:p>
            <a:pPr marL="989013" indent="-342900" algn="l" rtl="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algn="l" rtl="0"/>
            <a:r>
              <a:rPr lang="ru-RU" sz="2400" b="1" dirty="0" err="1">
                <a:solidFill>
                  <a:srgbClr val="FF0066"/>
                </a:solidFill>
                <a:latin typeface="Times New Roman" panose="02020603050405020304" pitchFamily="18" charset="0"/>
                <a:cs typeface="Times New Roman" panose="02020603050405020304" pitchFamily="18" charset="0"/>
              </a:rPr>
              <a:t>Ескерту</a:t>
            </a:r>
            <a:r>
              <a:rPr lang="en-US" sz="2000" b="1" dirty="0">
                <a:solidFill>
                  <a:srgbClr val="FF0066"/>
                </a:solidFill>
                <a:latin typeface="Times New Roman" panose="02020603050405020304" pitchFamily="18" charset="0"/>
                <a:cs typeface="Times New Roman" panose="02020603050405020304" pitchFamily="18" charset="0"/>
              </a:rPr>
              <a:t>!</a:t>
            </a:r>
            <a:r>
              <a:rPr lang="kk-KZ" sz="2000" b="1" dirty="0">
                <a:solidFill>
                  <a:srgbClr val="FF0066"/>
                </a:solidFill>
                <a:latin typeface="Times New Roman" panose="02020603050405020304" pitchFamily="18" charset="0"/>
                <a:cs typeface="Times New Roman" panose="02020603050405020304" pitchFamily="18" charset="0"/>
              </a:rPr>
              <a:t> </a:t>
            </a:r>
            <a:r>
              <a:rPr lang="kk-KZ" sz="2000" b="1" dirty="0">
                <a:latin typeface="Times New Roman" panose="02020603050405020304" pitchFamily="18" charset="0"/>
                <a:cs typeface="Times New Roman" panose="02020603050405020304" pitchFamily="18" charset="0"/>
              </a:rPr>
              <a:t>C</a:t>
            </a:r>
            <a:r>
              <a:rPr lang="ru-RU" sz="2000" b="1" dirty="0" err="1">
                <a:latin typeface="Times New Roman" panose="02020603050405020304" pitchFamily="18" charset="0"/>
                <a:cs typeface="Times New Roman" panose="02020603050405020304" pitchFamily="18" charset="0"/>
              </a:rPr>
              <a:t>андық</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деректер</a:t>
            </a:r>
            <a:r>
              <a:rPr lang="ru-RU" sz="2000" b="1" dirty="0">
                <a:latin typeface="Times New Roman" panose="02020603050405020304" pitchFamily="18" charset="0"/>
                <a:cs typeface="Times New Roman" panose="02020603050405020304" pitchFamily="18" charset="0"/>
              </a:rPr>
              <a:t> көбінесе дерекқорда сақталады.  </a:t>
            </a:r>
            <a:r>
              <a:rPr lang="ru-RU" sz="2000" b="1" dirty="0" err="1">
                <a:latin typeface="Times New Roman" panose="02020603050405020304" pitchFamily="18" charset="0"/>
                <a:cs typeface="Times New Roman" panose="02020603050405020304" pitchFamily="18" charset="0"/>
              </a:rPr>
              <a:t>Деректер</a:t>
            </a:r>
            <a:r>
              <a:rPr lang="ru-RU" sz="2000" b="1" dirty="0">
                <a:latin typeface="Times New Roman" panose="02020603050405020304" pitchFamily="18" charset="0"/>
                <a:cs typeface="Times New Roman" panose="02020603050405020304" pitchFamily="18" charset="0"/>
              </a:rPr>
              <a:t> базасы деректерге оңай қол жеткізуді және іздеуді қамтамасыз етеді</a:t>
            </a:r>
            <a:r>
              <a:rPr lang="ru-RU" sz="3200" b="1" dirty="0">
                <a:latin typeface="Times New Roman" panose="02020603050405020304" pitchFamily="18" charset="0"/>
                <a:cs typeface="Times New Roman" panose="02020603050405020304" pitchFamily="18" charset="0"/>
              </a:rPr>
              <a:t>.</a:t>
            </a:r>
            <a:endParaRPr lang="en-US" sz="3200" b="1" dirty="0">
              <a:latin typeface="Times New Roman" panose="02020603050405020304" pitchFamily="18" charset="0"/>
              <a:cs typeface="Times New Roman" panose="02020603050405020304" pitchFamily="18" charset="0"/>
            </a:endParaRPr>
          </a:p>
          <a:p>
            <a:pPr marL="1255713" indent="-457200" algn="l" rtl="0">
              <a:buFont typeface="Wingdings" panose="05000000000000000000" pitchFamily="2" charset="2"/>
              <a:buChar char="§"/>
            </a:pPr>
            <a:endParaRPr lang="kk-KZ"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9B96E13D-4198-4DB4-ABC2-8051FD9829F7}"/>
              </a:ext>
            </a:extLst>
          </p:cNvPr>
          <p:cNvSpPr txBox="1"/>
          <p:nvPr/>
        </p:nvSpPr>
        <p:spPr>
          <a:xfrm>
            <a:off x="3954162" y="234778"/>
            <a:ext cx="7830470" cy="1384995"/>
          </a:xfrm>
          <a:prstGeom prst="rect">
            <a:avLst/>
          </a:prstGeom>
          <a:noFill/>
        </p:spPr>
        <p:txBody>
          <a:bodyPr wrap="square">
            <a:spAutoFit/>
          </a:bodyPr>
          <a:lstStyle/>
          <a:p>
            <a:pPr algn="l" rtl="0"/>
            <a:r>
              <a:rPr lang="kk-KZ" sz="2400" b="1" dirty="0">
                <a:highlight>
                  <a:srgbClr val="FFFF00"/>
                </a:highlight>
                <a:latin typeface="Times New Roman" panose="02020603050405020304" pitchFamily="18" charset="0"/>
                <a:cs typeface="Times New Roman" panose="02020603050405020304" pitchFamily="18" charset="0"/>
              </a:rPr>
              <a:t>Деректер дегеніміз не?</a:t>
            </a:r>
            <a:endParaRPr lang="ru-RU" sz="1600" dirty="0">
              <a:latin typeface="Times New Roman" panose="02020603050405020304" pitchFamily="18" charset="0"/>
              <a:cs typeface="Times New Roman" panose="02020603050405020304" pitchFamily="18" charset="0"/>
            </a:endParaRPr>
          </a:p>
          <a:p>
            <a:pPr algn="l" rtl="0"/>
            <a:r>
              <a:rPr lang="ru-RU" sz="2000" i="1" dirty="0">
                <a:latin typeface="Times New Roman" panose="02020603050405020304" pitchFamily="18" charset="0"/>
                <a:cs typeface="Times New Roman" panose="02020603050405020304" pitchFamily="18" charset="0"/>
              </a:rPr>
              <a:t>анықтамасы:</a:t>
            </a:r>
          </a:p>
          <a:p>
            <a:pPr algn="l" rtl="0"/>
            <a:r>
              <a:rPr lang="ru-RU" sz="2000" dirty="0">
                <a:latin typeface="Times New Roman" panose="02020603050405020304" pitchFamily="18" charset="0"/>
                <a:cs typeface="Times New Roman" panose="02020603050405020304" pitchFamily="18" charset="0"/>
              </a:rPr>
              <a:t>сандық немесе аналогты болып табылатын және нәтиже шығару үшін манипуляцияланатын ақпарат.</a:t>
            </a:r>
            <a:endParaRPr lang="kk-KZ"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5305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52D91DAD-5966-454A-A55B-16BCD51EB199}"/>
              </a:ext>
            </a:extLst>
          </p:cNvPr>
          <p:cNvSpPr txBox="1"/>
          <p:nvPr/>
        </p:nvSpPr>
        <p:spPr>
          <a:xfrm>
            <a:off x="2855640" y="2852936"/>
            <a:ext cx="6480720" cy="2985433"/>
          </a:xfrm>
          <a:prstGeom prst="rect">
            <a:avLst/>
          </a:prstGeom>
          <a:noFill/>
        </p:spPr>
        <p:txBody>
          <a:bodyPr wrap="square">
            <a:spAutoFit/>
          </a:bodyPr>
          <a:lstStyle/>
          <a:p>
            <a:pPr algn="l" rtl="0"/>
            <a:r>
              <a:rPr lang="ru-RU" sz="2400" b="1" dirty="0">
                <a:latin typeface="Times New Roman" panose="02020603050405020304" pitchFamily="18" charset="0"/>
                <a:cs typeface="Times New Roman" panose="02020603050405020304" pitchFamily="18" charset="0"/>
              </a:rPr>
              <a:t>Мәліметтердің қандай түрлері болуы мүмкін?</a:t>
            </a:r>
            <a:endParaRPr lang="ru-RU" sz="2400" dirty="0">
              <a:latin typeface="Times New Roman" panose="02020603050405020304" pitchFamily="18" charset="0"/>
              <a:cs typeface="Times New Roman" panose="02020603050405020304" pitchFamily="18" charset="0"/>
            </a:endParaRP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логикалық түрі</a:t>
            </a: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Бүтін сандар түрлері</a:t>
            </a: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Жылжымалы нүкте сандары</a:t>
            </a: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Жол түрлері</a:t>
            </a: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Көрсеткіштер</a:t>
            </a: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Сәйкестендіру түрлері</a:t>
            </a:r>
          </a:p>
          <a:p>
            <a:pPr marL="1255713" indent="-4572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Мәліметтердің дерексіз түрлері</a:t>
            </a:r>
            <a:endParaRPr lang="kk-KZ"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90D845AE-B3E0-4C06-853B-2CE41BC90E86}"/>
              </a:ext>
            </a:extLst>
          </p:cNvPr>
          <p:cNvSpPr txBox="1"/>
          <p:nvPr/>
        </p:nvSpPr>
        <p:spPr>
          <a:xfrm>
            <a:off x="2855640" y="192533"/>
            <a:ext cx="8928992" cy="2185214"/>
          </a:xfrm>
          <a:prstGeom prst="rect">
            <a:avLst/>
          </a:prstGeom>
          <a:noFill/>
        </p:spPr>
        <p:txBody>
          <a:bodyPr wrap="square">
            <a:spAutoFit/>
          </a:bodyPr>
          <a:lstStyle/>
          <a:p>
            <a:pPr rtl="0"/>
            <a:r>
              <a:rPr lang="kk-KZ" sz="2400" b="1" dirty="0">
                <a:latin typeface="Times New Roman" panose="02020603050405020304" pitchFamily="18" charset="0"/>
                <a:cs typeface="Times New Roman" panose="02020603050405020304" pitchFamily="18" charset="0"/>
              </a:rPr>
              <a:t>			Деректер түрлері - шолу</a:t>
            </a:r>
            <a:r>
              <a:rPr lang="en-US" sz="2400" b="1" dirty="0">
                <a:latin typeface="Times New Roman" panose="02020603050405020304" pitchFamily="18" charset="0"/>
                <a:cs typeface="Times New Roman" panose="02020603050405020304" pitchFamily="18" charset="0"/>
              </a:rPr>
              <a:t> </a:t>
            </a:r>
          </a:p>
          <a:p>
            <a:pPr algn="l" rtl="0"/>
            <a:endParaRPr lang="en-US" sz="1000" b="1" dirty="0">
              <a:latin typeface="Times New Roman" panose="02020603050405020304" pitchFamily="18" charset="0"/>
              <a:cs typeface="Times New Roman" panose="02020603050405020304" pitchFamily="18" charset="0"/>
            </a:endParaRPr>
          </a:p>
          <a:p>
            <a:pPr algn="l" rtl="0"/>
            <a:r>
              <a:rPr lang="ru-RU" sz="2400" b="1" dirty="0" err="1">
                <a:latin typeface="Times New Roman" panose="02020603050405020304" pitchFamily="18" charset="0"/>
                <a:cs typeface="Times New Roman" panose="02020603050405020304" pitchFamily="18" charset="0"/>
              </a:rPr>
              <a:t>Деректер</a:t>
            </a:r>
            <a:r>
              <a:rPr lang="ru-RU" sz="2400" b="1" dirty="0">
                <a:latin typeface="Times New Roman" panose="02020603050405020304" pitchFamily="18" charset="0"/>
                <a:cs typeface="Times New Roman" panose="02020603050405020304" pitchFamily="18" charset="0"/>
              </a:rPr>
              <a:t> түрлері қандай?</a:t>
            </a:r>
            <a:endParaRPr lang="en-US" sz="2400" b="1" dirty="0">
              <a:latin typeface="Times New Roman" panose="02020603050405020304" pitchFamily="18" charset="0"/>
              <a:cs typeface="Times New Roman" panose="02020603050405020304" pitchFamily="18" charset="0"/>
            </a:endParaRPr>
          </a:p>
          <a:p>
            <a:pPr algn="l" rtl="0"/>
            <a:endParaRPr lang="ru-RU" b="1" dirty="0">
              <a:latin typeface="Times New Roman" panose="02020603050405020304" pitchFamily="18" charset="0"/>
              <a:cs typeface="Times New Roman" panose="02020603050405020304" pitchFamily="18" charset="0"/>
            </a:endParaRPr>
          </a:p>
          <a:p>
            <a:pPr algn="l" rtl="0"/>
            <a:r>
              <a:rPr lang="ru-RU" sz="2000" dirty="0" err="1">
                <a:latin typeface="Times New Roman" panose="02020603050405020304" pitchFamily="18" charset="0"/>
                <a:cs typeface="Times New Roman" panose="02020603050405020304" pitchFamily="18" charset="0"/>
              </a:rPr>
              <a:t>Мәліметтер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түрлері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деректер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типі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деп</a:t>
            </a:r>
            <a:r>
              <a:rPr lang="ru-RU" sz="2000" dirty="0">
                <a:latin typeface="Times New Roman" panose="02020603050405020304" pitchFamily="18" charset="0"/>
                <a:cs typeface="Times New Roman" panose="02020603050405020304" pitchFamily="18" charset="0"/>
              </a:rPr>
              <a:t> те </a:t>
            </a:r>
            <a:r>
              <a:rPr lang="ru-RU" sz="2000" dirty="0" err="1">
                <a:latin typeface="Times New Roman" panose="02020603050405020304" pitchFamily="18" charset="0"/>
                <a:cs typeface="Times New Roman" panose="02020603050405020304" pitchFamily="18" charset="0"/>
              </a:rPr>
              <a:t>аталады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яғни</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мүмкін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мәндердің</a:t>
            </a:r>
            <a:r>
              <a:rPr lang="ru-RU" sz="2000" dirty="0">
                <a:latin typeface="Times New Roman" panose="02020603050405020304" pitchFamily="18" charset="0"/>
                <a:cs typeface="Times New Roman" panose="02020603050405020304" pitchFamily="18" charset="0"/>
              </a:rPr>
              <a:t> диапазонын, рұқсат етілген операциялар тізімін, </a:t>
            </a:r>
            <a:r>
              <a:rPr lang="ru-RU" sz="2000" dirty="0" err="1">
                <a:latin typeface="Times New Roman" panose="02020603050405020304" pitchFamily="18" charset="0"/>
                <a:cs typeface="Times New Roman" panose="02020603050405020304" pitchFamily="18" charset="0"/>
              </a:rPr>
              <a:t>деректер</a:t>
            </a:r>
            <a:r>
              <a:rPr lang="ru-RU" sz="2000" dirty="0">
                <a:latin typeface="Times New Roman" panose="02020603050405020304" pitchFamily="18" charset="0"/>
                <a:cs typeface="Times New Roman" panose="02020603050405020304" pitchFamily="18" charset="0"/>
              </a:rPr>
              <a:t> жиынын сақтау тәсілін анықтайтын деректер жиынының сипаттамасы</a:t>
            </a:r>
            <a:endParaRPr lang="kk-KZ" sz="20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xmlns="" id="{F49DB343-B704-400C-89A9-7D2A4C524B9C}"/>
              </a:ext>
            </a:extLst>
          </p:cNvPr>
          <p:cNvPicPr>
            <a:picLocks noChangeAspect="1"/>
          </p:cNvPicPr>
          <p:nvPr/>
        </p:nvPicPr>
        <p:blipFill>
          <a:blip r:embed="rId3"/>
          <a:stretch>
            <a:fillRect/>
          </a:stretch>
        </p:blipFill>
        <p:spPr>
          <a:xfrm>
            <a:off x="7354816" y="4128157"/>
            <a:ext cx="3963088" cy="1112097"/>
          </a:xfrm>
          <a:prstGeom prst="rect">
            <a:avLst/>
          </a:prstGeom>
        </p:spPr>
      </p:pic>
    </p:spTree>
    <p:extLst>
      <p:ext uri="{BB962C8B-B14F-4D97-AF65-F5344CB8AC3E}">
        <p14:creationId xmlns:p14="http://schemas.microsoft.com/office/powerpoint/2010/main" val="117667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1B314E2-8F33-49A3-8B2A-76297EB2377A}"/>
              </a:ext>
            </a:extLst>
          </p:cNvPr>
          <p:cNvSpPr txBox="1"/>
          <p:nvPr/>
        </p:nvSpPr>
        <p:spPr>
          <a:xfrm>
            <a:off x="3503712" y="175080"/>
            <a:ext cx="7488832" cy="1846659"/>
          </a:xfrm>
          <a:prstGeom prst="rect">
            <a:avLst/>
          </a:prstGeom>
          <a:noFill/>
        </p:spPr>
        <p:txBody>
          <a:bodyPr wrap="square">
            <a:spAutoFit/>
          </a:bodyPr>
          <a:lstStyle/>
          <a:p>
            <a:pPr algn="l" rtl="0"/>
            <a:r>
              <a:rPr lang="kk-KZ" sz="2400" b="1" dirty="0">
                <a:latin typeface="Times New Roman" panose="02020603050405020304" pitchFamily="18" charset="0"/>
                <a:cs typeface="Times New Roman" panose="02020603050405020304" pitchFamily="18" charset="0"/>
              </a:rPr>
              <a:t>О</a:t>
            </a:r>
            <a:r>
              <a:rPr lang="ru-RU" sz="2400" b="1" dirty="0" err="1">
                <a:latin typeface="Times New Roman" panose="02020603050405020304" pitchFamily="18" charset="0"/>
                <a:cs typeface="Times New Roman" panose="02020603050405020304" pitchFamily="18" charset="0"/>
              </a:rPr>
              <a:t>ператорлар</a:t>
            </a:r>
            <a:r>
              <a:rPr lang="ru-RU" sz="2400" b="1" dirty="0">
                <a:latin typeface="Times New Roman" panose="02020603050405020304" pitchFamily="18" charset="0"/>
                <a:cs typeface="Times New Roman" panose="02020603050405020304" pitchFamily="18" charset="0"/>
              </a:rPr>
              <a:t> дегеніміз не?</a:t>
            </a:r>
          </a:p>
          <a:p>
            <a:pPr algn="l" rtl="0"/>
            <a:endParaRPr lang="ru-RU" sz="1000" dirty="0">
              <a:latin typeface="Times New Roman" panose="02020603050405020304" pitchFamily="18" charset="0"/>
              <a:cs typeface="Times New Roman" panose="02020603050405020304" pitchFamily="18" charset="0"/>
            </a:endParaRPr>
          </a:p>
          <a:p>
            <a:pPr marL="285750" indent="-285750" algn="l" rtl="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операторлар дерекқордағы деректерді іздеу кезінде қолданылады.</a:t>
            </a:r>
          </a:p>
          <a:p>
            <a:pPr marL="285750" indent="-285750" algn="l" rtl="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Операторлар компьютерге арнайы нұсқаулар беру үшін қолданылады</a:t>
            </a:r>
            <a:endParaRPr lang="kk-KZ" sz="2000" dirty="0">
              <a:latin typeface="Times New Roman" panose="02020603050405020304" pitchFamily="18" charset="0"/>
              <a:cs typeface="Times New Roman" panose="02020603050405020304" pitchFamily="18" charset="0"/>
            </a:endParaRPr>
          </a:p>
        </p:txBody>
      </p:sp>
      <p:pic>
        <p:nvPicPr>
          <p:cNvPr id="4" name="Рисунок 3">
            <a:extLst>
              <a:ext uri="{FF2B5EF4-FFF2-40B4-BE49-F238E27FC236}">
                <a16:creationId xmlns:a16="http://schemas.microsoft.com/office/drawing/2014/main" xmlns="" id="{FEB8C1AC-EB56-42D1-BE36-D5E4896ECB9E}"/>
              </a:ext>
            </a:extLst>
          </p:cNvPr>
          <p:cNvPicPr>
            <a:picLocks noChangeAspect="1"/>
          </p:cNvPicPr>
          <p:nvPr/>
        </p:nvPicPr>
        <p:blipFill rotWithShape="1">
          <a:blip r:embed="rId2"/>
          <a:srcRect t="37203" r="40141"/>
          <a:stretch/>
        </p:blipFill>
        <p:spPr>
          <a:xfrm>
            <a:off x="2999656" y="2924944"/>
            <a:ext cx="6098058" cy="3533628"/>
          </a:xfrm>
          <a:prstGeom prst="rect">
            <a:avLst/>
          </a:prstGeom>
        </p:spPr>
      </p:pic>
      <p:sp>
        <p:nvSpPr>
          <p:cNvPr id="8" name="TextBox 7">
            <a:extLst>
              <a:ext uri="{FF2B5EF4-FFF2-40B4-BE49-F238E27FC236}">
                <a16:creationId xmlns:a16="http://schemas.microsoft.com/office/drawing/2014/main" xmlns="" id="{D29B0680-D0A8-4581-97E3-FC503A70013A}"/>
              </a:ext>
            </a:extLst>
          </p:cNvPr>
          <p:cNvSpPr txBox="1"/>
          <p:nvPr/>
        </p:nvSpPr>
        <p:spPr>
          <a:xfrm>
            <a:off x="1824906" y="2242509"/>
            <a:ext cx="7272808" cy="461665"/>
          </a:xfrm>
          <a:prstGeom prst="rect">
            <a:avLst/>
          </a:prstGeom>
          <a:noFill/>
        </p:spPr>
        <p:txBody>
          <a:bodyPr wrap="square">
            <a:spAutoFit/>
          </a:bodyPr>
          <a:lstStyle/>
          <a:p>
            <a:pPr algn="l" rtl="0"/>
            <a:r>
              <a:rPr lang="kk-KZ" sz="2400" dirty="0">
                <a:latin typeface="Times New Roman" panose="02020603050405020304" pitchFamily="18" charset="0"/>
                <a:cs typeface="Times New Roman" panose="02020603050405020304" pitchFamily="18" charset="0"/>
              </a:rPr>
              <a:t>Жиі қолданылатын операторлардың мысалдары</a:t>
            </a:r>
            <a:r>
              <a:rPr lang="en-US" sz="2400" dirty="0">
                <a:latin typeface="Times New Roman" panose="02020603050405020304" pitchFamily="18" charset="0"/>
                <a:cs typeface="Times New Roman" panose="02020603050405020304" pitchFamily="18" charset="0"/>
              </a:rPr>
              <a:t>:</a:t>
            </a:r>
            <a:endParaRPr lang="kk-KZ"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xmlns="" id="{3683158B-00E5-45A8-972F-59F0A1836044}"/>
              </a:ext>
            </a:extLst>
          </p:cNvPr>
          <p:cNvPicPr>
            <a:picLocks noChangeAspect="1"/>
          </p:cNvPicPr>
          <p:nvPr/>
        </p:nvPicPr>
        <p:blipFill>
          <a:blip r:embed="rId2"/>
          <a:stretch>
            <a:fillRect/>
          </a:stretch>
        </p:blipFill>
        <p:spPr>
          <a:xfrm>
            <a:off x="191344" y="82071"/>
            <a:ext cx="2016224" cy="1618285"/>
          </a:xfrm>
          <a:prstGeom prst="rect">
            <a:avLst/>
          </a:prstGeom>
        </p:spPr>
      </p:pic>
      <p:sp>
        <p:nvSpPr>
          <p:cNvPr id="5" name="TextBox 4">
            <a:extLst>
              <a:ext uri="{FF2B5EF4-FFF2-40B4-BE49-F238E27FC236}">
                <a16:creationId xmlns:a16="http://schemas.microsoft.com/office/drawing/2014/main" xmlns="" id="{09F17CF2-4F97-4E24-9E7A-EF3C661A84ED}"/>
              </a:ext>
            </a:extLst>
          </p:cNvPr>
          <p:cNvSpPr txBox="1"/>
          <p:nvPr/>
        </p:nvSpPr>
        <p:spPr>
          <a:xfrm>
            <a:off x="3359696" y="116632"/>
            <a:ext cx="7488832" cy="2308324"/>
          </a:xfrm>
          <a:prstGeom prst="rect">
            <a:avLst/>
          </a:prstGeom>
          <a:noFill/>
        </p:spPr>
        <p:txBody>
          <a:bodyPr wrap="square">
            <a:spAutoFit/>
          </a:bodyPr>
          <a:lstStyle/>
          <a:p>
            <a:pPr algn="l" rtl="0"/>
            <a:r>
              <a:rPr lang="ru-RU" sz="2400" b="1" dirty="0">
                <a:latin typeface="Times New Roman" panose="02020603050405020304" pitchFamily="18" charset="0"/>
                <a:cs typeface="Times New Roman" panose="02020603050405020304" pitchFamily="18" charset="0"/>
              </a:rPr>
              <a:t>Мәліметтер қорының құрылымдары қандай?</a:t>
            </a:r>
          </a:p>
          <a:p>
            <a:pPr algn="l" rtl="0"/>
            <a:r>
              <a:rPr lang="ru-RU" sz="2000" dirty="0">
                <a:latin typeface="Times New Roman" panose="02020603050405020304" pitchFamily="18" charset="0"/>
                <a:cs typeface="Times New Roman" panose="02020603050405020304" pitchFamily="18" charset="0"/>
              </a:rPr>
              <a:t>Құрылымы мен қосылу әдісі бойынша негізгі мәліметтер қоры мынадай түрлерге бөлінеді:</a:t>
            </a:r>
          </a:p>
          <a:p>
            <a:pPr marL="1074738" indent="-457200" algn="l" rtl="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иерархиялық,</a:t>
            </a:r>
          </a:p>
          <a:p>
            <a:pPr marL="1074738" indent="-457200" algn="l" rtl="0">
              <a:buFont typeface="Arial" panose="020B0604020202020204" pitchFamily="34" charset="0"/>
              <a:buChar char="•"/>
            </a:pPr>
            <a:r>
              <a:rPr lang="ru-RU" sz="2000" dirty="0" err="1">
                <a:latin typeface="Times New Roman" panose="02020603050405020304" pitchFamily="18" charset="0"/>
                <a:cs typeface="Times New Roman" panose="02020603050405020304" pitchFamily="18" charset="0"/>
              </a:rPr>
              <a:t>желілік</a:t>
            </a:r>
            <a:r>
              <a:rPr lang="ru-RU" sz="2000" dirty="0">
                <a:latin typeface="Times New Roman" panose="02020603050405020304" pitchFamily="18" charset="0"/>
                <a:cs typeface="Times New Roman" panose="02020603050405020304" pitchFamily="18" charset="0"/>
              </a:rPr>
              <a:t>,</a:t>
            </a:r>
          </a:p>
          <a:p>
            <a:pPr marL="1074738" indent="-457200" algn="l" rtl="0">
              <a:buFont typeface="Arial" panose="020B0604020202020204" pitchFamily="34" charset="0"/>
              <a:buChar char="•"/>
            </a:pPr>
            <a:r>
              <a:rPr lang="ru-RU" sz="2000" dirty="0" err="1">
                <a:latin typeface="Times New Roman" panose="02020603050405020304" pitchFamily="18" charset="0"/>
                <a:cs typeface="Times New Roman" panose="02020603050405020304" pitchFamily="18" charset="0"/>
              </a:rPr>
              <a:t>бағандық</a:t>
            </a:r>
            <a:r>
              <a:rPr lang="ru-RU" sz="2000" dirty="0">
                <a:latin typeface="Times New Roman" panose="02020603050405020304" pitchFamily="18" charset="0"/>
                <a:cs typeface="Times New Roman" panose="02020603050405020304" pitchFamily="18" charset="0"/>
              </a:rPr>
              <a:t>,</a:t>
            </a:r>
          </a:p>
          <a:p>
            <a:pPr marL="1074738" indent="-457200" algn="l" rtl="0">
              <a:buFont typeface="Arial" panose="020B0604020202020204" pitchFamily="34" charset="0"/>
              <a:buChar char="•"/>
            </a:pPr>
            <a:r>
              <a:rPr lang="ru-RU" sz="2000" dirty="0" err="1">
                <a:latin typeface="Times New Roman" panose="02020603050405020304" pitchFamily="18" charset="0"/>
                <a:cs typeface="Times New Roman" panose="02020603050405020304" pitchFamily="18" charset="0"/>
              </a:rPr>
              <a:t>объектіге</a:t>
            </a:r>
            <a:r>
              <a:rPr lang="ru-RU" sz="2000" dirty="0">
                <a:latin typeface="Times New Roman" panose="02020603050405020304" pitchFamily="18" charset="0"/>
                <a:cs typeface="Times New Roman" panose="02020603050405020304" pitchFamily="18" charset="0"/>
              </a:rPr>
              <a:t> бағытталған</a:t>
            </a:r>
            <a:endParaRPr lang="kk-KZ"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0684C76F-9290-40D3-A563-541376366E8C}"/>
              </a:ext>
            </a:extLst>
          </p:cNvPr>
          <p:cNvSpPr txBox="1"/>
          <p:nvPr/>
        </p:nvSpPr>
        <p:spPr>
          <a:xfrm>
            <a:off x="2213170" y="2443862"/>
            <a:ext cx="4248472" cy="3808735"/>
          </a:xfrm>
          <a:prstGeom prst="rect">
            <a:avLst/>
          </a:prstGeom>
          <a:noFill/>
          <a:ln>
            <a:solidFill>
              <a:srgbClr val="002060"/>
            </a:solidFill>
          </a:ln>
        </p:spPr>
        <p:txBody>
          <a:bodyPr wrap="square">
            <a:spAutoFit/>
          </a:bodyPr>
          <a:lstStyle/>
          <a:p>
            <a:pPr algn="just" rtl="0"/>
            <a:r>
              <a:rPr lang="ru-RU" sz="2000" dirty="0">
                <a:latin typeface="Times New Roman" panose="02020603050405020304" pitchFamily="18" charset="0"/>
                <a:cs typeface="Times New Roman" panose="02020603050405020304" pitchFamily="18" charset="0"/>
              </a:rPr>
              <a:t>Бұл бөлім дерекқорларға және олардың мақсатын түсінуге бағытталған.</a:t>
            </a:r>
          </a:p>
          <a:p>
            <a:pPr algn="just" rtl="0"/>
            <a:endParaRPr lang="ru-RU" sz="1050" dirty="0">
              <a:latin typeface="Times New Roman" panose="02020603050405020304" pitchFamily="18" charset="0"/>
              <a:cs typeface="Times New Roman" panose="02020603050405020304" pitchFamily="18" charset="0"/>
            </a:endParaRPr>
          </a:p>
          <a:p>
            <a:pPr algn="just" rtl="0"/>
            <a:r>
              <a:rPr lang="ru-RU" sz="2000" dirty="0">
                <a:latin typeface="Times New Roman" panose="02020603050405020304" pitchFamily="18" charset="0"/>
                <a:cs typeface="Times New Roman" panose="02020603050405020304" pitchFamily="18" charset="0"/>
              </a:rPr>
              <a:t>біз дерекқорлармен байланысты терминологияны, сондай-ақ олардың құрылымдалуының әртүрлі тәсілдерін талқылаймыз.</a:t>
            </a:r>
          </a:p>
          <a:p>
            <a:pPr algn="just" rtl="0"/>
            <a:endParaRPr lang="ru-RU" sz="1100" dirty="0">
              <a:latin typeface="Times New Roman" panose="02020603050405020304" pitchFamily="18" charset="0"/>
              <a:cs typeface="Times New Roman" panose="02020603050405020304" pitchFamily="18" charset="0"/>
            </a:endParaRPr>
          </a:p>
          <a:p>
            <a:pPr algn="just" rtl="0"/>
            <a:r>
              <a:rPr lang="ru-RU" sz="2000" dirty="0">
                <a:latin typeface="Times New Roman" panose="02020603050405020304" pitchFamily="18" charset="0"/>
                <a:cs typeface="Times New Roman" panose="02020603050405020304" pitchFamily="18" charset="0"/>
              </a:rPr>
              <a:t>Сондай-ақ, деректерді табуды жеңілдету үшін дерекқорларда деректерді ұйымдастырудың әртүрлі жолдарын қарастырасыз.</a:t>
            </a:r>
            <a:endParaRPr lang="kk-KZ"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729F4575-6899-4645-B9CB-1E130A340E99}"/>
              </a:ext>
            </a:extLst>
          </p:cNvPr>
          <p:cNvSpPr txBox="1"/>
          <p:nvPr/>
        </p:nvSpPr>
        <p:spPr>
          <a:xfrm>
            <a:off x="6672064" y="2424956"/>
            <a:ext cx="3960440" cy="3447098"/>
          </a:xfrm>
          <a:prstGeom prst="rect">
            <a:avLst/>
          </a:prstGeom>
          <a:noFill/>
          <a:ln>
            <a:solidFill>
              <a:srgbClr val="002060"/>
            </a:solidFill>
          </a:ln>
        </p:spPr>
        <p:txBody>
          <a:bodyPr wrap="square">
            <a:spAutoFit/>
          </a:bodyPr>
          <a:lstStyle/>
          <a:p>
            <a:pPr algn="just" rtl="0"/>
            <a:r>
              <a:rPr lang="ru-RU" sz="2000" b="1" dirty="0">
                <a:latin typeface="Times New Roman" panose="02020603050405020304" pitchFamily="18" charset="0"/>
                <a:cs typeface="Times New Roman" panose="02020603050405020304" pitchFamily="18" charset="0"/>
              </a:rPr>
              <a:t>Осы бөлімдегі негізгі ұғымдар:</a:t>
            </a:r>
          </a:p>
          <a:p>
            <a:pPr algn="just" rtl="0"/>
            <a:r>
              <a:rPr lang="ru-RU" sz="2000" dirty="0">
                <a:latin typeface="Times New Roman" panose="02020603050405020304" pitchFamily="18" charset="0"/>
                <a:cs typeface="Times New Roman" panose="02020603050405020304" pitchFamily="18" charset="0"/>
              </a:rPr>
              <a:t>жазба, файл, кесте, өріс, деректер және кілттік өрісті қамтитын дерекқордың кілт сөздерін түсіну.</a:t>
            </a:r>
          </a:p>
          <a:p>
            <a:pPr algn="just" rtl="0"/>
            <a:endParaRPr lang="ru-RU" sz="900" dirty="0">
              <a:latin typeface="Times New Roman" panose="02020603050405020304" pitchFamily="18" charset="0"/>
              <a:cs typeface="Times New Roman" panose="02020603050405020304" pitchFamily="18" charset="0"/>
            </a:endParaRPr>
          </a:p>
          <a:p>
            <a:pPr algn="just" rtl="0"/>
            <a:r>
              <a:rPr lang="ru-RU" sz="2000" dirty="0">
                <a:latin typeface="Times New Roman" panose="02020603050405020304" pitchFamily="18" charset="0"/>
                <a:cs typeface="Times New Roman" panose="02020603050405020304" pitchFamily="18" charset="0"/>
              </a:rPr>
              <a:t>деректер қорының қалай ұйымдастырылғанын және құрылымын түсіну</a:t>
            </a:r>
          </a:p>
          <a:p>
            <a:pPr algn="just" rtl="0"/>
            <a:endParaRPr lang="ru-RU" sz="900" dirty="0">
              <a:latin typeface="Times New Roman" panose="02020603050405020304" pitchFamily="18" charset="0"/>
              <a:cs typeface="Times New Roman" panose="02020603050405020304" pitchFamily="18" charset="0"/>
            </a:endParaRPr>
          </a:p>
          <a:p>
            <a:pPr algn="just" rtl="0"/>
            <a:r>
              <a:rPr lang="ru-RU" sz="2000" dirty="0">
                <a:latin typeface="Times New Roman" panose="02020603050405020304" pitchFamily="18" charset="0"/>
                <a:cs typeface="Times New Roman" panose="02020603050405020304" pitchFamily="18" charset="0"/>
              </a:rPr>
              <a:t>дерекқорларды өсу және кему ретімен қалай сұрыптауға болатынын түсіну</a:t>
            </a:r>
            <a:endParaRPr lang="kk-KZ"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1"/>
          <p:cNvSpPr txBox="1">
            <a:spLocks/>
          </p:cNvSpPr>
          <p:nvPr/>
        </p:nvSpPr>
        <p:spPr>
          <a:xfrm>
            <a:off x="2711624" y="332656"/>
            <a:ext cx="8640960" cy="1143000"/>
          </a:xfrm>
          <a:prstGeom prst="rect">
            <a:avLst/>
          </a:prstGeom>
        </p:spPr>
        <p:txBody>
          <a:bodyPr vert="horz" lIns="91440" tIns="45720" rIns="91440" bIns="45720" rtlCol="0" anchor="ctr">
            <a:normAutofit fontScale="25000" lnSpcReduction="20000"/>
          </a:bodyPr>
          <a:lstStyle/>
          <a:p>
            <a:pPr algn="l" defTabSz="914400" rtl="0">
              <a:spcBef>
                <a:spcPct val="0"/>
              </a:spcBef>
              <a:defRPr/>
            </a:pPr>
            <a:r>
              <a:rPr lang="ru-RU" sz="9600" b="1" dirty="0">
                <a:solidFill>
                  <a:schemeClr val="tx2">
                    <a:lumMod val="75000"/>
                  </a:schemeClr>
                </a:solidFill>
                <a:latin typeface="Times New Roman" panose="02020603050405020304" pitchFamily="18" charset="0"/>
                <a:ea typeface="+mj-ea"/>
                <a:cs typeface="Times New Roman" panose="02020603050405020304" pitchFamily="18" charset="0"/>
              </a:rPr>
              <a:t>Қандай мәліметтер базасы реляциялық болып табылады</a:t>
            </a:r>
            <a:r>
              <a:rPr lang="ru-RU" sz="12800" b="1" dirty="0">
                <a:solidFill>
                  <a:schemeClr val="tx2">
                    <a:lumMod val="75000"/>
                  </a:schemeClr>
                </a:solidFill>
                <a:latin typeface="Times New Roman" panose="02020603050405020304" pitchFamily="18" charset="0"/>
                <a:ea typeface="+mj-ea"/>
                <a:cs typeface="Times New Roman" panose="02020603050405020304" pitchFamily="18" charset="0"/>
              </a:rPr>
              <a:t>?</a:t>
            </a:r>
            <a:endParaRPr lang="en-US" sz="12800" b="1" dirty="0">
              <a:solidFill>
                <a:schemeClr val="tx2">
                  <a:lumMod val="75000"/>
                </a:schemeClr>
              </a:solidFill>
              <a:latin typeface="Times New Roman" panose="02020603050405020304" pitchFamily="18" charset="0"/>
              <a:ea typeface="+mj-ea"/>
              <a:cs typeface="Times New Roman" panose="02020603050405020304" pitchFamily="18" charset="0"/>
            </a:endParaRPr>
          </a:p>
          <a:p>
            <a:pPr algn="l" defTabSz="914400" rtl="0">
              <a:spcBef>
                <a:spcPct val="0"/>
              </a:spcBef>
              <a:defRPr/>
            </a:pPr>
            <a:endParaRPr lang="ru-RU" sz="4400" b="1" dirty="0">
              <a:solidFill>
                <a:schemeClr val="tx2">
                  <a:lumMod val="75000"/>
                </a:schemeClr>
              </a:solidFill>
              <a:latin typeface="Times New Roman" panose="02020603050405020304" pitchFamily="18" charset="0"/>
              <a:ea typeface="+mj-ea"/>
              <a:cs typeface="Times New Roman" panose="02020603050405020304" pitchFamily="18" charset="0"/>
            </a:endParaRPr>
          </a:p>
          <a:p>
            <a:pPr algn="just" defTabSz="914400" rtl="0">
              <a:spcBef>
                <a:spcPct val="0"/>
              </a:spcBef>
              <a:defRPr/>
            </a:pPr>
            <a:r>
              <a:rPr lang="ru-RU" sz="8000" dirty="0">
                <a:solidFill>
                  <a:schemeClr val="tx2">
                    <a:lumMod val="75000"/>
                  </a:schemeClr>
                </a:solidFill>
                <a:latin typeface="Times New Roman" panose="02020603050405020304" pitchFamily="18" charset="0"/>
                <a:ea typeface="+mj-ea"/>
                <a:cs typeface="Times New Roman" panose="02020603050405020304" pitchFamily="18" charset="0"/>
              </a:rPr>
              <a:t>Реляциялық мәліметтер базасы - </a:t>
            </a:r>
            <a:r>
              <a:rPr lang="ru-RU" sz="8000" dirty="0" err="1">
                <a:solidFill>
                  <a:schemeClr val="tx2">
                    <a:lumMod val="75000"/>
                  </a:schemeClr>
                </a:solidFill>
                <a:latin typeface="Times New Roman" panose="02020603050405020304" pitchFamily="18" charset="0"/>
                <a:ea typeface="+mj-ea"/>
                <a:cs typeface="Times New Roman" panose="02020603050405020304" pitchFamily="18" charset="0"/>
              </a:rPr>
              <a:t>ақпараттың</a:t>
            </a:r>
            <a:r>
              <a:rPr lang="ru-RU" sz="8000" dirty="0">
                <a:solidFill>
                  <a:schemeClr val="tx2">
                    <a:lumMod val="75000"/>
                  </a:schemeClr>
                </a:solidFill>
                <a:latin typeface="Times New Roman" panose="02020603050405020304" pitchFamily="18" charset="0"/>
                <a:ea typeface="+mj-ea"/>
                <a:cs typeface="Times New Roman" panose="02020603050405020304" pitchFamily="18" charset="0"/>
              </a:rPr>
              <a:t> </a:t>
            </a:r>
            <a:r>
              <a:rPr lang="ru-RU" sz="8000" dirty="0" err="1">
                <a:solidFill>
                  <a:schemeClr val="tx2">
                    <a:lumMod val="75000"/>
                  </a:schemeClr>
                </a:solidFill>
                <a:latin typeface="Times New Roman" panose="02020603050405020304" pitchFamily="18" charset="0"/>
                <a:ea typeface="+mj-ea"/>
                <a:cs typeface="Times New Roman" panose="02020603050405020304" pitchFamily="18" charset="0"/>
              </a:rPr>
              <a:t>қажетті</a:t>
            </a:r>
            <a:r>
              <a:rPr lang="ru-RU" sz="8000" dirty="0">
                <a:solidFill>
                  <a:schemeClr val="tx2">
                    <a:lumMod val="75000"/>
                  </a:schemeClr>
                </a:solidFill>
                <a:latin typeface="Times New Roman" panose="02020603050405020304" pitchFamily="18" charset="0"/>
                <a:ea typeface="+mj-ea"/>
                <a:cs typeface="Times New Roman" panose="02020603050405020304" pitchFamily="18" charset="0"/>
              </a:rPr>
              <a:t> </a:t>
            </a:r>
            <a:r>
              <a:rPr lang="ru-RU" sz="8000" dirty="0" err="1">
                <a:solidFill>
                  <a:schemeClr val="tx2">
                    <a:lumMod val="75000"/>
                  </a:schemeClr>
                </a:solidFill>
                <a:latin typeface="Times New Roman" panose="02020603050405020304" pitchFamily="18" charset="0"/>
                <a:ea typeface="+mj-ea"/>
                <a:cs typeface="Times New Roman" panose="02020603050405020304" pitchFamily="18" charset="0"/>
              </a:rPr>
              <a:t>элементтеріне</a:t>
            </a:r>
            <a:r>
              <a:rPr lang="ru-RU" sz="8000" dirty="0">
                <a:solidFill>
                  <a:schemeClr val="tx2">
                    <a:lumMod val="75000"/>
                  </a:schemeClr>
                </a:solidFill>
                <a:latin typeface="Times New Roman" panose="02020603050405020304" pitchFamily="18" charset="0"/>
                <a:ea typeface="+mj-ea"/>
                <a:cs typeface="Times New Roman" panose="02020603050405020304" pitchFamily="18" charset="0"/>
              </a:rPr>
              <a:t> қол жеткізуді қамтамасыз ету және сақтау үшін пайдаланылатын мәліметтер базасы. Реляциялық дерекқорлар реляциялық модельге негізделген, деректерді ұсынудың интуитивті, көрнекі кестелік тәсілі.</a:t>
            </a:r>
          </a:p>
        </p:txBody>
      </p:sp>
      <p:sp>
        <p:nvSpPr>
          <p:cNvPr id="10" name="TextBox 9">
            <a:extLst>
              <a:ext uri="{FF2B5EF4-FFF2-40B4-BE49-F238E27FC236}">
                <a16:creationId xmlns:a16="http://schemas.microsoft.com/office/drawing/2014/main" xmlns="" id="{5BBD8489-EF0B-42CB-B494-668445B3EDD2}"/>
              </a:ext>
            </a:extLst>
          </p:cNvPr>
          <p:cNvSpPr txBox="1"/>
          <p:nvPr/>
        </p:nvSpPr>
        <p:spPr>
          <a:xfrm>
            <a:off x="2711625" y="1700808"/>
            <a:ext cx="8856984" cy="1323439"/>
          </a:xfrm>
          <a:prstGeom prst="rect">
            <a:avLst/>
          </a:prstGeom>
          <a:noFill/>
        </p:spPr>
        <p:txBody>
          <a:bodyPr wrap="square">
            <a:spAutoFit/>
          </a:bodyPr>
          <a:lstStyle/>
          <a:p>
            <a:pPr algn="just"/>
            <a:r>
              <a:rPr lang="ru-RU" sz="2000" dirty="0">
                <a:latin typeface="Times New Roman" panose="02020603050405020304" pitchFamily="18" charset="0"/>
                <a:cs typeface="Times New Roman" panose="02020603050405020304" pitchFamily="18" charset="0"/>
              </a:rPr>
              <a:t>Реляциялық </a:t>
            </a:r>
            <a:r>
              <a:rPr lang="ru-RU" sz="2000" dirty="0" err="1">
                <a:latin typeface="Times New Roman" panose="02020603050405020304" pitchFamily="18" charset="0"/>
                <a:cs typeface="Times New Roman" panose="02020603050405020304" pitchFamily="18" charset="0"/>
              </a:rPr>
              <a:t>мәліметтер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қорында</a:t>
            </a:r>
            <a:r>
              <a:rPr lang="ru-RU" sz="2000" dirty="0">
                <a:latin typeface="Times New Roman" panose="02020603050405020304" pitchFamily="18" charset="0"/>
                <a:cs typeface="Times New Roman" panose="02020603050405020304" pitchFamily="18" charset="0"/>
              </a:rPr>
              <a:t> барлық деректер жолдар мен бағандардан тұратын кестелерде сақталады. Әрбір кестеде бір немесе бірнеше баған бар және әрбір бағанға бүтін сан, таңбалар тізбегі (мысалы, </a:t>
            </a:r>
            <a:r>
              <a:rPr lang="ru-RU" sz="2000" dirty="0" err="1">
                <a:latin typeface="Times New Roman" panose="02020603050405020304" pitchFamily="18" charset="0"/>
                <a:cs typeface="Times New Roman" panose="02020603050405020304" pitchFamily="18" charset="0"/>
              </a:rPr>
              <a:t>бүтін</a:t>
            </a:r>
            <a:r>
              <a:rPr lang="ru-RU" sz="2000" dirty="0">
                <a:latin typeface="Times New Roman" panose="02020603050405020304" pitchFamily="18" charset="0"/>
                <a:cs typeface="Times New Roman" panose="02020603050405020304" pitchFamily="18" charset="0"/>
              </a:rPr>
              <a:t> сан, </a:t>
            </a:r>
            <a:r>
              <a:rPr lang="ru-RU" sz="2000" dirty="0" err="1">
                <a:latin typeface="Times New Roman" panose="02020603050405020304" pitchFamily="18" charset="0"/>
                <a:cs typeface="Times New Roman" panose="02020603050405020304" pitchFamily="18" charset="0"/>
              </a:rPr>
              <a:t>таңбалар</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тізбегі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мәтін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күні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т.б</a:t>
            </a:r>
            <a:r>
              <a:rPr lang="ru-RU" sz="2000" dirty="0">
                <a:latin typeface="Times New Roman" panose="02020603050405020304" pitchFamily="18" charset="0"/>
                <a:cs typeface="Times New Roman" panose="02020603050405020304" pitchFamily="18" charset="0"/>
              </a:rPr>
              <a:t>. ) сияқты белгілі бір деректер </a:t>
            </a:r>
            <a:r>
              <a:rPr lang="ru-RU" sz="2000" dirty="0" err="1">
                <a:latin typeface="Times New Roman" panose="02020603050405020304" pitchFamily="18" charset="0"/>
                <a:cs typeface="Times New Roman" panose="02020603050405020304" pitchFamily="18" charset="0"/>
              </a:rPr>
              <a:t>түрі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тағайындалады</a:t>
            </a:r>
            <a:endParaRPr lang="kk-KZ" sz="20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xmlns="" id="{E1F223FE-9EE2-46F2-AB65-73533DDB55DA}"/>
              </a:ext>
            </a:extLst>
          </p:cNvPr>
          <p:cNvPicPr>
            <a:picLocks noChangeAspect="1"/>
          </p:cNvPicPr>
          <p:nvPr/>
        </p:nvPicPr>
        <p:blipFill rotWithShape="1">
          <a:blip r:embed="rId3"/>
          <a:srcRect l="9796" t="30050" r="51814" b="36350"/>
          <a:stretch/>
        </p:blipFill>
        <p:spPr>
          <a:xfrm>
            <a:off x="3575720" y="3356993"/>
            <a:ext cx="6336704" cy="2808312"/>
          </a:xfrm>
          <a:prstGeom prst="rect">
            <a:avLst/>
          </a:prstGeom>
        </p:spPr>
      </p:pic>
    </p:spTree>
    <p:extLst>
      <p:ext uri="{BB962C8B-B14F-4D97-AF65-F5344CB8AC3E}">
        <p14:creationId xmlns:p14="http://schemas.microsoft.com/office/powerpoint/2010/main" val="374328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975E57C4-6844-4399-843C-B7F6D8A50DF3}"/>
              </a:ext>
            </a:extLst>
          </p:cNvPr>
          <p:cNvSpPr txBox="1"/>
          <p:nvPr/>
        </p:nvSpPr>
        <p:spPr>
          <a:xfrm>
            <a:off x="3071664" y="188640"/>
            <a:ext cx="8640960" cy="1077218"/>
          </a:xfrm>
          <a:prstGeom prst="rect">
            <a:avLst/>
          </a:prstGeom>
          <a:noFill/>
        </p:spPr>
        <p:txBody>
          <a:bodyPr wrap="square">
            <a:spAutoFit/>
          </a:bodyPr>
          <a:lstStyle/>
          <a:p>
            <a:pPr algn="ctr" rtl="0"/>
            <a:r>
              <a:rPr lang="kk-KZ" sz="2400" b="1" dirty="0">
                <a:effectLst/>
                <a:latin typeface="Times New Roman" panose="02020603050405020304" pitchFamily="18" charset="0"/>
                <a:ea typeface="Calibri" panose="020F0502020204030204" pitchFamily="34" charset="0"/>
              </a:rPr>
              <a:t>Мәліметтер базасының негізгі терминдері</a:t>
            </a:r>
            <a:endParaRPr lang="en-US" sz="2400" b="1" dirty="0">
              <a:effectLst/>
              <a:latin typeface="Times New Roman" panose="02020603050405020304" pitchFamily="18" charset="0"/>
              <a:ea typeface="Calibri" panose="020F0502020204030204" pitchFamily="34" charset="0"/>
            </a:endParaRPr>
          </a:p>
          <a:p>
            <a:pPr algn="ctr" rtl="0"/>
            <a:r>
              <a:rPr lang="ru-RU" sz="2000" b="1" dirty="0">
                <a:latin typeface="Times New Roman" panose="02020603050405020304" pitchFamily="18" charset="0"/>
                <a:cs typeface="Times New Roman" panose="02020603050405020304" pitchFamily="18" charset="0"/>
              </a:rPr>
              <a:t>Мәліметтер базасының құрылымдары</a:t>
            </a:r>
            <a:r>
              <a:rPr lang="ru-RU" dirty="0"/>
              <a:t>(</a:t>
            </a:r>
            <a:r>
              <a:rPr lang="ru-RU" sz="2000" dirty="0">
                <a:latin typeface="Times New Roman" panose="02020603050405020304" pitchFamily="18" charset="0"/>
                <a:cs typeface="Times New Roman" panose="02020603050405020304" pitchFamily="18" charset="0"/>
              </a:rPr>
              <a:t>файлдар/кестелер, жазбалар, өрістер, деректер)</a:t>
            </a:r>
            <a:endParaRPr lang="kk-KZ"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1CF13D21-EF5B-4728-9B7B-C0315308C50D}"/>
              </a:ext>
            </a:extLst>
          </p:cNvPr>
          <p:cNvSpPr txBox="1"/>
          <p:nvPr/>
        </p:nvSpPr>
        <p:spPr>
          <a:xfrm>
            <a:off x="2403143" y="1265858"/>
            <a:ext cx="8949441" cy="2554545"/>
          </a:xfrm>
          <a:prstGeom prst="rect">
            <a:avLst/>
          </a:prstGeom>
          <a:noFill/>
        </p:spPr>
        <p:txBody>
          <a:bodyPr wrap="square">
            <a:spAutoFit/>
          </a:bodyPr>
          <a:lstStyle/>
          <a:p>
            <a:pPr algn="l" rtl="0"/>
            <a:r>
              <a:rPr lang="ru-RU" sz="2000" b="1" dirty="0">
                <a:latin typeface="Times New Roman" panose="02020603050405020304" pitchFamily="18" charset="0"/>
                <a:cs typeface="Times New Roman" panose="02020603050405020304" pitchFamily="18" charset="0"/>
              </a:rPr>
              <a:t>Файл (</a:t>
            </a:r>
            <a:r>
              <a:rPr lang="ru-RU" sz="2000" b="1" dirty="0" err="1">
                <a:latin typeface="Times New Roman" panose="02020603050405020304" pitchFamily="18" charset="0"/>
                <a:cs typeface="Times New Roman" panose="02020603050405020304" pitchFamily="18" charset="0"/>
              </a:rPr>
              <a:t>кесте</a:t>
            </a:r>
            <a:r>
              <a:rPr lang="ru-RU" sz="2000" b="1"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субъект не объект туралы деректер жиынтығы болып табылады. Кестедегі (файлдағы) деректер бағандар (өрістер) және жолдар (жазбалар) түрінде сақталады. </a:t>
            </a:r>
          </a:p>
          <a:p>
            <a:pPr algn="l" rtl="0"/>
            <a:endParaRPr lang="ru-RU" sz="1000" b="1" dirty="0">
              <a:latin typeface="Times New Roman" panose="02020603050405020304" pitchFamily="18" charset="0"/>
              <a:cs typeface="Times New Roman" panose="02020603050405020304" pitchFamily="18" charset="0"/>
            </a:endParaRPr>
          </a:p>
          <a:p>
            <a:pPr algn="l" rtl="0"/>
            <a:r>
              <a:rPr lang="ru-RU" sz="2000" b="1" dirty="0">
                <a:latin typeface="Times New Roman" panose="02020603050405020304" pitchFamily="18" charset="0"/>
                <a:cs typeface="Times New Roman" panose="02020603050405020304" pitchFamily="18" charset="0"/>
              </a:rPr>
              <a:t>Файл (кесте) </a:t>
            </a:r>
            <a:r>
              <a:rPr lang="ru-RU" sz="2000" b="1" dirty="0" err="1">
                <a:latin typeface="Times New Roman" panose="02020603050405020304" pitchFamily="18" charset="0"/>
                <a:cs typeface="Times New Roman" panose="02020603050405020304" pitchFamily="18" charset="0"/>
              </a:rPr>
              <a:t>өрісі</a:t>
            </a:r>
            <a:r>
              <a:rPr lang="ru-RU" sz="2000" b="1"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ақпарат</a:t>
            </a:r>
            <a:r>
              <a:rPr lang="ru-RU" sz="2000" dirty="0">
                <a:latin typeface="Times New Roman" panose="02020603050405020304" pitchFamily="18" charset="0"/>
                <a:cs typeface="Times New Roman" panose="02020603050405020304" pitchFamily="18" charset="0"/>
              </a:rPr>
              <a:t> түрін анықтайды.</a:t>
            </a:r>
          </a:p>
          <a:p>
            <a:pPr algn="l" rtl="0"/>
            <a:endParaRPr lang="ru-RU" sz="1000" dirty="0">
              <a:latin typeface="Times New Roman" panose="02020603050405020304" pitchFamily="18" charset="0"/>
              <a:cs typeface="Times New Roman" panose="02020603050405020304" pitchFamily="18" charset="0"/>
            </a:endParaRPr>
          </a:p>
          <a:p>
            <a:pPr algn="l" rtl="0"/>
            <a:r>
              <a:rPr lang="ru-RU" sz="2000" b="1" dirty="0" err="1">
                <a:latin typeface="Times New Roman" panose="02020603050405020304" pitchFamily="18" charset="0"/>
                <a:cs typeface="Times New Roman" panose="02020603050405020304" pitchFamily="18" charset="0"/>
              </a:rPr>
              <a:t>Жазылу</a:t>
            </a:r>
            <a:r>
              <a:rPr lang="ru-RU" sz="2000" b="1"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адам</a:t>
            </a:r>
            <a:r>
              <a:rPr lang="ru-RU" sz="2000" dirty="0">
                <a:latin typeface="Times New Roman" panose="02020603050405020304" pitchFamily="18" charset="0"/>
                <a:cs typeface="Times New Roman" panose="02020603050405020304" pitchFamily="18" charset="0"/>
              </a:rPr>
              <a:t>, объект немесе оқиға туралы ақпарат жиынтығы. Кестедегі әрбір жазбада бірдей өрістер жиыны бар және әрбір өрісте тақырып ақпаратының бірдей түрі бар</a:t>
            </a:r>
            <a:endParaRPr lang="kk-KZ" sz="2000" dirty="0">
              <a:latin typeface="Times New Roman" panose="02020603050405020304" pitchFamily="18" charset="0"/>
              <a:cs typeface="Times New Roman" panose="02020603050405020304" pitchFamily="18" charset="0"/>
            </a:endParaRPr>
          </a:p>
        </p:txBody>
      </p:sp>
      <p:pic>
        <p:nvPicPr>
          <p:cNvPr id="7" name="Рисунок 6">
            <a:extLst>
              <a:ext uri="{FF2B5EF4-FFF2-40B4-BE49-F238E27FC236}">
                <a16:creationId xmlns:a16="http://schemas.microsoft.com/office/drawing/2014/main" xmlns="" id="{068AFA99-63B9-4EE7-B7D3-E1DCAF904139}"/>
              </a:ext>
            </a:extLst>
          </p:cNvPr>
          <p:cNvPicPr>
            <a:picLocks noChangeAspect="1"/>
          </p:cNvPicPr>
          <p:nvPr/>
        </p:nvPicPr>
        <p:blipFill rotWithShape="1">
          <a:blip r:embed="rId2"/>
          <a:srcRect l="22227" t="23750" r="35249" b="8001"/>
          <a:stretch/>
        </p:blipFill>
        <p:spPr>
          <a:xfrm>
            <a:off x="5519936" y="4221088"/>
            <a:ext cx="2808312" cy="1967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8169C291-A03A-40A8-A4B7-1377F3F91B85}"/>
              </a:ext>
            </a:extLst>
          </p:cNvPr>
          <p:cNvSpPr txBox="1"/>
          <p:nvPr/>
        </p:nvSpPr>
        <p:spPr>
          <a:xfrm>
            <a:off x="1991544" y="260648"/>
            <a:ext cx="9865096" cy="5478423"/>
          </a:xfrm>
          <a:prstGeom prst="rect">
            <a:avLst/>
          </a:prstGeom>
          <a:noFill/>
        </p:spPr>
        <p:txBody>
          <a:bodyPr wrap="square">
            <a:spAutoFit/>
          </a:bodyPr>
          <a:lstStyle/>
          <a:p>
            <a:pPr algn="l" rtl="0"/>
            <a:r>
              <a:rPr lang="ru-RU" sz="2400" b="1" dirty="0">
                <a:latin typeface="Times New Roman" panose="02020603050405020304" pitchFamily="18" charset="0"/>
                <a:cs typeface="Times New Roman" panose="02020603050405020304" pitchFamily="18" charset="0"/>
              </a:rPr>
              <a:t>Реляциялық мәліметтер базасының </a:t>
            </a:r>
            <a:r>
              <a:rPr lang="ru-RU" sz="2400" b="1" dirty="0" err="1">
                <a:latin typeface="Times New Roman" panose="02020603050405020304" pitchFamily="18" charset="0"/>
                <a:cs typeface="Times New Roman" panose="02020603050405020304" pitchFamily="18" charset="0"/>
              </a:rPr>
              <a:t>бағдарламалық</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құралы</a:t>
            </a:r>
            <a:endParaRPr lang="ru-RU" sz="2400" b="1" dirty="0">
              <a:latin typeface="Times New Roman" panose="02020603050405020304" pitchFamily="18" charset="0"/>
              <a:cs typeface="Times New Roman" panose="02020603050405020304" pitchFamily="18" charset="0"/>
            </a:endParaRPr>
          </a:p>
          <a:p>
            <a:pPr algn="l" rtl="0"/>
            <a:endParaRPr lang="en-US" sz="2400" b="1" dirty="0">
              <a:latin typeface="Times New Roman" panose="02020603050405020304" pitchFamily="18" charset="0"/>
              <a:cs typeface="Times New Roman" panose="02020603050405020304" pitchFamily="18" charset="0"/>
            </a:endParaRPr>
          </a:p>
          <a:p>
            <a:pPr algn="just" rtl="0"/>
            <a:r>
              <a:rPr lang="ru-RU" sz="2000" dirty="0">
                <a:latin typeface="Times New Roman" panose="02020603050405020304" pitchFamily="18" charset="0"/>
                <a:cs typeface="Times New Roman" panose="02020603050405020304" pitchFamily="18" charset="0"/>
              </a:rPr>
              <a:t>Реляциялық мәліметтер базасының келесі </a:t>
            </a:r>
            <a:r>
              <a:rPr lang="ru-RU" sz="2000" dirty="0" err="1">
                <a:latin typeface="Times New Roman" panose="02020603050405020304" pitchFamily="18" charset="0"/>
                <a:cs typeface="Times New Roman" panose="02020603050405020304" pitchFamily="18" charset="0"/>
              </a:rPr>
              <a:t>мүмкіндіктері</a:t>
            </a:r>
            <a:r>
              <a:rPr lang="ru-RU" sz="2000" dirty="0">
                <a:latin typeface="Times New Roman" panose="02020603050405020304" pitchFamily="18" charset="0"/>
                <a:cs typeface="Times New Roman" panose="02020603050405020304" pitchFamily="18" charset="0"/>
              </a:rPr>
              <a:t> бар:</a:t>
            </a:r>
          </a:p>
          <a:p>
            <a:pPr algn="just" rtl="0"/>
            <a:endParaRPr lang="ru-RU" sz="2000" dirty="0">
              <a:latin typeface="Times New Roman" panose="02020603050405020304" pitchFamily="18" charset="0"/>
              <a:cs typeface="Times New Roman" panose="02020603050405020304" pitchFamily="18" charset="0"/>
            </a:endParaRPr>
          </a:p>
          <a:p>
            <a:pPr marL="803275" algn="just" rtl="0"/>
            <a:r>
              <a:rPr lang="ru-RU" sz="2000" dirty="0">
                <a:latin typeface="Times New Roman" panose="02020603050405020304" pitchFamily="18" charset="0"/>
                <a:cs typeface="Times New Roman" panose="02020603050405020304" pitchFamily="18" charset="0"/>
              </a:rPr>
              <a:t>• ACID (Atomicity, Consistency, оқшаулау, беріктік) сәйкестігі дерекқор транзакцияларының сенімді өңделуін қамтамасыз етеді.</a:t>
            </a:r>
          </a:p>
          <a:p>
            <a:pPr marL="803275" algn="just" rtl="0"/>
            <a:r>
              <a:rPr lang="ru-RU" sz="2000" dirty="0">
                <a:latin typeface="Times New Roman" panose="02020603050405020304" pitchFamily="18" charset="0"/>
                <a:cs typeface="Times New Roman" panose="02020603050405020304" pitchFamily="18" charset="0"/>
              </a:rPr>
              <a:t>• Анықтамалық тұтастық кестелер арасындағы қатынастардың тұрақты болуын қамтамасыз етеді.</a:t>
            </a:r>
          </a:p>
          <a:p>
            <a:pPr marL="803275" algn="just" rtl="0"/>
            <a:r>
              <a:rPr lang="ru-RU" sz="2000" dirty="0">
                <a:latin typeface="Times New Roman" panose="02020603050405020304" pitchFamily="18" charset="0"/>
                <a:cs typeface="Times New Roman" panose="02020603050405020304" pitchFamily="18" charset="0"/>
              </a:rPr>
              <a:t>• Бірнеше пайдаланушының бір деректерге бір уақытта қол жеткізуін басқаруға арналған синхрондау механизмдері.</a:t>
            </a:r>
          </a:p>
          <a:p>
            <a:pPr marL="803275" algn="just" rtl="0"/>
            <a:r>
              <a:rPr lang="ru-RU" sz="2000" dirty="0">
                <a:latin typeface="Times New Roman" panose="02020603050405020304" pitchFamily="18" charset="0"/>
                <a:cs typeface="Times New Roman" panose="02020603050405020304" pitchFamily="18" charset="0"/>
              </a:rPr>
              <a:t>• Дерекқорды бірнеше платформаларда үздіксіз іске қосу мүмкіндігі.</a:t>
            </a:r>
          </a:p>
          <a:p>
            <a:pPr marL="803275" algn="just" rtl="0"/>
            <a:r>
              <a:rPr lang="ru-RU" sz="2000" dirty="0">
                <a:latin typeface="Times New Roman" panose="02020603050405020304" pitchFamily="18" charset="0"/>
                <a:cs typeface="Times New Roman" panose="02020603050405020304" pitchFamily="18" charset="0"/>
              </a:rPr>
              <a:t>• Ақаулық жағдайында деректерді қалпына келтіру мүмкіндігі</a:t>
            </a:r>
          </a:p>
          <a:p>
            <a:pPr algn="just" rtl="0"/>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rtl="0"/>
            <a:r>
              <a:rPr lang="ru-RU" sz="2000" dirty="0">
                <a:effectLst/>
                <a:latin typeface="Times New Roman" panose="02020603050405020304" pitchFamily="18" charset="0"/>
                <a:ea typeface="Calibri" panose="020F0502020204030204" pitchFamily="34" charset="0"/>
                <a:cs typeface="Times New Roman" panose="02020603050405020304" pitchFamily="18" charset="0"/>
              </a:rPr>
              <a:t>Реляциялық деректер қорының ең танымал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бағдарламаларының</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бірі</a:t>
            </a:r>
            <a:endParaRPr lang="ru-RU"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rtl="0"/>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Microsoft SQL сервері</a:t>
            </a:r>
            <a:r>
              <a:rPr lang="ru-RU" sz="24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rtl="0"/>
            <a:r>
              <a:rPr lang="ru-RU" sz="2000" dirty="0">
                <a:effectLst/>
                <a:latin typeface="Times New Roman" panose="02020603050405020304" pitchFamily="18" charset="0"/>
                <a:ea typeface="Calibri" panose="020F0502020204030204" pitchFamily="34" charset="0"/>
                <a:cs typeface="Times New Roman" panose="02020603050405020304" pitchFamily="18" charset="0"/>
              </a:rPr>
              <a:t>Онда деректер қоры жобаларының арнайы графикалық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интеграциясы</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бар.</a:t>
            </a:r>
            <a:endParaRPr lang="en-US" sz="2000" b="1" dirty="0">
              <a:latin typeface="Times New Roman" panose="02020603050405020304" pitchFamily="18" charset="0"/>
              <a:cs typeface="Times New Roman" panose="02020603050405020304" pitchFamily="18" charset="0"/>
            </a:endParaRPr>
          </a:p>
          <a:p>
            <a:pPr algn="just" rtl="0"/>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SQL</a:t>
            </a:r>
            <a:r>
              <a:rPr lang="kk-KZ"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нарықта</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көптеген</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тәжірибе</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жасалған</a:t>
            </a:r>
            <a:r>
              <a:rPr lang="ru-RU" sz="2000" dirty="0">
                <a:latin typeface="Times New Roman" panose="02020603050405020304" pitchFamily="18" charset="0"/>
                <a:ea typeface="Calibri" panose="020F0502020204030204" pitchFamily="34" charset="0"/>
                <a:cs typeface="Times New Roman" panose="02020603050405020304" pitchFamily="18" charset="0"/>
              </a:rPr>
              <a:t>,</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кеңінен</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қолданылатын</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effectLst/>
                <a:latin typeface="Times New Roman" panose="02020603050405020304" pitchFamily="18" charset="0"/>
                <a:ea typeface="Calibri" panose="020F0502020204030204" pitchFamily="34" charset="0"/>
                <a:cs typeface="Times New Roman" panose="02020603050405020304" pitchFamily="18" charset="0"/>
              </a:rPr>
              <a:t>түсінікті</a:t>
            </a:r>
            <a:r>
              <a:rPr lang="ru-RU" sz="2000" dirty="0">
                <a:effectLst/>
                <a:latin typeface="Times New Roman" panose="02020603050405020304" pitchFamily="18" charset="0"/>
                <a:ea typeface="Calibri" panose="020F0502020204030204" pitchFamily="34" charset="0"/>
                <a:cs typeface="Times New Roman" panose="02020603050405020304" pitchFamily="18" charset="0"/>
              </a:rPr>
              <a:t> тіл</a:t>
            </a:r>
            <a:endParaRPr lang="kk-KZ"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xmlns="" id="{6103AB35-B84F-4A7F-88FA-939DEA013691}"/>
              </a:ext>
            </a:extLst>
          </p:cNvPr>
          <p:cNvPicPr>
            <a:picLocks noChangeAspect="1"/>
          </p:cNvPicPr>
          <p:nvPr/>
        </p:nvPicPr>
        <p:blipFill>
          <a:blip r:embed="rId2"/>
          <a:stretch>
            <a:fillRect/>
          </a:stretch>
        </p:blipFill>
        <p:spPr>
          <a:xfrm>
            <a:off x="1919536" y="116632"/>
            <a:ext cx="2714625" cy="1685925"/>
          </a:xfrm>
          <a:prstGeom prst="rect">
            <a:avLst/>
          </a:prstGeom>
        </p:spPr>
      </p:pic>
      <p:sp>
        <p:nvSpPr>
          <p:cNvPr id="5" name="TextBox 4">
            <a:extLst>
              <a:ext uri="{FF2B5EF4-FFF2-40B4-BE49-F238E27FC236}">
                <a16:creationId xmlns:a16="http://schemas.microsoft.com/office/drawing/2014/main" xmlns="" id="{B234937F-26B6-4207-822C-D93267AB38B4}"/>
              </a:ext>
            </a:extLst>
          </p:cNvPr>
          <p:cNvSpPr txBox="1"/>
          <p:nvPr/>
        </p:nvSpPr>
        <p:spPr>
          <a:xfrm>
            <a:off x="1889270" y="2060848"/>
            <a:ext cx="9967370" cy="2554545"/>
          </a:xfrm>
          <a:prstGeom prst="rect">
            <a:avLst/>
          </a:prstGeom>
          <a:noFill/>
        </p:spPr>
        <p:txBody>
          <a:bodyPr wrap="square">
            <a:spAutoFit/>
          </a:bodyPr>
          <a:lstStyle/>
          <a:p>
            <a:pPr algn="l" rtl="0"/>
            <a:r>
              <a:rPr lang="ru-RU" sz="2000" b="1" dirty="0" err="1">
                <a:latin typeface="Times New Roman" panose="02020603050405020304" pitchFamily="18" charset="0"/>
                <a:cs typeface="Times New Roman" panose="02020603050405020304" pitchFamily="18" charset="0"/>
              </a:rPr>
              <a:t>Артықшылықтары</a:t>
            </a:r>
            <a:r>
              <a:rPr lang="en-US"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MicrosoftSQL</a:t>
            </a:r>
            <a:r>
              <a:rPr lang="ru-RU" sz="2000" b="1" dirty="0">
                <a:latin typeface="Times New Roman" panose="02020603050405020304" pitchFamily="18" charset="0"/>
                <a:cs typeface="Times New Roman" panose="02020603050405020304" pitchFamily="18" charset="0"/>
              </a:rPr>
              <a:t>  сервер:</a:t>
            </a:r>
          </a:p>
          <a:p>
            <a:pPr indent="803275" algn="l" rtl="0"/>
            <a:r>
              <a:rPr lang="ru-RU" sz="2000" dirty="0">
                <a:latin typeface="Times New Roman" panose="02020603050405020304" pitchFamily="18" charset="0"/>
                <a:cs typeface="Times New Roman" panose="02020603050405020304" pitchFamily="18" charset="0"/>
              </a:rPr>
              <a:t>• Жаңа дерекқор серверін нөлден </a:t>
            </a:r>
            <a:r>
              <a:rPr lang="ru-RU" sz="2000" dirty="0" err="1">
                <a:latin typeface="Times New Roman" panose="02020603050405020304" pitchFamily="18" charset="0"/>
                <a:cs typeface="Times New Roman" panose="02020603050405020304" pitchFamily="18" charset="0"/>
              </a:rPr>
              <a:t>оңай</a:t>
            </a:r>
            <a:r>
              <a:rPr lang="ru-RU" sz="2000" dirty="0">
                <a:latin typeface="Times New Roman" panose="02020603050405020304" pitchFamily="18" charset="0"/>
                <a:cs typeface="Times New Roman" panose="02020603050405020304" pitchFamily="18" charset="0"/>
              </a:rPr>
              <a:t> </a:t>
            </a:r>
            <a:r>
              <a:rPr lang="ru-RU" sz="2000" dirty="0" err="1" smtClean="0">
                <a:latin typeface="Times New Roman" panose="02020603050405020304" pitchFamily="18" charset="0"/>
                <a:cs typeface="Times New Roman" panose="02020603050405020304" pitchFamily="18" charset="0"/>
              </a:rPr>
              <a:t>орнатылады</a:t>
            </a:r>
            <a:r>
              <a:rPr lang="ru-RU" sz="2000" dirty="0" smtClean="0">
                <a:latin typeface="Times New Roman" panose="02020603050405020304" pitchFamily="18" charset="0"/>
                <a:cs typeface="Times New Roman" panose="02020603050405020304" pitchFamily="18" charset="0"/>
              </a:rPr>
              <a:t>.</a:t>
            </a:r>
            <a:endParaRPr lang="ru-RU" sz="2000" dirty="0">
              <a:latin typeface="Times New Roman" panose="02020603050405020304" pitchFamily="18" charset="0"/>
              <a:cs typeface="Times New Roman" panose="02020603050405020304" pitchFamily="18" charset="0"/>
            </a:endParaRPr>
          </a:p>
          <a:p>
            <a:pPr indent="803275" algn="l" rtl="0"/>
            <a:r>
              <a:rPr lang="ru-RU" sz="2000" dirty="0">
                <a:latin typeface="Times New Roman" panose="02020603050405020304" pitchFamily="18" charset="0"/>
                <a:cs typeface="Times New Roman" panose="02020603050405020304" pitchFamily="18" charset="0"/>
              </a:rPr>
              <a:t>• Синтаксиссіз әртүрлі жобаларды, кестелерді жасайды және деректерді көреді.</a:t>
            </a:r>
          </a:p>
          <a:p>
            <a:pPr indent="803275" algn="l" rtl="0"/>
            <a:r>
              <a:rPr lang="ru-RU" sz="2000" dirty="0">
                <a:latin typeface="Times New Roman" panose="02020603050405020304" pitchFamily="18" charset="0"/>
                <a:cs typeface="Times New Roman" panose="02020603050405020304" pitchFamily="18" charset="0"/>
              </a:rPr>
              <a:t>• Күрделі сұрауларды өңдей алады және басқа бағдарламалармен біріктіре алады.</a:t>
            </a:r>
          </a:p>
          <a:p>
            <a:pPr algn="l" rtl="0"/>
            <a:endParaRPr lang="en-US" sz="2000" b="1" dirty="0">
              <a:latin typeface="Times New Roman" panose="02020603050405020304" pitchFamily="18" charset="0"/>
              <a:cs typeface="Times New Roman" panose="02020603050405020304" pitchFamily="18" charset="0"/>
            </a:endParaRPr>
          </a:p>
          <a:p>
            <a:pPr algn="l" rtl="0"/>
            <a:r>
              <a:rPr lang="ru-RU" sz="2000" b="1" dirty="0">
                <a:latin typeface="Times New Roman" panose="02020603050405020304" pitchFamily="18" charset="0"/>
                <a:cs typeface="Times New Roman" panose="02020603050405020304" pitchFamily="18" charset="0"/>
              </a:rPr>
              <a:t>Кемшіліктері мыналар:</a:t>
            </a:r>
          </a:p>
          <a:p>
            <a:pPr indent="900113" algn="l" rtl="0"/>
            <a:r>
              <a:rPr lang="ru-RU" sz="2000" dirty="0">
                <a:latin typeface="Times New Roman" panose="02020603050405020304" pitchFamily="18" charset="0"/>
                <a:cs typeface="Times New Roman" panose="02020603050405020304" pitchFamily="18" charset="0"/>
              </a:rPr>
              <a:t>• Жеңіл пакетте пайдаланушы интерфейсінде ыңғайлылық жоқ.</a:t>
            </a:r>
          </a:p>
          <a:p>
            <a:pPr indent="900113" algn="l" rtl="0"/>
            <a:r>
              <a:rPr lang="ru-RU" sz="2000" dirty="0">
                <a:latin typeface="Times New Roman" panose="02020603050405020304" pitchFamily="18" charset="0"/>
                <a:cs typeface="Times New Roman" panose="02020603050405020304" pitchFamily="18" charset="0"/>
              </a:rPr>
              <a:t>• Ұзақ сұраулар күтілгеннен көп уақыт алады.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F6A5B8A-0964-42E2-9773-32D7DF106915}"/>
              </a:ext>
            </a:extLst>
          </p:cNvPr>
          <p:cNvSpPr txBox="1"/>
          <p:nvPr/>
        </p:nvSpPr>
        <p:spPr>
          <a:xfrm>
            <a:off x="1631504" y="1988840"/>
            <a:ext cx="10200456" cy="4093428"/>
          </a:xfrm>
          <a:prstGeom prst="rect">
            <a:avLst/>
          </a:prstGeom>
          <a:noFill/>
        </p:spPr>
        <p:txBody>
          <a:bodyPr wrap="square">
            <a:spAutoFit/>
          </a:bodyPr>
          <a:lstStyle/>
          <a:p>
            <a:pPr algn="l" rtl="0"/>
            <a:r>
              <a:rPr lang="ru-RU" sz="2000" b="1" dirty="0" err="1">
                <a:latin typeface="Times New Roman" panose="02020603050405020304" pitchFamily="18" charset="0"/>
                <a:cs typeface="Times New Roman" panose="02020603050405020304" pitchFamily="18" charset="0"/>
              </a:rPr>
              <a:t>Артықшылықтары</a:t>
            </a:r>
            <a:r>
              <a:rPr lang="ru-RU" sz="2000" b="1" dirty="0">
                <a:latin typeface="Times New Roman" panose="02020603050405020304" pitchFamily="18" charset="0"/>
                <a:cs typeface="Times New Roman" panose="02020603050405020304" pitchFamily="18" charset="0"/>
              </a:rPr>
              <a:t> :</a:t>
            </a:r>
          </a:p>
          <a:p>
            <a:pPr algn="l" rtl="0"/>
            <a:endParaRPr lang="ru-RU" sz="2000" b="1" dirty="0">
              <a:latin typeface="Times New Roman" panose="02020603050405020304" pitchFamily="18" charset="0"/>
              <a:cs typeface="Times New Roman" panose="02020603050405020304" pitchFamily="18" charset="0"/>
            </a:endParaRPr>
          </a:p>
          <a:p>
            <a:pPr indent="627063" algn="l" rtl="0"/>
            <a:r>
              <a:rPr lang="ru-RU" sz="2000" dirty="0">
                <a:latin typeface="Times New Roman" panose="02020603050405020304" pitchFamily="18" charset="0"/>
                <a:cs typeface="Times New Roman" panose="02020603050405020304" pitchFamily="18" charset="0"/>
              </a:rPr>
              <a:t>• Бағдарламалау тәжірибесінсіз негізгі функцияларды үйрену оңай.</a:t>
            </a:r>
          </a:p>
          <a:p>
            <a:pPr indent="627063" algn="l" rtl="0"/>
            <a:r>
              <a:rPr lang="ru-RU" sz="2000" dirty="0">
                <a:latin typeface="Times New Roman" panose="02020603050405020304" pitchFamily="18" charset="0"/>
                <a:cs typeface="Times New Roman" panose="02020603050405020304" pitchFamily="18" charset="0"/>
              </a:rPr>
              <a:t>• Ашық дереккөз пайдаланушыларға </a:t>
            </a:r>
            <a:r>
              <a:rPr lang="ru-RU" sz="2000" dirty="0" err="1">
                <a:latin typeface="Times New Roman" panose="02020603050405020304" pitchFamily="18" charset="0"/>
                <a:cs typeface="Times New Roman" panose="02020603050405020304" pitchFamily="18" charset="0"/>
              </a:rPr>
              <a:t>деректерін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өңдеуге</a:t>
            </a:r>
            <a:r>
              <a:rPr lang="ru-RU" sz="2000" dirty="0">
                <a:latin typeface="Times New Roman" panose="02020603050405020304" pitchFamily="18" charset="0"/>
                <a:cs typeface="Times New Roman" panose="02020603050405020304" pitchFamily="18" charset="0"/>
              </a:rPr>
              <a:t> толық еркіндік береді.</a:t>
            </a:r>
          </a:p>
          <a:p>
            <a:pPr indent="627063" algn="l" rtl="0"/>
            <a:r>
              <a:rPr lang="ru-RU" sz="2000" dirty="0">
                <a:latin typeface="Times New Roman" panose="02020603050405020304" pitchFamily="18" charset="0"/>
                <a:cs typeface="Times New Roman" panose="02020603050405020304" pitchFamily="18" charset="0"/>
              </a:rPr>
              <a:t>• Шығындар құрылымына байланысты шағын бизнес пен кәсіпкерлер үшін қолайлы.</a:t>
            </a:r>
          </a:p>
          <a:p>
            <a:pPr indent="627063" algn="l" rtl="0"/>
            <a:r>
              <a:rPr lang="ru-RU" sz="2000" dirty="0">
                <a:latin typeface="Times New Roman" panose="02020603050405020304" pitchFamily="18" charset="0"/>
                <a:cs typeface="Times New Roman" panose="02020603050405020304" pitchFamily="18" charset="0"/>
              </a:rPr>
              <a:t>• Қазіргі заманғы ДҚБЖ салалық </a:t>
            </a:r>
            <a:r>
              <a:rPr lang="ru-RU" sz="2000" dirty="0" err="1">
                <a:latin typeface="Times New Roman" panose="02020603050405020304" pitchFamily="18" charset="0"/>
                <a:cs typeface="Times New Roman" panose="02020603050405020304" pitchFamily="18" charset="0"/>
              </a:rPr>
              <a:t>тәжірибелерімен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үйлесімді</a:t>
            </a:r>
            <a:endParaRPr lang="ru-RU" sz="2000" dirty="0">
              <a:latin typeface="Times New Roman" panose="02020603050405020304" pitchFamily="18" charset="0"/>
              <a:cs typeface="Times New Roman" panose="02020603050405020304" pitchFamily="18" charset="0"/>
            </a:endParaRPr>
          </a:p>
          <a:p>
            <a:pPr indent="627063" algn="l" rtl="0"/>
            <a:r>
              <a:rPr lang="ru-RU" sz="2000" dirty="0">
                <a:latin typeface="Times New Roman" panose="02020603050405020304" pitchFamily="18" charset="0"/>
                <a:cs typeface="Times New Roman" panose="02020603050405020304" pitchFamily="18" charset="0"/>
              </a:rPr>
              <a:t>• Веб </a:t>
            </a:r>
            <a:r>
              <a:rPr lang="ru-RU" sz="2000" dirty="0" err="1">
                <a:latin typeface="Times New Roman" panose="02020603050405020304" pitchFamily="18" charset="0"/>
                <a:cs typeface="Times New Roman" panose="02020603050405020304" pitchFamily="18" charset="0"/>
              </a:rPr>
              <a:t>парақшалармен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жылдам</a:t>
            </a:r>
            <a:r>
              <a:rPr lang="ru-RU" sz="2000" dirty="0">
                <a:latin typeface="Times New Roman" panose="02020603050405020304" pitchFamily="18" charset="0"/>
                <a:cs typeface="Times New Roman" panose="02020603050405020304" pitchFamily="18" charset="0"/>
              </a:rPr>
              <a:t> интеграция </a:t>
            </a:r>
            <a:r>
              <a:rPr lang="ru-RU" sz="2000" dirty="0" err="1">
                <a:latin typeface="Times New Roman" panose="02020603050405020304" pitchFamily="18" charset="0"/>
                <a:cs typeface="Times New Roman" panose="02020603050405020304" pitchFamily="18" charset="0"/>
              </a:rPr>
              <a:t>жасалады</a:t>
            </a:r>
            <a:endParaRPr lang="ru-RU" sz="2000" dirty="0">
              <a:latin typeface="Times New Roman" panose="02020603050405020304" pitchFamily="18" charset="0"/>
              <a:cs typeface="Times New Roman" panose="02020603050405020304" pitchFamily="18" charset="0"/>
            </a:endParaRPr>
          </a:p>
          <a:p>
            <a:pPr indent="627063"/>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Шағын</a:t>
            </a:r>
            <a:r>
              <a:rPr lang="ru-RU" sz="2000" dirty="0">
                <a:latin typeface="Times New Roman" panose="02020603050405020304" pitchFamily="18" charset="0"/>
                <a:cs typeface="Times New Roman" panose="02020603050405020304" pitchFamily="18" charset="0"/>
              </a:rPr>
              <a:t> және </a:t>
            </a:r>
            <a:r>
              <a:rPr lang="ru-RU" sz="2000" dirty="0" err="1">
                <a:latin typeface="Times New Roman" panose="02020603050405020304" pitchFamily="18" charset="0"/>
                <a:cs typeface="Times New Roman" panose="02020603050405020304" pitchFamily="18" charset="0"/>
              </a:rPr>
              <a:t>үлкен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қолданбаларда</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деректерді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әзірлеу</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үшін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қолдануға</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болады</a:t>
            </a:r>
            <a:endParaRPr lang="ru-RU" sz="2000" dirty="0">
              <a:latin typeface="Times New Roman" panose="02020603050405020304" pitchFamily="18" charset="0"/>
              <a:cs typeface="Times New Roman" panose="02020603050405020304" pitchFamily="18" charset="0"/>
            </a:endParaRPr>
          </a:p>
          <a:p>
            <a:pPr algn="l" rtl="0"/>
            <a:endParaRPr lang="ru-RU" sz="2000" b="1" dirty="0">
              <a:latin typeface="Times New Roman" panose="02020603050405020304" pitchFamily="18" charset="0"/>
              <a:cs typeface="Times New Roman" panose="02020603050405020304" pitchFamily="18" charset="0"/>
            </a:endParaRPr>
          </a:p>
          <a:p>
            <a:pPr algn="l" rtl="0"/>
            <a:r>
              <a:rPr lang="ru-RU" sz="2000" b="1" dirty="0" err="1">
                <a:latin typeface="Times New Roman" panose="02020603050405020304" pitchFamily="18" charset="0"/>
                <a:cs typeface="Times New Roman" panose="02020603050405020304" pitchFamily="18" charset="0"/>
              </a:rPr>
              <a:t>Кемшіліктері</a:t>
            </a:r>
            <a:r>
              <a:rPr lang="ru-RU" sz="2000" b="1" dirty="0">
                <a:latin typeface="Times New Roman" panose="02020603050405020304" pitchFamily="18" charset="0"/>
                <a:cs typeface="Times New Roman" panose="02020603050405020304" pitchFamily="18" charset="0"/>
              </a:rPr>
              <a:t>:</a:t>
            </a:r>
          </a:p>
          <a:p>
            <a:pPr algn="l" rtl="0"/>
            <a:endParaRPr lang="ru-RU" sz="1100" b="1" dirty="0">
              <a:latin typeface="Times New Roman" panose="02020603050405020304" pitchFamily="18" charset="0"/>
              <a:cs typeface="Times New Roman" panose="02020603050405020304" pitchFamily="18" charset="0"/>
            </a:endParaRPr>
          </a:p>
          <a:p>
            <a:pPr marL="342900" indent="-342900" algn="l" rtl="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Жаңартқаннан</a:t>
            </a:r>
            <a:r>
              <a:rPr lang="ru-RU" sz="2000" dirty="0">
                <a:latin typeface="Times New Roman" panose="02020603050405020304" pitchFamily="18" charset="0"/>
                <a:cs typeface="Times New Roman" panose="02020603050405020304" pitchFamily="18" charset="0"/>
              </a:rPr>
              <a:t> не қайта іске қосқаннан кейін де </a:t>
            </a:r>
            <a:r>
              <a:rPr lang="ru-RU" sz="2000" dirty="0" err="1">
                <a:latin typeface="Times New Roman" panose="02020603050405020304" pitchFamily="18" charset="0"/>
                <a:cs typeface="Times New Roman" panose="02020603050405020304" pitchFamily="18" charset="0"/>
              </a:rPr>
              <a:t>сұраулар</a:t>
            </a:r>
            <a:r>
              <a:rPr lang="ru-RU" sz="2000" dirty="0">
                <a:latin typeface="Times New Roman" panose="02020603050405020304" pitchFamily="18" charset="0"/>
                <a:cs typeface="Times New Roman" panose="02020603050405020304" pitchFamily="18" charset="0"/>
              </a:rPr>
              <a:t> </a:t>
            </a:r>
            <a:r>
              <a:rPr lang="ru-RU" sz="2000" dirty="0" err="1" smtClean="0">
                <a:latin typeface="Times New Roman" panose="02020603050405020304" pitchFamily="18" charset="0"/>
                <a:cs typeface="Times New Roman" panose="02020603050405020304" pitchFamily="18" charset="0"/>
              </a:rPr>
              <a:t>көрініп</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тұрады</a:t>
            </a:r>
            <a:r>
              <a:rPr lang="ru-RU" sz="2000" dirty="0">
                <a:latin typeface="Times New Roman" panose="02020603050405020304" pitchFamily="18" charset="0"/>
                <a:cs typeface="Times New Roman" panose="02020603050405020304" pitchFamily="18" charset="0"/>
              </a:rPr>
              <a:t>.</a:t>
            </a:r>
          </a:p>
          <a:p>
            <a:pPr marL="342900" indent="-342900" algn="l" rtl="0">
              <a:buFont typeface="Wingdings" panose="05000000000000000000" pitchFamily="2" charset="2"/>
              <a:buChar char="§"/>
            </a:pPr>
            <a:r>
              <a:rPr lang="ru-RU" sz="2000" dirty="0">
                <a:latin typeface="Times New Roman" panose="02020603050405020304" pitchFamily="18" charset="0"/>
                <a:cs typeface="Times New Roman" panose="02020603050405020304" pitchFamily="18" charset="0"/>
              </a:rPr>
              <a:t>Үшінші тарап қосымшаларына шамадан </a:t>
            </a:r>
            <a:r>
              <a:rPr lang="ru-RU" sz="2000" dirty="0" err="1">
                <a:latin typeface="Times New Roman" panose="02020603050405020304" pitchFamily="18" charset="0"/>
                <a:cs typeface="Times New Roman" panose="02020603050405020304" pitchFamily="18" charset="0"/>
              </a:rPr>
              <a:t>тыс</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тәуелді</a:t>
            </a:r>
            <a:r>
              <a:rPr lang="ru-RU" sz="2000" dirty="0">
                <a:latin typeface="Times New Roman" panose="02020603050405020304" pitchFamily="18" charset="0"/>
                <a:cs typeface="Times New Roman" panose="02020603050405020304" pitchFamily="18" charset="0"/>
              </a:rPr>
              <a:t>.</a:t>
            </a:r>
          </a:p>
        </p:txBody>
      </p:sp>
      <p:pic>
        <p:nvPicPr>
          <p:cNvPr id="2" name="Рисунок 1">
            <a:extLst>
              <a:ext uri="{FF2B5EF4-FFF2-40B4-BE49-F238E27FC236}">
                <a16:creationId xmlns:a16="http://schemas.microsoft.com/office/drawing/2014/main" xmlns="" id="{6381BBFE-1C09-4B2E-B5A7-9C00225F44E0}"/>
              </a:ext>
            </a:extLst>
          </p:cNvPr>
          <p:cNvPicPr>
            <a:picLocks noChangeAspect="1"/>
          </p:cNvPicPr>
          <p:nvPr/>
        </p:nvPicPr>
        <p:blipFill>
          <a:blip r:embed="rId2"/>
          <a:stretch>
            <a:fillRect/>
          </a:stretch>
        </p:blipFill>
        <p:spPr>
          <a:xfrm>
            <a:off x="1631504" y="29167"/>
            <a:ext cx="2541738" cy="1311602"/>
          </a:xfrm>
          <a:prstGeom prst="rect">
            <a:avLst/>
          </a:prstGeom>
        </p:spPr>
      </p:pic>
      <p:sp>
        <p:nvSpPr>
          <p:cNvPr id="6" name="TextBox 5">
            <a:extLst>
              <a:ext uri="{FF2B5EF4-FFF2-40B4-BE49-F238E27FC236}">
                <a16:creationId xmlns:a16="http://schemas.microsoft.com/office/drawing/2014/main" xmlns="" id="{A04CC0FF-3442-4DB3-A901-4C2BD3BE4BF7}"/>
              </a:ext>
            </a:extLst>
          </p:cNvPr>
          <p:cNvSpPr txBox="1"/>
          <p:nvPr/>
        </p:nvSpPr>
        <p:spPr>
          <a:xfrm>
            <a:off x="4295800" y="264036"/>
            <a:ext cx="7536160" cy="1323439"/>
          </a:xfrm>
          <a:prstGeom prst="rect">
            <a:avLst/>
          </a:prstGeom>
          <a:noFill/>
        </p:spPr>
        <p:txBody>
          <a:bodyPr wrap="square">
            <a:spAutoFit/>
          </a:bodyPr>
          <a:lstStyle/>
          <a:p>
            <a:pPr algn="just" rtl="0"/>
            <a:r>
              <a:rPr lang="ru-RU" sz="2000" dirty="0">
                <a:latin typeface="Times New Roman" panose="02020603050405020304" pitchFamily="18" charset="0"/>
                <a:cs typeface="Times New Roman" panose="02020603050405020304" pitchFamily="18" charset="0"/>
              </a:rPr>
              <a:t>Му SQL — жан-жақты мүмкіндіктері бар деректерді өңдеу және өнімділігі жоғары жылдамдықты құрал. </a:t>
            </a:r>
          </a:p>
          <a:p>
            <a:pPr algn="just" rtl="0"/>
            <a:r>
              <a:rPr lang="ru-RU" sz="2000" dirty="0" err="1">
                <a:latin typeface="Times New Roman" panose="02020603050405020304" pitchFamily="18" charset="0"/>
                <a:cs typeface="Times New Roman" panose="02020603050405020304" pitchFamily="18" charset="0"/>
              </a:rPr>
              <a:t>Бұл</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дерекқорларыңыздың</a:t>
            </a:r>
            <a:r>
              <a:rPr lang="ru-RU" sz="2000" dirty="0">
                <a:latin typeface="Times New Roman" panose="02020603050405020304" pitchFamily="18" charset="0"/>
                <a:cs typeface="Times New Roman" panose="02020603050405020304" pitchFamily="18" charset="0"/>
              </a:rPr>
              <a:t> қауіпсіздігі мен ауқымдылығын жақсартуға арналған.</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E6D1FDA-9B17-43C8-8E4E-7BC946B1F20B}"/>
              </a:ext>
            </a:extLst>
          </p:cNvPr>
          <p:cNvSpPr txBox="1"/>
          <p:nvPr/>
        </p:nvSpPr>
        <p:spPr>
          <a:xfrm>
            <a:off x="1415480" y="1916832"/>
            <a:ext cx="10194660" cy="3447098"/>
          </a:xfrm>
          <a:prstGeom prst="rect">
            <a:avLst/>
          </a:prstGeom>
          <a:noFill/>
        </p:spPr>
        <p:txBody>
          <a:bodyPr wrap="square">
            <a:spAutoFit/>
          </a:bodyPr>
          <a:lstStyle/>
          <a:p>
            <a:pPr algn="l" rtl="0"/>
            <a:r>
              <a:rPr lang="ru-RU" sz="2000" b="1" dirty="0" err="1">
                <a:latin typeface="Times New Roman" panose="02020603050405020304" pitchFamily="18" charset="0"/>
                <a:cs typeface="Times New Roman" panose="02020603050405020304" pitchFamily="18" charset="0"/>
              </a:rPr>
              <a:t>Артықшылықтары</a:t>
            </a:r>
            <a:r>
              <a:rPr lang="en-US" sz="2000" dirty="0">
                <a:latin typeface="Times New Roman" panose="02020603050405020304" pitchFamily="18" charset="0"/>
                <a:cs typeface="Times New Roman" panose="02020603050405020304" pitchFamily="18" charset="0"/>
              </a:rPr>
              <a:t> </a:t>
            </a:r>
            <a:r>
              <a:rPr lang="ru-RU" sz="2000" b="1" dirty="0">
                <a:latin typeface="Times New Roman" panose="02020603050405020304" pitchFamily="18" charset="0"/>
                <a:cs typeface="Times New Roman" panose="02020603050405020304" pitchFamily="18" charset="0"/>
              </a:rPr>
              <a:t>:</a:t>
            </a:r>
          </a:p>
          <a:p>
            <a:pPr algn="l" rtl="0"/>
            <a:endParaRPr lang="ru-RU" b="1" dirty="0">
              <a:latin typeface="Times New Roman" panose="02020603050405020304" pitchFamily="18" charset="0"/>
              <a:cs typeface="Times New Roman" panose="02020603050405020304" pitchFamily="18" charset="0"/>
            </a:endParaRPr>
          </a:p>
          <a:p>
            <a:pPr marL="342900" indent="-342900" algn="l" rtl="0">
              <a:buFont typeface="Wingdings" panose="05000000000000000000" pitchFamily="2" charset="2"/>
              <a:buChar char="§"/>
            </a:pPr>
            <a:r>
              <a:rPr lang="ru-RU" sz="2000" dirty="0" err="1">
                <a:latin typeface="Times New Roman" panose="02020603050405020304" pitchFamily="18" charset="0"/>
                <a:cs typeface="Times New Roman" panose="02020603050405020304" pitchFamily="18" charset="0"/>
              </a:rPr>
              <a:t>Теңшелетін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үлгілер</a:t>
            </a:r>
            <a:r>
              <a:rPr lang="ru-RU" sz="2000" dirty="0">
                <a:latin typeface="Times New Roman" panose="02020603050405020304" pitchFamily="18" charset="0"/>
                <a:cs typeface="Times New Roman" panose="02020603050405020304" pitchFamily="18" charset="0"/>
              </a:rPr>
              <a:t>: веб-</a:t>
            </a:r>
            <a:r>
              <a:rPr lang="ru-RU" sz="2000" dirty="0" err="1">
                <a:latin typeface="Times New Roman" panose="02020603050405020304" pitchFamily="18" charset="0"/>
                <a:cs typeface="Times New Roman" panose="02020603050405020304" pitchFamily="18" charset="0"/>
              </a:rPr>
              <a:t>дерекқорларды</a:t>
            </a:r>
            <a:r>
              <a:rPr lang="ru-RU" sz="2000" dirty="0">
                <a:latin typeface="Times New Roman" panose="02020603050405020304" pitchFamily="18" charset="0"/>
                <a:cs typeface="Times New Roman" panose="02020603050405020304" pitchFamily="18" charset="0"/>
              </a:rPr>
              <a:t> қосу және бір уақытта бақылау, есеп беру немесе басқа пайдаланушылармен бөлісу үшін өте қолайлы.</a:t>
            </a:r>
          </a:p>
          <a:p>
            <a:pPr marL="342900" indent="-342900" algn="l" rtl="0">
              <a:buFont typeface="Wingdings" panose="05000000000000000000" pitchFamily="2" charset="2"/>
              <a:buChar char="§"/>
            </a:pPr>
            <a:r>
              <a:rPr lang="ru-RU" sz="2000" dirty="0" err="1">
                <a:latin typeface="Times New Roman" panose="02020603050405020304" pitchFamily="18" charset="0"/>
                <a:cs typeface="Times New Roman" panose="02020603050405020304" pitchFamily="18" charset="0"/>
              </a:rPr>
              <a:t>Пайдаланушы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пакеттерге</a:t>
            </a:r>
            <a:r>
              <a:rPr lang="ru-RU" sz="2000" dirty="0">
                <a:latin typeface="Times New Roman" panose="02020603050405020304" pitchFamily="18" charset="0"/>
                <a:cs typeface="Times New Roman" panose="02020603050405020304" pitchFamily="18" charset="0"/>
              </a:rPr>
              <a:t> толық </a:t>
            </a:r>
            <a:r>
              <a:rPr lang="ru-RU" sz="2000" dirty="0" err="1">
                <a:latin typeface="Times New Roman" panose="02020603050405020304" pitchFamily="18" charset="0"/>
                <a:cs typeface="Times New Roman" panose="02020603050405020304" pitchFamily="18" charset="0"/>
              </a:rPr>
              <a:t>рұқсат</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алады</a:t>
            </a:r>
            <a:r>
              <a:rPr lang="ru-RU" sz="2000" dirty="0">
                <a:latin typeface="Times New Roman" panose="02020603050405020304" pitchFamily="18" charset="0"/>
                <a:cs typeface="Times New Roman" panose="02020603050405020304" pitchFamily="18" charset="0"/>
              </a:rPr>
              <a:t> </a:t>
            </a:r>
          </a:p>
          <a:p>
            <a:pPr marL="342900" indent="-342900" algn="l" rtl="0">
              <a:buFont typeface="Wingdings" panose="05000000000000000000" pitchFamily="2" charset="2"/>
              <a:buChar char="§"/>
            </a:pPr>
            <a:r>
              <a:rPr lang="ru-RU"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Онлайн транзакцияны өңдеу өнімділігі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OLTP</a:t>
            </a:r>
            <a:r>
              <a:rPr lang="ru-RU"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басқаларға қарағанда жоғары.</a:t>
            </a:r>
            <a:endParaRPr lang="kk-KZ"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rtl="0">
              <a:spcAft>
                <a:spcPts val="0"/>
              </a:spcAft>
              <a:buFont typeface="Wingdings" panose="05000000000000000000" pitchFamily="2" charset="2"/>
              <a:buChar char="§"/>
            </a:pPr>
            <a:r>
              <a:rPr lang="ru-RU"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Шағын</a:t>
            </a:r>
            <a:r>
              <a:rPr lang="ru-RU"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жүйелерді көп деңгейлі таратылған түйіндерге дейін масштабтау икемділігі.</a:t>
            </a:r>
            <a:endParaRPr lang="kk-KZ"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l" rtl="0">
              <a:spcAft>
                <a:spcPts val="0"/>
              </a:spcAft>
              <a:buFont typeface="Wingdings" panose="05000000000000000000" pitchFamily="2" charset="2"/>
              <a:buChar char="§"/>
            </a:pPr>
            <a:r>
              <a:rPr lang="ru-RU" sz="20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Р</a:t>
            </a:r>
            <a:r>
              <a:rPr lang="ru-RU" sz="20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еляциялық</a:t>
            </a:r>
            <a:r>
              <a:rPr lang="ru-RU"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деректерді уақыттық қатарға біріктіре алады.</a:t>
            </a:r>
            <a:endParaRPr lang="kk-KZ"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l" rtl="0"/>
            <a:endParaRPr lang="ru-RU" sz="2000" dirty="0">
              <a:latin typeface="Times New Roman" panose="02020603050405020304" pitchFamily="18" charset="0"/>
              <a:cs typeface="Times New Roman" panose="02020603050405020304" pitchFamily="18" charset="0"/>
            </a:endParaRPr>
          </a:p>
          <a:p>
            <a:pPr algn="l" rtl="0"/>
            <a:r>
              <a:rPr lang="ru-RU" sz="2000" b="1" dirty="0" err="1">
                <a:latin typeface="Times New Roman" panose="02020603050405020304" pitchFamily="18" charset="0"/>
                <a:cs typeface="Times New Roman" panose="02020603050405020304" pitchFamily="18" charset="0"/>
              </a:rPr>
              <a:t>Кемшіліктер</a:t>
            </a:r>
            <a:r>
              <a:rPr lang="en-US" sz="2000" b="1" dirty="0">
                <a:latin typeface="Times New Roman" panose="02020603050405020304" pitchFamily="18" charset="0"/>
                <a:cs typeface="Times New Roman" panose="02020603050405020304" pitchFamily="18" charset="0"/>
              </a:rPr>
              <a:t> </a:t>
            </a:r>
            <a:r>
              <a:rPr lang="ru-RU" sz="2000" b="1" dirty="0">
                <a:latin typeface="Times New Roman" panose="02020603050405020304" pitchFamily="18" charset="0"/>
                <a:cs typeface="Times New Roman" panose="02020603050405020304" pitchFamily="18" charset="0"/>
              </a:rPr>
              <a:t>:</a:t>
            </a:r>
          </a:p>
          <a:p>
            <a:pPr algn="l" rtl="0"/>
            <a:r>
              <a:rPr lang="ru-RU" sz="2000" dirty="0">
                <a:latin typeface="Times New Roman" panose="02020603050405020304" pitchFamily="18" charset="0"/>
                <a:cs typeface="Times New Roman" panose="02020603050405020304" pitchFamily="18" charset="0"/>
              </a:rPr>
              <a:t>• Үшінші тарап құралдарын біріктіру үшін лицензияны ұзарту уақыт алуы мүмкін.</a:t>
            </a:r>
          </a:p>
        </p:txBody>
      </p:sp>
      <p:pic>
        <p:nvPicPr>
          <p:cNvPr id="4" name="Рисунок 3">
            <a:extLst>
              <a:ext uri="{FF2B5EF4-FFF2-40B4-BE49-F238E27FC236}">
                <a16:creationId xmlns:a16="http://schemas.microsoft.com/office/drawing/2014/main" xmlns="" id="{29FCA620-2635-40D2-9F52-6AC822AECA43}"/>
              </a:ext>
            </a:extLst>
          </p:cNvPr>
          <p:cNvPicPr>
            <a:picLocks noChangeAspect="1"/>
          </p:cNvPicPr>
          <p:nvPr/>
        </p:nvPicPr>
        <p:blipFill>
          <a:blip r:embed="rId2"/>
          <a:stretch>
            <a:fillRect/>
          </a:stretch>
        </p:blipFill>
        <p:spPr>
          <a:xfrm>
            <a:off x="191344" y="0"/>
            <a:ext cx="1944216" cy="1466850"/>
          </a:xfrm>
          <a:prstGeom prst="rect">
            <a:avLst/>
          </a:prstGeom>
        </p:spPr>
      </p:pic>
      <p:sp>
        <p:nvSpPr>
          <p:cNvPr id="6" name="TextBox 5">
            <a:extLst>
              <a:ext uri="{FF2B5EF4-FFF2-40B4-BE49-F238E27FC236}">
                <a16:creationId xmlns:a16="http://schemas.microsoft.com/office/drawing/2014/main" xmlns="" id="{BBF8C9C2-18CE-4E44-ABCA-26F3031FF7EC}"/>
              </a:ext>
            </a:extLst>
          </p:cNvPr>
          <p:cNvSpPr txBox="1"/>
          <p:nvPr/>
        </p:nvSpPr>
        <p:spPr>
          <a:xfrm>
            <a:off x="2207568" y="188640"/>
            <a:ext cx="9577064" cy="1200329"/>
          </a:xfrm>
          <a:prstGeom prst="rect">
            <a:avLst/>
          </a:prstGeom>
          <a:noFill/>
        </p:spPr>
        <p:txBody>
          <a:bodyPr wrap="square">
            <a:spAutoFit/>
          </a:bodyPr>
          <a:lstStyle/>
          <a:p>
            <a:pPr algn="just"/>
            <a:r>
              <a:rPr lang="ru-RU" sz="2400" dirty="0" err="1">
                <a:latin typeface="Times New Roman" panose="02020603050405020304" pitchFamily="18" charset="0"/>
                <a:cs typeface="Times New Roman" panose="02020603050405020304" pitchFamily="18" charset="0"/>
              </a:rPr>
              <a:t>Microsoft</a:t>
            </a:r>
            <a:r>
              <a:rPr lang="ru-RU"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Access</a:t>
            </a:r>
            <a:r>
              <a:rPr lang="ru-RU" sz="2400" dirty="0">
                <a:latin typeface="Times New Roman" panose="02020603050405020304" pitchFamily="18" charset="0"/>
                <a:cs typeface="Times New Roman" panose="02020603050405020304" pitchFamily="18" charset="0"/>
              </a:rPr>
              <a:t> тек </a:t>
            </a:r>
            <a:r>
              <a:rPr lang="ru-RU" sz="2400" dirty="0" err="1">
                <a:latin typeface="Times New Roman" panose="02020603050405020304" pitchFamily="18" charset="0"/>
                <a:cs typeface="Times New Roman" panose="02020603050405020304" pitchFamily="18" charset="0"/>
              </a:rPr>
              <a:t>Windows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операциялық</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жүйесінде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жұмыс</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істейді</a:t>
            </a:r>
            <a:r>
              <a:rPr lang="ru-RU" sz="2400" dirty="0">
                <a:latin typeface="Times New Roman" panose="02020603050405020304" pitchFamily="18" charset="0"/>
                <a:cs typeface="Times New Roman" panose="02020603050405020304" pitchFamily="18" charset="0"/>
              </a:rPr>
              <a:t>. Бұл сіздің бизнес қажеттіліктеріңізге сай әртүрлі пішімдерде пайдаланушы дерекқорларын жасаудың тамаша құралы.</a:t>
            </a:r>
            <a:endParaRPr lang="kk-KZ"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8752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604F95C-B077-4412-85CC-76210037B7DF}"/>
              </a:ext>
            </a:extLst>
          </p:cNvPr>
          <p:cNvSpPr txBox="1"/>
          <p:nvPr/>
        </p:nvSpPr>
        <p:spPr>
          <a:xfrm>
            <a:off x="2351584" y="332656"/>
            <a:ext cx="9001000" cy="830997"/>
          </a:xfrm>
          <a:prstGeom prst="rect">
            <a:avLst/>
          </a:prstGeom>
          <a:noFill/>
        </p:spPr>
        <p:txBody>
          <a:bodyPr wrap="square">
            <a:spAutoFit/>
          </a:bodyPr>
          <a:lstStyle/>
          <a:p>
            <a:pPr algn="ctr" rtl="0"/>
            <a:r>
              <a:rPr lang="ru-RU" sz="2400" b="1" dirty="0">
                <a:latin typeface="Times New Roman" panose="02020603050405020304" pitchFamily="18" charset="0"/>
                <a:cs typeface="Times New Roman" panose="02020603050405020304" pitchFamily="18" charset="0"/>
              </a:rPr>
              <a:t>Мәліметтер қорының құрылымын құру.</a:t>
            </a:r>
            <a:endParaRPr lang="en-US" sz="2400" b="1" dirty="0">
              <a:latin typeface="Times New Roman" panose="02020603050405020304" pitchFamily="18" charset="0"/>
              <a:cs typeface="Times New Roman" panose="02020603050405020304" pitchFamily="18" charset="0"/>
            </a:endParaRPr>
          </a:p>
          <a:p>
            <a:pPr algn="ctr" rtl="0"/>
            <a:r>
              <a:rPr lang="ru-RU" sz="2400" dirty="0">
                <a:latin typeface="Times New Roman" panose="02020603050405020304" pitchFamily="18" charset="0"/>
                <a:cs typeface="Times New Roman" panose="02020603050405020304" pitchFamily="18" charset="0"/>
              </a:rPr>
              <a:t>Деректерді өңдеу және SQL пайдалану</a:t>
            </a:r>
            <a:r>
              <a:rPr lang="ru-RU" dirty="0"/>
              <a:t>.</a:t>
            </a:r>
            <a:endParaRPr lang="kk-KZ" dirty="0"/>
          </a:p>
        </p:txBody>
      </p:sp>
      <p:sp>
        <p:nvSpPr>
          <p:cNvPr id="5" name="TextBox 4">
            <a:extLst>
              <a:ext uri="{FF2B5EF4-FFF2-40B4-BE49-F238E27FC236}">
                <a16:creationId xmlns:a16="http://schemas.microsoft.com/office/drawing/2014/main" xmlns="" id="{820EA742-EA7F-4406-8C15-E0457D1E5000}"/>
              </a:ext>
            </a:extLst>
          </p:cNvPr>
          <p:cNvSpPr txBox="1"/>
          <p:nvPr/>
        </p:nvSpPr>
        <p:spPr>
          <a:xfrm>
            <a:off x="1487488" y="1556792"/>
            <a:ext cx="10297144" cy="3477875"/>
          </a:xfrm>
          <a:prstGeom prst="rect">
            <a:avLst/>
          </a:prstGeom>
          <a:noFill/>
        </p:spPr>
        <p:txBody>
          <a:bodyPr wrap="square">
            <a:spAutoFit/>
          </a:bodyPr>
          <a:lstStyle/>
          <a:p>
            <a:pPr algn="l" rtl="0"/>
            <a:r>
              <a:rPr lang="ru-RU" sz="2000" b="1" dirty="0" err="1">
                <a:latin typeface="Times New Roman" panose="02020603050405020304" pitchFamily="18" charset="0"/>
                <a:cs typeface="Times New Roman" panose="02020603050405020304" pitchFamily="18" charset="0"/>
              </a:rPr>
              <a:t>Сұраныс</a:t>
            </a:r>
            <a:r>
              <a:rPr lang="ru-RU" sz="2000" b="1" dirty="0">
                <a:latin typeface="Times New Roman" panose="02020603050405020304" pitchFamily="18" charset="0"/>
                <a:cs typeface="Times New Roman" panose="02020603050405020304" pitchFamily="18" charset="0"/>
              </a:rPr>
              <a:t> - </a:t>
            </a:r>
            <a:r>
              <a:rPr lang="ru-RU" sz="2000" dirty="0" err="1">
                <a:latin typeface="Times New Roman" panose="02020603050405020304" pitchFamily="18" charset="0"/>
                <a:cs typeface="Times New Roman" panose="02020603050405020304" pitchFamily="18" charset="0"/>
              </a:rPr>
              <a:t>дерекқордан</a:t>
            </a:r>
            <a:r>
              <a:rPr lang="ru-RU" sz="2000" dirty="0">
                <a:latin typeface="Times New Roman" panose="02020603050405020304" pitchFamily="18" charset="0"/>
                <a:cs typeface="Times New Roman" panose="02020603050405020304" pitchFamily="18" charset="0"/>
              </a:rPr>
              <a:t> деректерді алу үшін пайдаланылатын дерекқор </a:t>
            </a:r>
            <a:r>
              <a:rPr lang="ru-RU" sz="2000" dirty="0" err="1">
                <a:latin typeface="Times New Roman" panose="02020603050405020304" pitchFamily="18" charset="0"/>
                <a:cs typeface="Times New Roman" panose="02020603050405020304" pitchFamily="18" charset="0"/>
              </a:rPr>
              <a:t>термині</a:t>
            </a:r>
            <a:r>
              <a:rPr lang="ru-RU" sz="2000" dirty="0">
                <a:latin typeface="Times New Roman" panose="02020603050405020304" pitchFamily="18" charset="0"/>
                <a:cs typeface="Times New Roman" panose="02020603050405020304" pitchFamily="18" charset="0"/>
              </a:rPr>
              <a:t>.</a:t>
            </a:r>
          </a:p>
          <a:p>
            <a:pPr algn="l" rtl="0"/>
            <a:endParaRPr lang="ru-RU" sz="2000" dirty="0">
              <a:latin typeface="Times New Roman" panose="02020603050405020304" pitchFamily="18" charset="0"/>
              <a:cs typeface="Times New Roman" panose="02020603050405020304" pitchFamily="18" charset="0"/>
            </a:endParaRPr>
          </a:p>
          <a:p>
            <a:pPr algn="l" rtl="0"/>
            <a:r>
              <a:rPr lang="ru-RU" sz="2000" dirty="0">
                <a:latin typeface="Times New Roman" panose="02020603050405020304" pitchFamily="18" charset="0"/>
                <a:cs typeface="Times New Roman" panose="02020603050405020304" pitchFamily="18" charset="0"/>
              </a:rPr>
              <a:t>• Мәліметтер қорына сұраныстарды жазу үшін SQL </a:t>
            </a:r>
            <a:r>
              <a:rPr lang="ru-RU" sz="2000" dirty="0" err="1">
                <a:latin typeface="Times New Roman" panose="02020603050405020304" pitchFamily="18" charset="0"/>
                <a:cs typeface="Times New Roman" panose="02020603050405020304" pitchFamily="18" charset="0"/>
              </a:rPr>
              <a:t>қолданылады</a:t>
            </a:r>
            <a:r>
              <a:rPr lang="ru-RU" sz="2000" dirty="0">
                <a:latin typeface="Times New Roman" panose="02020603050405020304" pitchFamily="18" charset="0"/>
                <a:cs typeface="Times New Roman" panose="02020603050405020304" pitchFamily="18" charset="0"/>
              </a:rPr>
              <a:t> </a:t>
            </a:r>
          </a:p>
          <a:p>
            <a:pPr algn="l" rtl="0"/>
            <a:r>
              <a:rPr lang="ru-RU" sz="2000" dirty="0">
                <a:latin typeface="Times New Roman" panose="02020603050405020304" pitchFamily="18" charset="0"/>
                <a:cs typeface="Times New Roman" panose="02020603050405020304" pitchFamily="18" charset="0"/>
              </a:rPr>
              <a:t>SQL - Құрылымдық сұраныс тілі.</a:t>
            </a:r>
          </a:p>
          <a:p>
            <a:pPr algn="l" rtl="0"/>
            <a:r>
              <a:rPr lang="ru-RU" sz="2000" dirty="0">
                <a:latin typeface="Times New Roman" panose="02020603050405020304" pitchFamily="18" charset="0"/>
                <a:cs typeface="Times New Roman" panose="02020603050405020304" pitchFamily="18" charset="0"/>
              </a:rPr>
              <a:t>SQL тілінің өзіндік </a:t>
            </a:r>
            <a:r>
              <a:rPr lang="ru-RU" sz="2000" dirty="0" err="1">
                <a:latin typeface="Times New Roman" panose="02020603050405020304" pitchFamily="18" charset="0"/>
                <a:cs typeface="Times New Roman" panose="02020603050405020304" pitchFamily="18" charset="0"/>
              </a:rPr>
              <a:t>синтаксисі</a:t>
            </a:r>
            <a:r>
              <a:rPr lang="ru-RU" sz="2000" dirty="0">
                <a:latin typeface="Times New Roman" panose="02020603050405020304" pitchFamily="18" charset="0"/>
                <a:cs typeface="Times New Roman" panose="02020603050405020304" pitchFamily="18" charset="0"/>
              </a:rPr>
              <a:t> бар: </a:t>
            </a:r>
          </a:p>
          <a:p>
            <a:pPr marL="342900" indent="-342900" algn="l" rtl="0">
              <a:buFont typeface="Arial" panose="020B0604020202020204" pitchFamily="34" charset="0"/>
              <a:buChar char="•"/>
            </a:pPr>
            <a:r>
              <a:rPr lang="ru-RU" sz="2000" dirty="0">
                <a:latin typeface="Times New Roman" panose="02020603050405020304" pitchFamily="18" charset="0"/>
                <a:cs typeface="Times New Roman" panose="02020603050405020304" pitchFamily="18" charset="0"/>
              </a:rPr>
              <a:t> SQL Data Definition Language (DDL).</a:t>
            </a:r>
          </a:p>
          <a:p>
            <a:pPr algn="l" rtl="0"/>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Деректерді</a:t>
            </a:r>
            <a:r>
              <a:rPr lang="ru-RU" sz="2000" dirty="0">
                <a:latin typeface="Times New Roman" panose="02020603050405020304" pitchFamily="18" charset="0"/>
                <a:cs typeface="Times New Roman" panose="02020603050405020304" pitchFamily="18" charset="0"/>
              </a:rPr>
              <a:t> өңдеу тілі (DML).</a:t>
            </a:r>
          </a:p>
          <a:p>
            <a:pPr algn="l" rtl="0"/>
            <a:r>
              <a:rPr lang="ru-RU" sz="2000" dirty="0">
                <a:latin typeface="Times New Roman" panose="02020603050405020304" pitchFamily="18" charset="0"/>
                <a:cs typeface="Times New Roman" panose="02020603050405020304" pitchFamily="18" charset="0"/>
              </a:rPr>
              <a:t>• Деректерді анықтау тілі дерекқордың құрылымын немесе схемасын анықтауға көмектеседі.</a:t>
            </a:r>
          </a:p>
          <a:p>
            <a:pPr algn="l" rtl="0"/>
            <a:r>
              <a:rPr lang="ru-RU" sz="2000" dirty="0">
                <a:latin typeface="Times New Roman" panose="02020603050405020304" pitchFamily="18" charset="0"/>
                <a:cs typeface="Times New Roman" panose="02020603050405020304" pitchFamily="18" charset="0"/>
              </a:rPr>
              <a:t>• Деректерді өңдеу тілі (DML) дерекқор данасын дерекқор деректерін енгізу, өзгерту және жою арқылы өзгертуге мүмкіндік береді. Ол дерекқордағы деректерді өзгертудің барлық түрлерін орындауға жауапты.</a:t>
            </a:r>
          </a:p>
        </p:txBody>
      </p:sp>
    </p:spTree>
    <p:extLst>
      <p:ext uri="{BB962C8B-B14F-4D97-AF65-F5344CB8AC3E}">
        <p14:creationId xmlns:p14="http://schemas.microsoft.com/office/powerpoint/2010/main" val="4159928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F95491E2-A7F9-46AB-81F4-3CA2B7E19092}"/>
              </a:ext>
            </a:extLst>
          </p:cNvPr>
          <p:cNvSpPr txBox="1"/>
          <p:nvPr/>
        </p:nvSpPr>
        <p:spPr>
          <a:xfrm>
            <a:off x="2279576" y="332656"/>
            <a:ext cx="5544616" cy="461665"/>
          </a:xfrm>
          <a:prstGeom prst="rect">
            <a:avLst/>
          </a:prstGeom>
          <a:noFill/>
        </p:spPr>
        <p:txBody>
          <a:bodyPr wrap="square">
            <a:spAutoFit/>
          </a:bodyPr>
          <a:lstStyle/>
          <a:p>
            <a:pPr algn="l" rtl="0"/>
            <a:r>
              <a:rPr lang="ru-RU" sz="2400" b="1" dirty="0">
                <a:latin typeface="Times New Roman" panose="02020603050405020304" pitchFamily="18" charset="0"/>
                <a:cs typeface="Times New Roman" panose="02020603050405020304" pitchFamily="18" charset="0"/>
              </a:rPr>
              <a:t>Мәліметтерді ұсыну және есеп беру</a:t>
            </a:r>
            <a:endParaRPr lang="kk-KZ"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455BDA63-6628-440C-92FA-45C5EB2EB573}"/>
              </a:ext>
            </a:extLst>
          </p:cNvPr>
          <p:cNvSpPr txBox="1"/>
          <p:nvPr/>
        </p:nvSpPr>
        <p:spPr>
          <a:xfrm>
            <a:off x="1631504" y="1196752"/>
            <a:ext cx="10081120" cy="2554545"/>
          </a:xfrm>
          <a:prstGeom prst="rect">
            <a:avLst/>
          </a:prstGeom>
          <a:noFill/>
        </p:spPr>
        <p:txBody>
          <a:bodyPr wrap="square">
            <a:spAutoFit/>
          </a:bodyPr>
          <a:lstStyle/>
          <a:p>
            <a:pPr algn="l" rtl="0"/>
            <a:r>
              <a:rPr lang="ru-RU" dirty="0"/>
              <a:t>•</a:t>
            </a:r>
            <a:r>
              <a:rPr lang="ru-RU" sz="2000" dirty="0" err="1">
                <a:latin typeface="Times New Roman" panose="02020603050405020304" pitchFamily="18" charset="0"/>
                <a:cs typeface="Times New Roman" panose="02020603050405020304" pitchFamily="18" charset="0"/>
              </a:rPr>
              <a:t>Деректеріңізді</a:t>
            </a:r>
            <a:r>
              <a:rPr lang="ru-RU" sz="2000" dirty="0">
                <a:latin typeface="Times New Roman" panose="02020603050405020304" pitchFamily="18" charset="0"/>
                <a:cs typeface="Times New Roman" panose="02020603050405020304" pitchFamily="18" charset="0"/>
              </a:rPr>
              <a:t> оқуға оңай, көрнекі түрде тартымды форматта ұйымдастыруға және ұсынуға мүмкіндік береді.</a:t>
            </a:r>
            <a:endParaRPr lang="en-US" sz="2000" dirty="0">
              <a:latin typeface="Times New Roman" panose="02020603050405020304" pitchFamily="18" charset="0"/>
              <a:cs typeface="Times New Roman" panose="02020603050405020304" pitchFamily="18" charset="0"/>
            </a:endParaRPr>
          </a:p>
          <a:p>
            <a:pPr algn="l" rtl="0"/>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Дерекқордағы</a:t>
            </a:r>
            <a:r>
              <a:rPr lang="ru-RU" sz="2000" dirty="0">
                <a:latin typeface="Times New Roman" panose="02020603050405020304" pitchFamily="18" charset="0"/>
                <a:cs typeface="Times New Roman" panose="02020603050405020304" pitchFamily="18" charset="0"/>
              </a:rPr>
              <a:t> кез келген сұраудан немесе кестеден деректерді пайдаланып есептерді оңай жасауға және теңшеуге мүмкіндік береді.</a:t>
            </a:r>
          </a:p>
          <a:p>
            <a:pPr algn="l" rtl="0"/>
            <a:r>
              <a:rPr lang="ru-RU" sz="2000" dirty="0">
                <a:latin typeface="Times New Roman" panose="02020603050405020304" pitchFamily="18" charset="0"/>
                <a:cs typeface="Times New Roman" panose="02020603050405020304" pitchFamily="18" charset="0"/>
              </a:rPr>
              <a:t>• Есептер бір немесе бірнеше кестелерден немесе сұраулардан жасалады. Бірнеше кестелерді пайдалану үшін алдымен сол кестелерден деректерді алу үшін сұрау жасау керек.</a:t>
            </a:r>
            <a:endParaRPr lang="en-US" sz="2000" dirty="0">
              <a:latin typeface="Times New Roman" panose="02020603050405020304" pitchFamily="18" charset="0"/>
              <a:cs typeface="Times New Roman" panose="02020603050405020304" pitchFamily="18" charset="0"/>
            </a:endParaRPr>
          </a:p>
          <a:p>
            <a:pPr algn="l" rtl="0"/>
            <a:r>
              <a:rPr lang="ru-RU" sz="2000" dirty="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А</a:t>
            </a:r>
            <a:r>
              <a:rPr lang="en-US" sz="2000" dirty="0" err="1" smtClean="0">
                <a:latin typeface="Times New Roman" panose="02020603050405020304" pitchFamily="18" charset="0"/>
                <a:cs typeface="Times New Roman" panose="02020603050405020304" pitchFamily="18" charset="0"/>
              </a:rPr>
              <a:t>ccess</a:t>
            </a:r>
            <a:r>
              <a:rPr lang="ru-RU" sz="2000" dirty="0" smtClean="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жүйесінде</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есеп</a:t>
            </a:r>
            <a:r>
              <a:rPr lang="ru-RU" sz="2000" dirty="0">
                <a:latin typeface="Times New Roman" panose="02020603050405020304" pitchFamily="18" charset="0"/>
                <a:cs typeface="Times New Roman" panose="02020603050405020304" pitchFamily="18" charset="0"/>
              </a:rPr>
              <a:t> (отчет) </a:t>
            </a:r>
            <a:r>
              <a:rPr lang="ru-RU" sz="2000" dirty="0" err="1">
                <a:latin typeface="Times New Roman" panose="02020603050405020304" pitchFamily="18" charset="0"/>
                <a:cs typeface="Times New Roman" panose="02020603050405020304" pitchFamily="18" charset="0"/>
              </a:rPr>
              <a:t>құрудың</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негізгі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жолдары</a:t>
            </a:r>
            <a:r>
              <a:rPr lang="ru-RU" sz="2000" dirty="0">
                <a:latin typeface="Times New Roman" panose="02020603050405020304" pitchFamily="18" charset="0"/>
                <a:cs typeface="Times New Roman" panose="02020603050405020304" pitchFamily="18" charset="0"/>
              </a:rPr>
              <a:t> бар</a:t>
            </a:r>
          </a:p>
        </p:txBody>
      </p:sp>
      <p:pic>
        <p:nvPicPr>
          <p:cNvPr id="6" name="Рисунок 5">
            <a:extLst>
              <a:ext uri="{FF2B5EF4-FFF2-40B4-BE49-F238E27FC236}">
                <a16:creationId xmlns:a16="http://schemas.microsoft.com/office/drawing/2014/main" xmlns="" id="{0943CBB6-D764-40F4-8A31-B02B29ED1937}"/>
              </a:ext>
            </a:extLst>
          </p:cNvPr>
          <p:cNvPicPr>
            <a:picLocks noChangeAspect="1"/>
          </p:cNvPicPr>
          <p:nvPr/>
        </p:nvPicPr>
        <p:blipFill>
          <a:blip r:embed="rId2"/>
          <a:stretch>
            <a:fillRect/>
          </a:stretch>
        </p:blipFill>
        <p:spPr>
          <a:xfrm>
            <a:off x="1805744" y="3933056"/>
            <a:ext cx="9372600" cy="2248532"/>
          </a:xfrm>
          <a:prstGeom prst="rect">
            <a:avLst/>
          </a:prstGeom>
        </p:spPr>
      </p:pic>
    </p:spTree>
    <p:extLst>
      <p:ext uri="{BB962C8B-B14F-4D97-AF65-F5344CB8AC3E}">
        <p14:creationId xmlns:p14="http://schemas.microsoft.com/office/powerpoint/2010/main" val="528390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BC6CE0CD-B17D-463F-9DE2-475551A192BC}"/>
              </a:ext>
            </a:extLst>
          </p:cNvPr>
          <p:cNvSpPr txBox="1"/>
          <p:nvPr/>
        </p:nvSpPr>
        <p:spPr>
          <a:xfrm>
            <a:off x="2639616" y="260648"/>
            <a:ext cx="6096000" cy="461665"/>
          </a:xfrm>
          <a:prstGeom prst="rect">
            <a:avLst/>
          </a:prstGeom>
          <a:noFill/>
        </p:spPr>
        <p:txBody>
          <a:bodyPr wrap="square">
            <a:spAutoFit/>
          </a:bodyPr>
          <a:lstStyle/>
          <a:p>
            <a:pPr algn="l" rtl="0"/>
            <a:r>
              <a:rPr lang="kk-KZ" sz="2400" b="1" dirty="0">
                <a:latin typeface="Times New Roman" panose="02020603050405020304" pitchFamily="18" charset="0"/>
                <a:cs typeface="Times New Roman" panose="02020603050405020304" pitchFamily="18" charset="0"/>
              </a:rPr>
              <a:t>Аналогтық және цифрлық түрлендіру</a:t>
            </a:r>
          </a:p>
        </p:txBody>
      </p:sp>
      <p:sp>
        <p:nvSpPr>
          <p:cNvPr id="5" name="TextBox 4">
            <a:extLst>
              <a:ext uri="{FF2B5EF4-FFF2-40B4-BE49-F238E27FC236}">
                <a16:creationId xmlns:a16="http://schemas.microsoft.com/office/drawing/2014/main" xmlns="" id="{AC2536ED-91CC-4A5C-B374-B47EAB784A8A}"/>
              </a:ext>
            </a:extLst>
          </p:cNvPr>
          <p:cNvSpPr txBox="1"/>
          <p:nvPr/>
        </p:nvSpPr>
        <p:spPr>
          <a:xfrm>
            <a:off x="1487488" y="747371"/>
            <a:ext cx="10369152" cy="4401205"/>
          </a:xfrm>
          <a:prstGeom prst="rect">
            <a:avLst/>
          </a:prstGeom>
          <a:noFill/>
        </p:spPr>
        <p:txBody>
          <a:bodyPr wrap="square">
            <a:spAutoFit/>
          </a:bodyPr>
          <a:lstStyle/>
          <a:p>
            <a:pPr algn="l" rtl="0"/>
            <a:r>
              <a:rPr lang="ru-RU" sz="2000" b="1" dirty="0">
                <a:latin typeface="Times New Roman" panose="02020603050405020304" pitchFamily="18" charset="0"/>
                <a:cs typeface="Times New Roman" panose="02020603050405020304" pitchFamily="18" charset="0"/>
              </a:rPr>
              <a:t>Аналогтық түрлендіру:</a:t>
            </a:r>
          </a:p>
          <a:p>
            <a:pPr algn="l" rtl="0"/>
            <a:r>
              <a:rPr lang="ru-RU" sz="2000" dirty="0">
                <a:latin typeface="Times New Roman" panose="02020603050405020304" pitchFamily="18" charset="0"/>
                <a:cs typeface="Times New Roman" panose="02020603050405020304" pitchFamily="18" charset="0"/>
              </a:rPr>
              <a:t>Аналогтық деректер – белгілі бір диапазонда кез келген мәнді қабылдай алатын үздіксіз деректер.</a:t>
            </a:r>
          </a:p>
          <a:p>
            <a:pPr algn="l" rtl="0"/>
            <a:r>
              <a:rPr lang="ru-RU" sz="2000" b="1" dirty="0" err="1">
                <a:latin typeface="Times New Roman" panose="02020603050405020304" pitchFamily="18" charset="0"/>
                <a:cs typeface="Times New Roman" panose="02020603050405020304" pitchFamily="18" charset="0"/>
              </a:rPr>
              <a:t>Аналогтық</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түрлендіру</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аналогтық</a:t>
            </a:r>
            <a:r>
              <a:rPr lang="ru-RU" sz="2000" dirty="0">
                <a:latin typeface="Times New Roman" panose="02020603050405020304" pitchFamily="18" charset="0"/>
                <a:cs typeface="Times New Roman" panose="02020603050405020304" pitchFamily="18" charset="0"/>
              </a:rPr>
              <a:t> деректерді цифрлық жүйелерде пайдалану үшін өзгерту процесі болып </a:t>
            </a:r>
            <a:r>
              <a:rPr lang="ru-RU" sz="2000" dirty="0" err="1">
                <a:latin typeface="Times New Roman" panose="02020603050405020304" pitchFamily="18" charset="0"/>
                <a:cs typeface="Times New Roman" panose="02020603050405020304" pitchFamily="18" charset="0"/>
              </a:rPr>
              <a:t>табылады</a:t>
            </a:r>
            <a:r>
              <a:rPr lang="ru-RU"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algn="l" rtl="0"/>
            <a:r>
              <a:rPr lang="ru-RU" sz="2000" b="1" dirty="0" err="1" smtClean="0">
                <a:latin typeface="Times New Roman" panose="02020603050405020304" pitchFamily="18" charset="0"/>
                <a:cs typeface="Times New Roman" panose="02020603050405020304" pitchFamily="18" charset="0"/>
              </a:rPr>
              <a:t>Мысалы</a:t>
            </a:r>
            <a:r>
              <a:rPr lang="ru-RU" sz="2000" b="1"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аналогтық</a:t>
            </a:r>
            <a:r>
              <a:rPr lang="ru-RU" sz="2000" dirty="0">
                <a:latin typeface="Times New Roman" panose="02020603050405020304" pitchFamily="18" charset="0"/>
                <a:cs typeface="Times New Roman" panose="02020603050405020304" pitchFamily="18" charset="0"/>
              </a:rPr>
              <a:t> дыбысты аналогты-сандық түрлендіргіштің (ADC) көмегімен сандық пішімге түрлендіруге болады.</a:t>
            </a:r>
          </a:p>
          <a:p>
            <a:pPr algn="l" rtl="0"/>
            <a:endParaRPr lang="ru-RU" sz="2000" b="1" dirty="0">
              <a:latin typeface="Times New Roman" panose="02020603050405020304" pitchFamily="18" charset="0"/>
              <a:cs typeface="Times New Roman" panose="02020603050405020304" pitchFamily="18" charset="0"/>
            </a:endParaRPr>
          </a:p>
          <a:p>
            <a:pPr algn="l" rtl="0"/>
            <a:r>
              <a:rPr lang="ru-RU" sz="2000" b="1" dirty="0">
                <a:latin typeface="Times New Roman" panose="02020603050405020304" pitchFamily="18" charset="0"/>
                <a:cs typeface="Times New Roman" panose="02020603050405020304" pitchFamily="18" charset="0"/>
              </a:rPr>
              <a:t>Сандық түрлендіру:</a:t>
            </a:r>
          </a:p>
          <a:p>
            <a:pPr algn="l" rtl="0"/>
            <a:r>
              <a:rPr lang="ru-RU" sz="2000" b="1" dirty="0" err="1">
                <a:latin typeface="Times New Roman" panose="02020603050405020304" pitchFamily="18" charset="0"/>
                <a:cs typeface="Times New Roman" panose="02020603050405020304" pitchFamily="18" charset="0"/>
              </a:rPr>
              <a:t>Сандық</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деректер</a:t>
            </a:r>
            <a:r>
              <a:rPr lang="ru-RU" sz="2000" b="1"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мәндердің</a:t>
            </a:r>
            <a:r>
              <a:rPr lang="ru-RU" sz="2000" dirty="0">
                <a:latin typeface="Times New Roman" panose="02020603050405020304" pitchFamily="18" charset="0"/>
                <a:cs typeface="Times New Roman" panose="02020603050405020304" pitchFamily="18" charset="0"/>
              </a:rPr>
              <a:t> шектеулі санын қабылдай алатын дискретті деректер. Олар әдетте сандар немесе бит реттілігі ретінде ұсынылады.</a:t>
            </a:r>
          </a:p>
          <a:p>
            <a:pPr algn="l" rtl="0"/>
            <a:r>
              <a:rPr lang="ru-RU" sz="2000" b="1" dirty="0" err="1">
                <a:latin typeface="Times New Roman" panose="02020603050405020304" pitchFamily="18" charset="0"/>
                <a:cs typeface="Times New Roman" panose="02020603050405020304" pitchFamily="18" charset="0"/>
              </a:rPr>
              <a:t>Цифрлық</a:t>
            </a:r>
            <a:r>
              <a:rPr lang="ru-RU" sz="2000" b="1" dirty="0">
                <a:latin typeface="Times New Roman" panose="02020603050405020304" pitchFamily="18" charset="0"/>
                <a:cs typeface="Times New Roman" panose="02020603050405020304" pitchFamily="18" charset="0"/>
              </a:rPr>
              <a:t> </a:t>
            </a:r>
            <a:r>
              <a:rPr lang="ru-RU" sz="2000" b="1" dirty="0" err="1">
                <a:latin typeface="Times New Roman" panose="02020603050405020304" pitchFamily="18" charset="0"/>
                <a:cs typeface="Times New Roman" panose="02020603050405020304" pitchFamily="18" charset="0"/>
              </a:rPr>
              <a:t>түрлендіру</a:t>
            </a:r>
            <a:r>
              <a:rPr lang="ru-RU" sz="2000" b="1"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аналогтық</a:t>
            </a:r>
            <a:r>
              <a:rPr lang="ru-RU" sz="2000" dirty="0">
                <a:latin typeface="Times New Roman" panose="02020603050405020304" pitchFamily="18" charset="0"/>
                <a:cs typeface="Times New Roman" panose="02020603050405020304" pitchFamily="18" charset="0"/>
              </a:rPr>
              <a:t> деректерді сандық түрде көрсету процесі болып табылады. Бұл процесс іріктеуді (белгілі бір уақытта аналогты деректерді өлшеу) және кванттауды (өлшенген деректерге сандық мәндерді тағайындауды) қамтиды.</a:t>
            </a:r>
          </a:p>
        </p:txBody>
      </p:sp>
    </p:spTree>
    <p:extLst>
      <p:ext uri="{BB962C8B-B14F-4D97-AF65-F5344CB8AC3E}">
        <p14:creationId xmlns:p14="http://schemas.microsoft.com/office/powerpoint/2010/main" val="77268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rotWithShape="1">
          <a:blip r:embed="rId2" cstate="print"/>
          <a:srcRect l="1891" t="60283" r="7358"/>
          <a:stretch/>
        </p:blipFill>
        <p:spPr bwMode="auto">
          <a:xfrm>
            <a:off x="1919535" y="2797510"/>
            <a:ext cx="8064897" cy="2215666"/>
          </a:xfrm>
          <a:prstGeom prst="rect">
            <a:avLst/>
          </a:prstGeom>
          <a:noFill/>
          <a:ln w="9525">
            <a:noFill/>
            <a:miter lim="800000"/>
            <a:headEnd/>
            <a:tailEnd/>
          </a:ln>
          <a:effectLst/>
        </p:spPr>
      </p:pic>
      <p:sp>
        <p:nvSpPr>
          <p:cNvPr id="4" name="TextBox 3">
            <a:extLst>
              <a:ext uri="{FF2B5EF4-FFF2-40B4-BE49-F238E27FC236}">
                <a16:creationId xmlns:a16="http://schemas.microsoft.com/office/drawing/2014/main" xmlns="" id="{BB856E66-E1A8-4893-9A2F-4F486CF47666}"/>
              </a:ext>
            </a:extLst>
          </p:cNvPr>
          <p:cNvSpPr txBox="1"/>
          <p:nvPr/>
        </p:nvSpPr>
        <p:spPr>
          <a:xfrm>
            <a:off x="1775520" y="340511"/>
            <a:ext cx="9721080" cy="2400657"/>
          </a:xfrm>
          <a:prstGeom prst="rect">
            <a:avLst/>
          </a:prstGeom>
          <a:noFill/>
        </p:spPr>
        <p:txBody>
          <a:bodyPr wrap="square">
            <a:spAutoFit/>
          </a:bodyPr>
          <a:lstStyle/>
          <a:p>
            <a:pPr algn="l" rtl="0"/>
            <a:r>
              <a:rPr lang="ru-RU" sz="2400" b="1" dirty="0">
                <a:latin typeface="Times New Roman" panose="02020603050405020304" pitchFamily="18" charset="0"/>
                <a:cs typeface="Times New Roman" panose="02020603050405020304" pitchFamily="18" charset="0"/>
              </a:rPr>
              <a:t>АКТ-дағы цифрлық трансформация </a:t>
            </a:r>
            <a:r>
              <a:rPr lang="ru-RU" sz="2400" b="1" dirty="0" err="1">
                <a:latin typeface="Times New Roman" panose="02020603050405020304" pitchFamily="18" charset="0"/>
                <a:cs typeface="Times New Roman" panose="02020603050405020304" pitchFamily="18" charset="0"/>
              </a:rPr>
              <a:t>мысалдарына</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жатады</a:t>
            </a:r>
            <a:r>
              <a:rPr lang="ru-RU" sz="2400" b="1" dirty="0">
                <a:latin typeface="Times New Roman" panose="02020603050405020304" pitchFamily="18" charset="0"/>
                <a:cs typeface="Times New Roman" panose="02020603050405020304" pitchFamily="18" charset="0"/>
              </a:rPr>
              <a:t>:</a:t>
            </a:r>
          </a:p>
          <a:p>
            <a:pPr algn="just" rtl="0"/>
            <a:endParaRPr lang="ru-RU" dirty="0">
              <a:latin typeface="Times New Roman" panose="02020603050405020304" pitchFamily="18" charset="0"/>
              <a:cs typeface="Times New Roman" panose="02020603050405020304" pitchFamily="18" charset="0"/>
            </a:endParaRPr>
          </a:p>
          <a:p>
            <a:pPr algn="just" rtl="0"/>
            <a:r>
              <a:rPr lang="ru-RU" b="1" dirty="0">
                <a:latin typeface="Times New Roman" panose="02020603050405020304" pitchFamily="18" charset="0"/>
                <a:cs typeface="Times New Roman" panose="02020603050405020304" pitchFamily="18" charset="0"/>
              </a:rPr>
              <a:t>Сандық </a:t>
            </a:r>
            <a:r>
              <a:rPr lang="ru-RU" b="1" dirty="0" err="1">
                <a:latin typeface="Times New Roman" panose="02020603050405020304" pitchFamily="18" charset="0"/>
                <a:cs typeface="Times New Roman" panose="02020603050405020304" pitchFamily="18" charset="0"/>
              </a:rPr>
              <a:t>фотосурет</a:t>
            </a:r>
            <a:r>
              <a:rPr lang="ru-RU" b="1"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аналогтық</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жарық</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сенсорында</a:t>
            </a:r>
            <a:r>
              <a:rPr lang="ru-RU" dirty="0">
                <a:latin typeface="Times New Roman" panose="02020603050405020304" pitchFamily="18" charset="0"/>
                <a:cs typeface="Times New Roman" panose="02020603050405020304" pitchFamily="18" charset="0"/>
              </a:rPr>
              <a:t> сигнал фотосенсорлар матрицасы мен ADC көмегімен цифрлық кескінге түрлендіріледі.</a:t>
            </a:r>
          </a:p>
          <a:p>
            <a:pPr algn="just" rtl="0"/>
            <a:r>
              <a:rPr lang="ru-RU" b="1" dirty="0">
                <a:latin typeface="Times New Roman" panose="02020603050405020304" pitchFamily="18" charset="0"/>
                <a:cs typeface="Times New Roman" panose="02020603050405020304" pitchFamily="18" charset="0"/>
              </a:rPr>
              <a:t>Сандық музыка: </a:t>
            </a:r>
            <a:r>
              <a:rPr lang="ru-RU" dirty="0" err="1">
                <a:latin typeface="Times New Roman" panose="02020603050405020304" pitchFamily="18" charset="0"/>
                <a:cs typeface="Times New Roman" panose="02020603050405020304" pitchFamily="18" charset="0"/>
              </a:rPr>
              <a:t>Аналогтық</a:t>
            </a:r>
            <a:r>
              <a:rPr lang="ru-RU" dirty="0">
                <a:latin typeface="Times New Roman" panose="02020603050405020304" pitchFamily="18" charset="0"/>
                <a:cs typeface="Times New Roman" panose="02020603050405020304" pitchFamily="18" charset="0"/>
              </a:rPr>
              <a:t> дыбыс микрофондар мен ADC көмегімен цифрлық пішімге түрлендіріледі, содан кейін оны цифрлық түрде өңдеуге және сақтауға болады.</a:t>
            </a:r>
          </a:p>
          <a:p>
            <a:pPr algn="just" rtl="0"/>
            <a:r>
              <a:rPr lang="ru-RU" b="1" dirty="0">
                <a:latin typeface="Times New Roman" panose="02020603050405020304" pitchFamily="18" charset="0"/>
                <a:cs typeface="Times New Roman" panose="02020603050405020304" pitchFamily="18" charset="0"/>
              </a:rPr>
              <a:t>Сандық </a:t>
            </a:r>
            <a:r>
              <a:rPr lang="ru-RU" b="1" dirty="0" err="1">
                <a:latin typeface="Times New Roman" panose="02020603050405020304" pitchFamily="18" charset="0"/>
                <a:cs typeface="Times New Roman" panose="02020603050405020304" pitchFamily="18" charset="0"/>
              </a:rPr>
              <a:t>бейне</a:t>
            </a:r>
            <a:r>
              <a:rPr lang="ru-RU" b="1"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Теледидар</a:t>
            </a:r>
            <a:r>
              <a:rPr lang="ru-RU" dirty="0">
                <a:latin typeface="Times New Roman" panose="02020603050405020304" pitchFamily="18" charset="0"/>
                <a:cs typeface="Times New Roman" panose="02020603050405020304" pitchFamily="18" charset="0"/>
              </a:rPr>
              <a:t> камерасының аналогтық бейне сигналы бейне адаптер мен ADC көмегімен цифрлық форматқа түрлендіріледі.</a:t>
            </a:r>
          </a:p>
        </p:txBody>
      </p:sp>
      <p:sp>
        <p:nvSpPr>
          <p:cNvPr id="6" name="TextBox 5">
            <a:extLst>
              <a:ext uri="{FF2B5EF4-FFF2-40B4-BE49-F238E27FC236}">
                <a16:creationId xmlns:a16="http://schemas.microsoft.com/office/drawing/2014/main" xmlns="" id="{FF5A059B-AE39-4F3A-B789-1D0A71A2259C}"/>
              </a:ext>
            </a:extLst>
          </p:cNvPr>
          <p:cNvSpPr txBox="1"/>
          <p:nvPr/>
        </p:nvSpPr>
        <p:spPr>
          <a:xfrm>
            <a:off x="1631504" y="5229200"/>
            <a:ext cx="9555981" cy="1200329"/>
          </a:xfrm>
          <a:prstGeom prst="rect">
            <a:avLst/>
          </a:prstGeom>
          <a:noFill/>
        </p:spPr>
        <p:txBody>
          <a:bodyPr wrap="square">
            <a:spAutoFit/>
          </a:bodyPr>
          <a:lstStyle/>
          <a:p>
            <a:pPr algn="just" rtl="0"/>
            <a:r>
              <a:rPr lang="ru-RU" dirty="0">
                <a:latin typeface="Times New Roman" panose="02020603050405020304" pitchFamily="18" charset="0"/>
                <a:cs typeface="Times New Roman" panose="02020603050405020304" pitchFamily="18" charset="0"/>
              </a:rPr>
              <a:t>Деректердің цифрлық көрсетілімі аналогтық деректерге қарағанда деректерді сақтау, тасымалдау және өңдеуді жеңілдету, сонымен қатар сапа тұрақтылығын қамтамасыз ету сияқты артықшылықтарға ие. Бұл қазіргі АКТ әлеміндегі цифрлық </a:t>
            </a:r>
            <a:r>
              <a:rPr lang="ru-RU" dirty="0" err="1">
                <a:latin typeface="Times New Roman" panose="02020603050405020304" pitchFamily="18" charset="0"/>
                <a:cs typeface="Times New Roman" panose="02020603050405020304" pitchFamily="18" charset="0"/>
              </a:rPr>
              <a:t>технологиялардың</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танымалдылығымен</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түсіндіріледі</a:t>
            </a:r>
            <a:r>
              <a:rPr lang="ru-RU"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96E0DBA-8A15-4D54-B312-2107667B81CA}"/>
              </a:ext>
            </a:extLst>
          </p:cNvPr>
          <p:cNvSpPr txBox="1"/>
          <p:nvPr/>
        </p:nvSpPr>
        <p:spPr>
          <a:xfrm>
            <a:off x="2783632" y="188640"/>
            <a:ext cx="6097554" cy="461665"/>
          </a:xfrm>
          <a:prstGeom prst="rect">
            <a:avLst/>
          </a:prstGeom>
          <a:noFill/>
        </p:spPr>
        <p:txBody>
          <a:bodyPr wrap="square">
            <a:spAutoFit/>
          </a:bodyPr>
          <a:lstStyle/>
          <a:p>
            <a:pPr algn="l" rtl="0"/>
            <a:r>
              <a:rPr lang="kk-KZ" sz="2400" b="1" dirty="0">
                <a:latin typeface="Times New Roman" panose="02020603050405020304" pitchFamily="18" charset="0"/>
                <a:cs typeface="Times New Roman" panose="02020603050405020304" pitchFamily="18" charset="0"/>
              </a:rPr>
              <a:t>Сандық және аналогтық түрлендіру</a:t>
            </a:r>
          </a:p>
        </p:txBody>
      </p:sp>
      <p:sp>
        <p:nvSpPr>
          <p:cNvPr id="5" name="TextBox 4">
            <a:extLst>
              <a:ext uri="{FF2B5EF4-FFF2-40B4-BE49-F238E27FC236}">
                <a16:creationId xmlns:a16="http://schemas.microsoft.com/office/drawing/2014/main" xmlns="" id="{6A3669D0-4494-44E5-BEF7-752342982B77}"/>
              </a:ext>
            </a:extLst>
          </p:cNvPr>
          <p:cNvSpPr txBox="1"/>
          <p:nvPr/>
        </p:nvSpPr>
        <p:spPr>
          <a:xfrm>
            <a:off x="1631504" y="764704"/>
            <a:ext cx="10225136" cy="2862322"/>
          </a:xfrm>
          <a:prstGeom prst="rect">
            <a:avLst/>
          </a:prstGeom>
          <a:noFill/>
        </p:spPr>
        <p:txBody>
          <a:bodyPr wrap="square">
            <a:spAutoFit/>
          </a:bodyPr>
          <a:lstStyle/>
          <a:p>
            <a:pPr algn="just" rtl="0"/>
            <a:r>
              <a:rPr lang="ru-RU" sz="2000" b="1" dirty="0">
                <a:latin typeface="Times New Roman" panose="02020603050405020304" pitchFamily="18" charset="0"/>
                <a:cs typeface="Times New Roman" panose="02020603050405020304" pitchFamily="18" charset="0"/>
              </a:rPr>
              <a:t>Сандық түрлендіргіш</a:t>
            </a:r>
            <a:r>
              <a:rPr lang="ru-RU" sz="2000" dirty="0">
                <a:latin typeface="Times New Roman" panose="02020603050405020304" pitchFamily="18" charset="0"/>
                <a:cs typeface="Times New Roman" panose="02020603050405020304" pitchFamily="18" charset="0"/>
              </a:rPr>
              <a:t>(CPU, DAC -</a:t>
            </a:r>
            <a:r>
              <a:rPr lang="ru-RU" sz="2000" dirty="0" err="1">
                <a:latin typeface="Times New Roman" panose="02020603050405020304" pitchFamily="18" charset="0"/>
                <a:cs typeface="Times New Roman" panose="02020603050405020304" pitchFamily="18" charset="0"/>
              </a:rPr>
              <a:t>Сандық-аналогтық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түрлендіргіш</a:t>
            </a:r>
            <a:r>
              <a:rPr lang="ru-RU" sz="2000" dirty="0">
                <a:latin typeface="Times New Roman" panose="02020603050405020304" pitchFamily="18" charset="0"/>
                <a:cs typeface="Times New Roman" panose="02020603050405020304" pitchFamily="18" charset="0"/>
              </a:rPr>
              <a:t>):</a:t>
            </a:r>
          </a:p>
          <a:p>
            <a:pPr algn="just" rtl="0"/>
            <a:r>
              <a:rPr lang="ru-RU" sz="2000" dirty="0">
                <a:latin typeface="Times New Roman" panose="02020603050405020304" pitchFamily="18" charset="0"/>
                <a:cs typeface="Times New Roman" panose="02020603050405020304" pitchFamily="18" charset="0"/>
              </a:rPr>
              <a:t>Цифрлаушы цифрлық деректерді аналогтық сигналға түрлендіреді. Ол биттермен (мысалы, 8, 10, 12 бит) ұсынылған сандық кодтарды кіріс ретінде қабылдайды және оларды үздіксіз аналогтық кернеуге немесе токқа түрлендіреді. Бұл микроконтроллерлер немесе компьютерлер сияқты сандық құрылғыларға аналогтық құрылғыларды басқаруға </a:t>
            </a:r>
            <a:r>
              <a:rPr lang="ru-RU" sz="2000" dirty="0" err="1">
                <a:latin typeface="Times New Roman" panose="02020603050405020304" pitchFamily="18" charset="0"/>
                <a:cs typeface="Times New Roman" panose="02020603050405020304" pitchFamily="18" charset="0"/>
              </a:rPr>
              <a:t>мүмкіндік</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береді</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Оған</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дыбыс</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күшейткіштері</a:t>
            </a:r>
            <a:r>
              <a:rPr lang="ru-RU" sz="2000" dirty="0">
                <a:latin typeface="Times New Roman" panose="02020603050405020304" pitchFamily="18" charset="0"/>
                <a:cs typeface="Times New Roman" panose="02020603050405020304" pitchFamily="18" charset="0"/>
              </a:rPr>
              <a:t>, қозғалтқыштар немесе күңгірттенетін </a:t>
            </a:r>
            <a:r>
              <a:rPr lang="ru-RU" sz="2000" dirty="0" err="1">
                <a:latin typeface="Times New Roman" panose="02020603050405020304" pitchFamily="18" charset="0"/>
                <a:cs typeface="Times New Roman" panose="02020603050405020304" pitchFamily="18" charset="0"/>
              </a:rPr>
              <a:t>жарық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диодтары</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жатады</a:t>
            </a:r>
            <a:r>
              <a:rPr lang="ru-RU" sz="2000" dirty="0">
                <a:latin typeface="Times New Roman" panose="02020603050405020304" pitchFamily="18" charset="0"/>
                <a:cs typeface="Times New Roman" panose="02020603050405020304" pitchFamily="18" charset="0"/>
              </a:rPr>
              <a:t>. Сандық түрлендіргіштер жоғары дәлдікпен өзгеретін және әртүрлі аналогтық мәндерді жаңғырта алатын аналогтық сигналдарды жасау үшін қолданылады.</a:t>
            </a:r>
          </a:p>
          <a:p>
            <a:pPr algn="just" rtl="0"/>
            <a:endParaRPr lang="ru-RU" sz="2000" dirty="0">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xmlns="" id="{BC1EE410-1995-4E67-B82D-765520EAEC49}"/>
              </a:ext>
            </a:extLst>
          </p:cNvPr>
          <p:cNvPicPr>
            <a:picLocks noChangeAspect="1"/>
          </p:cNvPicPr>
          <p:nvPr/>
        </p:nvPicPr>
        <p:blipFill rotWithShape="1">
          <a:blip r:embed="rId2"/>
          <a:srcRect l="3845" r="2342"/>
          <a:stretch/>
        </p:blipFill>
        <p:spPr>
          <a:xfrm>
            <a:off x="2135560" y="3485722"/>
            <a:ext cx="8784976" cy="3200677"/>
          </a:xfrm>
          <a:prstGeom prst="rect">
            <a:avLst/>
          </a:prstGeom>
        </p:spPr>
      </p:pic>
    </p:spTree>
    <p:extLst>
      <p:ext uri="{BB962C8B-B14F-4D97-AF65-F5344CB8AC3E}">
        <p14:creationId xmlns:p14="http://schemas.microsoft.com/office/powerpoint/2010/main" val="2589342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96E0DBA-8A15-4D54-B312-2107667B81CA}"/>
              </a:ext>
            </a:extLst>
          </p:cNvPr>
          <p:cNvSpPr txBox="1"/>
          <p:nvPr/>
        </p:nvSpPr>
        <p:spPr>
          <a:xfrm>
            <a:off x="2783632" y="188640"/>
            <a:ext cx="6097554" cy="461665"/>
          </a:xfrm>
          <a:prstGeom prst="rect">
            <a:avLst/>
          </a:prstGeom>
          <a:noFill/>
        </p:spPr>
        <p:txBody>
          <a:bodyPr wrap="square">
            <a:spAutoFit/>
          </a:bodyPr>
          <a:lstStyle/>
          <a:p>
            <a:pPr algn="l" rtl="0"/>
            <a:r>
              <a:rPr lang="kk-KZ" sz="2400" b="1" dirty="0">
                <a:latin typeface="Times New Roman" panose="02020603050405020304" pitchFamily="18" charset="0"/>
                <a:cs typeface="Times New Roman" panose="02020603050405020304" pitchFamily="18" charset="0"/>
              </a:rPr>
              <a:t>Сандық және аналогтық түрлендіру</a:t>
            </a:r>
          </a:p>
        </p:txBody>
      </p:sp>
      <p:sp>
        <p:nvSpPr>
          <p:cNvPr id="5" name="TextBox 4">
            <a:extLst>
              <a:ext uri="{FF2B5EF4-FFF2-40B4-BE49-F238E27FC236}">
                <a16:creationId xmlns:a16="http://schemas.microsoft.com/office/drawing/2014/main" xmlns="" id="{6A3669D0-4494-44E5-BEF7-752342982B77}"/>
              </a:ext>
            </a:extLst>
          </p:cNvPr>
          <p:cNvSpPr txBox="1"/>
          <p:nvPr/>
        </p:nvSpPr>
        <p:spPr>
          <a:xfrm>
            <a:off x="1631504" y="764704"/>
            <a:ext cx="10225136" cy="4401205"/>
          </a:xfrm>
          <a:prstGeom prst="rect">
            <a:avLst/>
          </a:prstGeom>
          <a:noFill/>
        </p:spPr>
        <p:txBody>
          <a:bodyPr wrap="square">
            <a:spAutoFit/>
          </a:bodyPr>
          <a:lstStyle/>
          <a:p>
            <a:pPr algn="just" rtl="0"/>
            <a:r>
              <a:rPr lang="ru-RU" sz="2000" b="1" dirty="0">
                <a:latin typeface="Times New Roman" panose="02020603050405020304" pitchFamily="18" charset="0"/>
                <a:cs typeface="Times New Roman" panose="02020603050405020304" pitchFamily="18" charset="0"/>
              </a:rPr>
              <a:t>Аналогты сандық </a:t>
            </a:r>
            <a:r>
              <a:rPr lang="ru-RU" sz="2000" b="1" dirty="0" err="1">
                <a:latin typeface="Times New Roman" panose="02020603050405020304" pitchFamily="18" charset="0"/>
                <a:cs typeface="Times New Roman" panose="02020603050405020304" pitchFamily="18" charset="0"/>
              </a:rPr>
              <a:t>түрлендіргіш</a:t>
            </a:r>
            <a:r>
              <a:rPr lang="ru-RU" sz="2000" dirty="0">
                <a:latin typeface="Times New Roman" panose="02020603050405020304" pitchFamily="18" charset="0"/>
                <a:cs typeface="Times New Roman" panose="02020603050405020304" pitchFamily="18" charset="0"/>
              </a:rPr>
              <a:t>( ADC, ADC -</a:t>
            </a:r>
            <a:r>
              <a:rPr lang="ru-RU" sz="2000" dirty="0" err="1">
                <a:latin typeface="Times New Roman" panose="02020603050405020304" pitchFamily="18" charset="0"/>
                <a:cs typeface="Times New Roman" panose="02020603050405020304" pitchFamily="18" charset="0"/>
              </a:rPr>
              <a:t>Аналогты-сандық</a:t>
            </a:r>
            <a:r>
              <a:rPr lang="ru-RU" sz="2000" dirty="0">
                <a:latin typeface="Times New Roman" panose="02020603050405020304" pitchFamily="18" charset="0"/>
                <a:cs typeface="Times New Roman" panose="02020603050405020304" pitchFamily="18" charset="0"/>
              </a:rPr>
              <a:t> </a:t>
            </a:r>
            <a:r>
              <a:rPr lang="ru-RU" sz="2000" dirty="0" err="1">
                <a:latin typeface="Times New Roman" panose="02020603050405020304" pitchFamily="18" charset="0"/>
                <a:cs typeface="Times New Roman" panose="02020603050405020304" pitchFamily="18" charset="0"/>
              </a:rPr>
              <a:t>түрлендіргіш</a:t>
            </a:r>
            <a:r>
              <a:rPr lang="ru-RU" sz="2000" dirty="0">
                <a:latin typeface="Times New Roman" panose="02020603050405020304" pitchFamily="18" charset="0"/>
                <a:cs typeface="Times New Roman" panose="02020603050405020304" pitchFamily="18" charset="0"/>
              </a:rPr>
              <a:t>):</a:t>
            </a:r>
          </a:p>
          <a:p>
            <a:pPr algn="just" rtl="0"/>
            <a:r>
              <a:rPr lang="ru-RU" sz="2000" dirty="0">
                <a:latin typeface="Times New Roman" panose="02020603050405020304" pitchFamily="18" charset="0"/>
                <a:cs typeface="Times New Roman" panose="02020603050405020304" pitchFamily="18" charset="0"/>
              </a:rPr>
              <a:t>Аналогты-цифрлық түрлендіргіш кері түрлендіруді орындайды - ол аналогтық сигналды сандық форматқа түрлендіреді. ADC аналогтық кернеу сияқты аналогтық сигналды өлшейді және оны цифрлық кодқа түрлендіреді. ADC ажыратымдылығы биттермен өлшенеді және түрлендіру нәтижесінде ұсынылуы мүмкін деңгейлердің (немесе мәндердің) санын анықтайды. Ажыратымдылық неғұрлым жоғары болса, аналогтық сигналды дәлірек өлшеуге болады. Аналогты-цифрлық түрлендіргіштер өлшеу, медициналық технология, сигналдарды өңдеу және әртүрлі сенсорлардан деректерді алу сияқты әртүрлі қолданбаларда қолданылады.</a:t>
            </a:r>
          </a:p>
          <a:p>
            <a:pPr algn="l" rtl="0"/>
            <a:endParaRPr lang="ru-RU" sz="2000" dirty="0">
              <a:latin typeface="Times New Roman" panose="02020603050405020304" pitchFamily="18" charset="0"/>
              <a:cs typeface="Times New Roman" panose="02020603050405020304" pitchFamily="18" charset="0"/>
            </a:endParaRPr>
          </a:p>
          <a:p>
            <a:pPr algn="l" rtl="0"/>
            <a:endParaRPr lang="ru-RU" sz="2000" dirty="0">
              <a:latin typeface="Times New Roman" panose="02020603050405020304" pitchFamily="18" charset="0"/>
              <a:cs typeface="Times New Roman" panose="02020603050405020304" pitchFamily="18" charset="0"/>
            </a:endParaRPr>
          </a:p>
          <a:p>
            <a:pPr algn="ctr" rtl="0"/>
            <a:r>
              <a:rPr lang="ru-RU" sz="2000" dirty="0">
                <a:latin typeface="Times New Roman" panose="02020603050405020304" pitchFamily="18" charset="0"/>
                <a:cs typeface="Times New Roman" panose="02020603050405020304" pitchFamily="18" charset="0"/>
              </a:rPr>
              <a:t>Орталық процессор мен ADC бірге аналогтық және цифрлық жүйелердің өзара әрекеттесуін қамтамасыз етеді, бұл көптеген заманауи технологиялардың негізгі құрамдас бөлігі болып табылады.</a:t>
            </a:r>
          </a:p>
        </p:txBody>
      </p:sp>
    </p:spTree>
    <p:extLst>
      <p:ext uri="{BB962C8B-B14F-4D97-AF65-F5344CB8AC3E}">
        <p14:creationId xmlns:p14="http://schemas.microsoft.com/office/powerpoint/2010/main" val="2841462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896E0DBA-8A15-4D54-B312-2107667B81CA}"/>
              </a:ext>
            </a:extLst>
          </p:cNvPr>
          <p:cNvSpPr txBox="1"/>
          <p:nvPr/>
        </p:nvSpPr>
        <p:spPr>
          <a:xfrm>
            <a:off x="2783632" y="188640"/>
            <a:ext cx="6097554" cy="461665"/>
          </a:xfrm>
          <a:prstGeom prst="rect">
            <a:avLst/>
          </a:prstGeom>
          <a:noFill/>
        </p:spPr>
        <p:txBody>
          <a:bodyPr wrap="square">
            <a:spAutoFit/>
          </a:bodyPr>
          <a:lstStyle/>
          <a:p>
            <a:pPr algn="l" rtl="0"/>
            <a:r>
              <a:rPr lang="kk-KZ" sz="2400" dirty="0">
                <a:latin typeface="Times New Roman" panose="02020603050405020304" pitchFamily="18" charset="0"/>
                <a:cs typeface="Times New Roman" panose="02020603050405020304" pitchFamily="18" charset="0"/>
              </a:rPr>
              <a:t>М</a:t>
            </a:r>
            <a:r>
              <a:rPr lang="ru-RU" sz="2400" b="0" i="0" dirty="0" err="1">
                <a:effectLst/>
                <a:latin typeface="Times New Roman" panose="02020603050405020304" pitchFamily="18" charset="0"/>
                <a:cs typeface="Times New Roman" panose="02020603050405020304" pitchFamily="18" charset="0"/>
              </a:rPr>
              <a:t>ысал</a:t>
            </a:r>
            <a:r>
              <a:rPr lang="ru-RU" sz="2400" b="0" i="0" dirty="0">
                <a:effectLst/>
                <a:latin typeface="Times New Roman" panose="02020603050405020304" pitchFamily="18" charset="0"/>
                <a:cs typeface="Times New Roman" panose="02020603050405020304" pitchFamily="18" charset="0"/>
              </a:rPr>
              <a:t>: ADC/DAC деректерін түрлендіру.</a:t>
            </a:r>
            <a:endParaRPr lang="kk-KZ"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339AC8F0-7474-4803-8394-A2517AB4FEF9}"/>
              </a:ext>
            </a:extLst>
          </p:cNvPr>
          <p:cNvSpPr txBox="1"/>
          <p:nvPr/>
        </p:nvSpPr>
        <p:spPr>
          <a:xfrm>
            <a:off x="1847528" y="633462"/>
            <a:ext cx="10225136" cy="646331"/>
          </a:xfrm>
          <a:prstGeom prst="rect">
            <a:avLst/>
          </a:prstGeom>
          <a:noFill/>
        </p:spPr>
        <p:txBody>
          <a:bodyPr wrap="square">
            <a:spAutoFit/>
          </a:bodyPr>
          <a:lstStyle/>
          <a:p>
            <a:pPr algn="l" rtl="0"/>
            <a:r>
              <a:rPr lang="ru-RU" dirty="0" err="1">
                <a:latin typeface="Times New Roman" panose="02020603050405020304" pitchFamily="18" charset="0"/>
                <a:cs typeface="Times New Roman" panose="02020603050405020304" pitchFamily="18" charset="0"/>
              </a:rPr>
              <a:t>Аналогты-цифрлық</a:t>
            </a:r>
            <a:r>
              <a:rPr lang="ru-RU" dirty="0">
                <a:latin typeface="Times New Roman" panose="02020603050405020304" pitchFamily="18" charset="0"/>
                <a:cs typeface="Times New Roman" panose="02020603050405020304" pitchFamily="18" charset="0"/>
              </a:rPr>
              <a:t> түрлендіргіштерді (ADC) </a:t>
            </a:r>
            <a:r>
              <a:rPr lang="ru-RU" dirty="0" err="1">
                <a:latin typeface="Times New Roman" panose="02020603050405020304" pitchFamily="18" charset="0"/>
                <a:cs typeface="Times New Roman" panose="02020603050405020304" pitchFamily="18" charset="0"/>
              </a:rPr>
              <a:t>пайдаланып</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жылыжайдағы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температураны</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өлшегіңіз</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келеді</a:t>
            </a:r>
            <a:endParaRPr lang="kk-KZ"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67D53D86-1D1B-46F1-AC56-7A23EA5780D5}"/>
              </a:ext>
            </a:extLst>
          </p:cNvPr>
          <p:cNvSpPr txBox="1"/>
          <p:nvPr/>
        </p:nvSpPr>
        <p:spPr>
          <a:xfrm>
            <a:off x="623392" y="1556792"/>
            <a:ext cx="5688632" cy="2893100"/>
          </a:xfrm>
          <a:prstGeom prst="rect">
            <a:avLst/>
          </a:prstGeom>
          <a:noFill/>
        </p:spPr>
        <p:txBody>
          <a:bodyPr wrap="square">
            <a:spAutoFit/>
          </a:bodyPr>
          <a:lstStyle/>
          <a:p>
            <a:pPr algn="l" rtl="0"/>
            <a:r>
              <a:rPr lang="ru-RU" sz="1400" b="1" dirty="0">
                <a:latin typeface="Times New Roman" panose="02020603050405020304" pitchFamily="18" charset="0"/>
                <a:cs typeface="Times New Roman" panose="02020603050405020304" pitchFamily="18" charset="0"/>
              </a:rPr>
              <a:t>Температураны өлшеу:</a:t>
            </a:r>
          </a:p>
          <a:p>
            <a:pPr algn="l" rtl="0"/>
            <a:r>
              <a:rPr lang="ru-RU" sz="1400" dirty="0">
                <a:latin typeface="Times New Roman" panose="02020603050405020304" pitchFamily="18" charset="0"/>
                <a:cs typeface="Times New Roman" panose="02020603050405020304" pitchFamily="18" charset="0"/>
              </a:rPr>
              <a:t>ADC: Жылыжай ішіндегі ағымдағы температураны көрсететін аналогтық сигналды өлшейтін температура сенсорларын орнатыңыз. Бұл сенсорларды аналогтық сигналды сандық кодқа түрлендіретін ADC қосыңыз.</a:t>
            </a:r>
          </a:p>
          <a:p>
            <a:pPr algn="l" rtl="0"/>
            <a:r>
              <a:rPr lang="ru-RU" sz="1400" dirty="0">
                <a:latin typeface="Times New Roman" panose="02020603050405020304" pitchFamily="18" charset="0"/>
                <a:cs typeface="Times New Roman" panose="02020603050405020304" pitchFamily="18" charset="0"/>
              </a:rPr>
              <a:t>DAC: жылыжайдағы жылыту немесе салқындату жүйесін басқару үшін DAC пайдаланыңыз. ADC алынған деректерге байланысты оңтайлы температураны сақтау үшін жылытқыштардың немесе желдеткіштердің қуатын өзгертуге болады.</a:t>
            </a:r>
          </a:p>
          <a:p>
            <a:pPr algn="l" rtl="0"/>
            <a:endParaRPr lang="ru-RU" sz="1400" b="1" dirty="0">
              <a:latin typeface="Times New Roman" panose="02020603050405020304" pitchFamily="18" charset="0"/>
              <a:cs typeface="Times New Roman" panose="02020603050405020304" pitchFamily="18" charset="0"/>
            </a:endParaRPr>
          </a:p>
          <a:p>
            <a:pPr algn="l" rtl="0"/>
            <a:r>
              <a:rPr lang="ru-RU" sz="1400" b="1" dirty="0">
                <a:latin typeface="Times New Roman" panose="02020603050405020304" pitchFamily="18" charset="0"/>
                <a:cs typeface="Times New Roman" panose="02020603050405020304" pitchFamily="18" charset="0"/>
              </a:rPr>
              <a:t>Топырақтың ылғалдылығын өлшеу</a:t>
            </a:r>
            <a:r>
              <a:rPr lang="ru-RU" sz="1400" dirty="0">
                <a:latin typeface="Times New Roman" panose="02020603050405020304" pitchFamily="18" charset="0"/>
                <a:cs typeface="Times New Roman" panose="02020603050405020304" pitchFamily="18" charset="0"/>
              </a:rPr>
              <a:t>:</a:t>
            </a:r>
          </a:p>
          <a:p>
            <a:pPr algn="l" rtl="0"/>
            <a:endParaRPr lang="ru-RU" sz="1400" dirty="0">
              <a:latin typeface="Times New Roman" panose="02020603050405020304" pitchFamily="18" charset="0"/>
              <a:cs typeface="Times New Roman" panose="02020603050405020304" pitchFamily="18" charset="0"/>
            </a:endParaRPr>
          </a:p>
          <a:p>
            <a:pPr algn="l" rtl="0"/>
            <a:r>
              <a:rPr lang="ru-RU" sz="1400" b="1" dirty="0">
                <a:latin typeface="Times New Roman" panose="02020603050405020304" pitchFamily="18" charset="0"/>
                <a:cs typeface="Times New Roman" panose="02020603050405020304" pitchFamily="18" charset="0"/>
              </a:rPr>
              <a:t>Жарық өлшемі:</a:t>
            </a:r>
          </a:p>
        </p:txBody>
      </p:sp>
      <p:pic>
        <p:nvPicPr>
          <p:cNvPr id="8" name="Рисунок 7">
            <a:extLst>
              <a:ext uri="{FF2B5EF4-FFF2-40B4-BE49-F238E27FC236}">
                <a16:creationId xmlns:a16="http://schemas.microsoft.com/office/drawing/2014/main" xmlns="" id="{35D42E6E-89AA-467C-A629-F0F2000F80A2}"/>
              </a:ext>
            </a:extLst>
          </p:cNvPr>
          <p:cNvPicPr>
            <a:picLocks noChangeAspect="1"/>
          </p:cNvPicPr>
          <p:nvPr/>
        </p:nvPicPr>
        <p:blipFill>
          <a:blip r:embed="rId2"/>
          <a:stretch>
            <a:fillRect/>
          </a:stretch>
        </p:blipFill>
        <p:spPr>
          <a:xfrm>
            <a:off x="4943873" y="3282538"/>
            <a:ext cx="6624736" cy="3498855"/>
          </a:xfrm>
          <a:prstGeom prst="rect">
            <a:avLst/>
          </a:prstGeom>
        </p:spPr>
      </p:pic>
    </p:spTree>
    <p:extLst>
      <p:ext uri="{BB962C8B-B14F-4D97-AF65-F5344CB8AC3E}">
        <p14:creationId xmlns:p14="http://schemas.microsoft.com/office/powerpoint/2010/main" val="34876920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68107C96-02FE-4847-A252-AED6DD441C35}"/>
  <p:tag name="ISPRING_RESOURCE_FOLDER" val="C:\Users\admin\Desktop\Айгул\2020-2021\ICT\6\ICT Lecture #6\"/>
  <p:tag name="ISPRING_PRESENTATION_PATH" val="C:\Users\admin\Desktop\Айгул\2020-2021\ICT\6\ICT Lecture #6.pptx"/>
  <p:tag name="ISPRING_PROJECT_VERSION" val="9.3"/>
  <p:tag name="ISPRING_PROJECT_FOLDER_UPDATED" val="1"/>
  <p:tag name="ISPRING_SCREEN_RECS_UPDATED" val="C:\Users\admin\Desktop\Айгул\2020-2021\ICT\6\ICT Lecture #6\"/>
  <p:tag name="ISPRING_PLAYERS_CUSTOMIZATION_2" val="UEsDBBQAAgAIACZNs1A2YVgCRwMAAOEJAAAUAAAAdW5pdmVyc2FsL3BsYXllci54bWytVl1P2zAUfS4S/yHyO3FLxwYoATEktIcxIXVse6vc5DbxmtiZ7RC6X78b5zukbEir1Cq5vuf4fhxf17t+ThPnCZTmUvhk4c6JAyKQIReRTx6/3p2ck+ur4yMvS9gelMNDn+SClwCWECcEHSieGQQ/MBP7pGdwkZk4meJScbP3yXKO3O1Oyzk5Ppqhi9A+iY3JLiktisLlGhEi0jLJSxLtBjKlmQINwoCiVRjEabCX5u9o/KZSULPPQPeQmXn7xjVJy/Gs+YCkWLpSRfR0Pl/QH/efV0EMKTvhQhsmAiAOVnJmS7lhwe5ehnkCurTNvCrIFRhTBmFtM89c8sW5cLQKfFI5rFPQmkWg3UREhLZ+DWdDUGEa65qJcC3YE49Ymdta1162RR2JjqUyQW5q9A72G8lUuG7tPX+PTkTsbROm45pPD3Kx/DteJ2P91uX7ZCw2o3yTcB3jUh/SWaeToMNdvdTW2Mr2sZHtXclEHAW/cq4gtK/f2hMwX5Bqw1bmNk5XFwEu4NMdC4xU+1uEoXRr2bitUtxKKa4FtRxuu/uqoyBNtltgJlfQlGrmPfEQ5BemlO3XlVE5eHRkrLF0CPZolXLdpK4hXmzS5OwfelP6jVrzU7/WGQv4H435hERtTbgI4fmOo4+BFGtqAItd2lyTJW65ZxeTzjdp7zANTN1JwKZgIo5hKgI8+yEzjHZ2eggKiml0CXI1wvYWDoJjHsUJfs0kw3j1IE3K1G6SobdwEJzIYDcBbc0HgRslC8xQ51mGA+Bl8V6utx2h45aMdNmK0aMT49ALcm1kyn9bpQ/mpLm0kn7l9B4fOYc+Degm4y3kw/w1xGgSDOJq5sL2NQKcC08citWA56S2uhkO8YlZXz6NBnxpeihnTDOdS8M6qyzjOQ4mzyqv5hzn2cgnhC3LE3PbT2h4eVjoKOHpe2OK6zueVVms+G9wCh6Wfw0WSyy1E0Opd5+8P1/2GFCLOBkH21vToR23UjR1cF1q36pf247mhqq1UsnskKS8uhcVppoHH1GOkZK5CEcCsA2r6XWC8/hGAXMS2GJGi1M8HjLzyTt8qHO+OLvoUv6wuGiwNq6HauMqljdcR3XAnfxofZDaRLx6ruHjH1BLAwQUAAIACADbkUpR7aawwOQHAABeHgAAHQAAAHVuaXZlcnNhbC9jb21tb25fbWVzc2FnZXMubG5nzVlbT9xWEH6PlP9gISG1UnOrlKiqIJHXe2AtvPbG9obQiyzUoAiJQBXaKn3jkjREpAFFiUiTkDRp1Zf0YSG7sOwF/oL9F/pL+s0ce9cLpLahqH3Y1fpyvrmcmW/mzA5cuXNrSvlh4vbs5Mz0YN+Fs+f7lInpb2ZuTE7fHOwru0NnPutTZr8bn74xPjUzPTHYNz3Tp1y5fPrUwNT49M3vx29O4PfpU4oycGtidhaXs5fpqnutTN4Y7CvlPFXThOPoOUN4ajmvW56p2rbq6pbpGWpOGH2X/dVg0a/6dX83mPd3/b1gDt+b+Gzhbs1v40lt4FwImyylZKhjwvYcTUASybNczymXSpbtijykPQFexW8C/z3JCZb9HSVYgFASVYHQWjCn4GdN8ffwQpWUwNMtLNvE8xrenQ9WFH9T4TV0v0UvV/0mbsOEJt7aYBPqfjVYCR749eBeBgOcEd30oDy7LLytG7o75hWtvIAFr1mhmr8TLPj1XkVOSA3TsouqkUo++awJ97F76bKJZ/R+Javski0cYbrYy1LBci0I/h0hskDIBBfchUErZPCu32Brq8F96NDIJsnQ87DPs4Y8zSqbLqS8YbAdv6r0Xy0Lh0PVLBdzwu5XgL+t9LuWC29ED53+DPKuQdxhOfCYdgme+ndyYFSF24qqPSI9qdkCN/LeqO4W2MBdfxu4FdomhIrctBZkPwgeBo8UFonLM9AAOweN6tjnSefb2yCHJC1yqjbiuZanlkperuy6MRvXIXGb9ikJQ7OKJdUc8wxr2PJy+jDWvpABRRHn7ynYZFJ4j02Acl9Nf/TppUt3Lly89HEmbAdRbSSiKwx+8XwKbNO1LcODAGF4prjuMt+sAv+p/zTbaqvsGropeLteAOIXAL3LBoEEusZuX/XX8HmSuLps20i4MCd0h6mT/GWIiDqJW8LorHKib8nopNttCl9/I7jHD4kVd8N3EUEUXUyy+H4Y0RPlGOFIj7eDn5JTN28VVUQ0qMG1dY1SiAoIaBy8QLxN8bUn5UCF5gEF5I0a3oPeeKcCobTFxP1K8DPTS0uSSotNq51NVmnUNCw1zyFfRAqqw2Kfs2IOqHxIA8rDzYgFlGARVWZBpijdxm/UmA3YNc+cWsENelSTcHUuaFsRVUTJqpSmxn+UtlHxCpaUSctJNshWR3VzGFlsGQ5KQD66A6vWoJJkhSVSivYS0pm0NsN8qWXEt1VH2JyEFbYZFH4EBE9m8iuqARKGtUNkzGfVqKAPFwx8XFbrJdSaQ4DC5mwwJWFyzWpyLEnbUoCEJU91nFHLznNpgMMpo2QM7LE+yD2yrpotyJJk66ZmgQM0Ny5/HRi85UCiZimuQTIgjFE5T0NagYOQMJ4ryXH9MM7YPhBjeNKW3sOjBsfIJoU/+TR4+ElkLRdLBRFQk51IT5vCSVAF6CI3fjsxEkrMCEMtm1rBy7ndYrbGRLPYDbWUGCCvXp5409k1ucG9PIDu6pAEr/ckeKL6oTAvZ10Hp7Pbn/pvs6yyRii3/OdZ1owJR5a/pEWmek0flu0Qik5E7VxxHgfLCvmH2/KFiO1kqFek05jYeosKFjGRI0CpsnB/w1/Y/RU4thEsns2mlCPQ7ZmurhrxBrGrXLu31h1Q7bjaoJRrIk/ccrWsf+ENqbrB/Vw8l9hX7a6PlqBmXeG0QZCGFa7jI7zXHxZ6My+uU2sbrv6Auw/Ub3AS4v8RHSw4bLteyWpOT5+xz6qojMpkDomiEqUzlxxJS/Geop2OVtL65ij2EIGenDFEPAyzFAu9kOlOwKrOYfqfA0/GCeiVA2+fioewerV7FP+fhmfPFOEoIXqEqMzilqOakjk6swbkyZsVzgYEzgMgZXHm1vjkVPplBRKW0y2m8wbUXE5Tw7vrdXPIYpftGz6kRzCtCGSdwlb2OHepKnABCY8lu4cNOGrppTgF7K+08zVtF/PEBm9hBhSeWsSnFEcau3TxRkXO0V3Z/VSItpKWMq0eo4GMOPHkW8XYybSnG3J11xDcRPH0ig/N9zvnNR49Utf3Pm2rDjnlooh8KhuVg7RMfpENKgnZ5MGP3P/wVEmJmfKIzIOi0HkUPzzfa0m/+pUrx1E49M3rnsFCTLt9ygSPkoR1yO44h44YYZ183DhCtXE80FRTE/IguxBOICopl4JQyMeG63QOKW94m2mQFU0Rd8Iq2o6Il0IhpQA5VcqLIRVCImcSq9D5v5ESZL+Kv+Iosub/htP/n/5bfxWfdwpAX/nPoP1zf/XzTLh0vEJ9Ex38L/mg1uJ+oeHXv86MRmZ2wd7CYY3Dm6tk6HKOA93xrKEhmZ/EoImR4aq5Xpt4mveSjnBw0LM0y8NhYiwuUo8UXR1J2ztue8zGc9rv8h8LNSYXzoTWIeOITmvLOfHhAVxNYWbc5u5jiZ4rEroSzfdokpLsL3JyGKyq66paoQjCcTjWiKwWaaQdLGeBiWJes8q2Izp8JQfanbmXQkc5npdXsoDTnB41kYdGAH0Gt9BYg1ikJZ1ERL5vyhasZBHB4RMOLTq5kAWgO41+xe09cWUz7R8TcaDjd1DkJ1cveWo+z0N8YDynAwdQ2lGhC8diVa51MV3pZjM+6yfC3jftTytfK6gmavt/ooItRGfWT6Pn7mz2PcfNNrVjf839kQQk/40KqyPqh7zu/l/DfWlnGNWL1rma5X+CB87F/hj+G1BLAwQUAAIACADbkUpRAAAAAAIAAAAAAAAALgAAAHVuaXZlcnNhbC9wbGF5YmFja19hbmRfbmF2aWdhdGlvbl9zZXR0aW5ncy54bWwDAFBLAwQUAAIACADbkUpR0RaCJ6MGAACvIgAAJwAAAHVuaXZlcnNhbC9mbGFzaF9wdWJsaXNoaW5nX3NldHRpbmdzLnhtbO1aW08bRxR+51eMtspbg3GAXJDtiOBFsWpsam/aRFWF1t4Bb7PetXbHIfSJi9qkIkpQFdQ0aZPe1Jf0wQl2Sxxw/sLsX8gv6Tm7vtuYcQOINn0w2LPn8p0z5zJn7NDl23mD3KK2o1tmWAqOjkmEmllL082lsHRNmT17USIOU01NNSyThiXTksjlyEioUMwYupNLU8aA1CEgxnSmCiws5RgrTAUCy8vLo7pTsPGpZRQZyHdGs1Y+ULCpQ01G7UDBUFfgH1spUEeqSxAQAK+8ZdbZIiMjhIR8SXOWVjQo0TVAbupolGrMGqqTkwI+WUbN3lyyraKpzViGZRN7KROWPpiRo8HoeIPGFxXV89REnzgRWMRlNqVqmo4oVCOtf0lJjupLOYAbHJuQyLKusVxYGh87h3KAPtArx5PuG6+inBkLvGCyuoI8ZaqmMtX/6Gu06SK1YTuoE2F2kYLQjrU2SkZvs+aCv6StmGpezyrwhKCvwlJUWUjJs3JKTszIC9dScR+qMIcSU+KyEE86HovKC4mkIqcXripz8aGZFPm6MgTTsMiExc+n5LScUOTUwpVYckgOcVAtHnluOhYfkudT+Uo6pgyrKTE9NyzL/NVkQozn6o15ORWPJT5aUJLJuBKbb3F5MdwWraFAZ+CHIEGsot0e3ixXzGdMVTeg2HTFuEMZlCtDtZeoYs3qkI2LquFQiXxRoEsfF1VDZyuYoVDVblJamHYKNMtSmH1hCTNKaonzBQIwSMlmbk9eaqb2hYsdpgd87S2z+qIMNYvdfM5i1gmjD45NNuFfmhgM/wCgoVu6Rq2Eatteyeo14FAI51rVMTh+/vxgFAdoC6mMqdkclFLWqITtKw0qHfGrWabfgjpNu7AuFg0jXSwULJu1imn7YhPEAWJCi5bZEX/4mWQsQ2vuG81nqJZQ87StAaVv6uYsUAYlsgiZYsCOJgvUJGnVhKanM9jlbFOAU8w4TGdes5utU0/bumoQkAddmZK5dM+uZ3Oq7XSkRnN/sNFkI5/x73iJ7/GKu86rfPdz3+/+s4N5fuEVXnXX3HXC93mJuGv8NUh5xcu8IiTBU/oSlK66d/muu+7eI+4qvFnjNVgugdBdXhES9BtorgH+EqJBgUJcPwD9KtgrSv+kLn+XV4Xon7p30Brk8IzjL8E0IYPks3moE0JKfkaXu+tCtN+6m8T9itd8RLwCiMBtf8HrBTgbnV4H+gb8UgOwe0jrrvoLFaCs8H1gLLlfgxN2YccbT/4E/grf4TXiRRHaXLoshOlH4AP9CAsCZxdVElDUExjrvtgPWxohzAh4uML3YA2J4e0rNM0PR14G9g3ExF+1xeaoEKqH/LX7oCm2Dq7UEOzF5r672SGYeC7oNsXdAAoUcxc9XPdsHWbDpt70IWf8Y0gsEZWvnzlhyAO8fzRIMQxRcyPO7oI4cW8Qf4MrGGk1CIOKH8ldIYvLCBzFVCAUNtz77jdYT9oku5ujRxmi8GTfrz7wqOrViZe46WiUe++EAlcUKz4reVVz5xSk1LBZNNig48+nf5BCRw+wmUZ+1MO2eGl0pK46+WRruN2rk2V4vUa1eBbA5b7OHoCmvkdlJKsCzz50rpK4dw8wuuSpwfQudanCBruOoN17qA/Dx/8D/n8AMKruxqhgW29JrMPY77S1B8RR6B0LnhufmDx/4eKlqdHA29Xfzw5kqo9284aqm43ZbmbghYAwZ9flwyF8Bwz5Ylxdo/4hTAcO/MJ8w8IcMPwLc/a5AhDm7b4IEGbsuQ44hHPApUAP76xl52HCo1rPfva/HxJgjyHo6Rkl9klMudFHgJcKvaNUKIBjXv+pz5vBT+vQx3/i2zCC/QpzzR8wy23B6znhz/hT/gjKz2O+NSVYqXBweAPVquzXaTgb+C1jv9FTsHSJnl7wAAhziMdWEwTwBMB/D53jueDUuQWj3zaY+5g/EoS15XE9FOxgW4Bom2+LUgtiAMRiYyd/LET3rKPFtk1+XYOee19Q7Y538sVOfaceCfUgwP3caUyNJ9aG3qUpCBWRI+4nx1Zn/x218p1vyPxie0y18hmkCd5MVY8tfN+Pjnacm/Qfdvvpvj7+/yJ3wBkLL7U2wDNr7qYQxyPovHhjhDcte34fxqmyy5/uA8HTRQ38gqNkGW0QtBeLXdk7HbzwJu6K4DmsCqA30UMnWiQ70y0tz8WuJOPR96ApnVIP+p+a3952fF3b/Bqx8/cN+CSvm3oe3GroGm3+KCIyOTEWCvR/NDIC0jp/ZBIZ+RtQSwMEFAACAAgA25FKUZjksHNwAwAA+AsAACEAAAB1bml2ZXJzYWwvZmxhc2hfc2tpbl9zZXR0aW5ncy54bWyVVlFv2jAQfh6/ArF3WCkbrZRGoi1I1VhbrYx3JznAwrEj26Hj3+/sxMGBAFkipPi77+zz3eczgdpS3t2BVFTwh95tL+x8CeJcSuB6AWnGiIZuRBS8JA+92Z/5vDewDMGE/ACtKV8rBEqkS5EVizQjfD8Xa9GPSLxdS5HzpBd+nd2aNxhY6pHTZp+BZJRvkfd9ePf4PGvmMar0i4a0vyIx9AUGjg7Tm+lwOmzjkElQCkww98+T4eTHFR9GImBuldF4dDeatPI4LDOzTyunHVVUW6fxcHw7HjU7YWqRW8/rhTUKuoa/+soOMpHlWft6ZVKszSaPPMbmveLBBElQNkh/vjfvFTpKcG8WuSKMNlska6jHG0Nyk5zbIa4Lss5f2aeZH+VaC96PBdd4dvpcyJSw//MphdbCw4q5WgLzEiUtHJyQo3ESn0m7YjTBJAmZWCp8M++BWn55Jz8wwUvB3o3Qah3B6DliEGqZQzBwI2NRG/H5lms87hCuCFNo9iFHeccKvJNcuSnqmGP9hk/KE49SAs6+FCxP4amI0qPVccd+enq0CfPjqrAqMAm7EvIiO4CO94qaPOF5oON9mKS/cbY/IR9bjIc7GY/EFu9Cor8EwAl+u+y4kTWZ6eem8ShvvRKwhFQkEFo9LGgKpjLBwGImiMFRFAEnO7omGm+RX4YT7W3oKhgcGQoNNUom0FQzOBVSLHKpMAg0LsvNldVpsBiHQvNqouew0o5bB13qzS3l19qOL6u3nKhIUjHoary+HnopkVuQCyGY6nVLF+xMOIO9NY/p5pbAYw/yha9EGwcuNPgz27gbmaI4Sq24RGsSb1KMpDnqKnW2do01Csr1TmvH8zQCOcV6U3BCq2OGtaHrDcOfXlL4hKROP2M0fnqDU3FCKw17gK0wEBlvnL6LgcHTnGnKYAeuIXiA2eSZ7QQKJX26R6ObutY85KrQyt5xUILPqhtO6EuMR9R7kG+4rGNNImU3c+gHrgMfZvR6ctnTjAb9dmbHVib+hGhsyBUWxMsbybX40ETqcrrD2G6U7GDCaWpbB8Lesg0W48GEyMoMWJNL5AnuFjeXSTWRcvQGS7ODaYvhsMnBWupdcYFnLVxJAL8jWrBT9emfsI8EkclrRag17gaz8cWd4UVmmys25TTTwcCDbCmqrOM3/t8PO51/UEsDBBQAAgAIANuRSlGzhRdInAYAADkiAAAmAAAAdW5pdmVyc2FsL2h0bWxfcHVibGlzaGluZ19zZXR0aW5ncy54bWztWltvE0cUfs+vGG3FW7ETAgEiOyjEG8WqY7v20oKqKlrbk3jLetfaHRPSp1zUQhUEUUVUCi30pr7QB0PiNpjY/IXZv9Bf0nN2fb9l3DqmVH1wYs+ey3fOnMucsQNXbud0cotatmYaQWnKNykRaqTNjGasBaVryuLZSxKxmWpkVN00aFAyTIlcmZsI5AspXbOzScoYkNoExBj2bJ4FpSxj+Vm/f3193afZeQufmnqBgXzblzZz/rxFbWowavnzuroB/9hGntpSTYKAAHjlTKPGNjcxQUjAk7RsZgo6JVoGkBsaGqXqSyynS36PKqWmb65ZZsHILJi6aRFrLRWU3luQQ1Oh6TqNJymk5aiBLrHnYBGX2ayayWgIQtWT2ueUZKm2lgW0U5PnJbKuZVg2KE1PnkM5QO/vluNK92xXUc6CCU4wWE1BjjI1ozLV++hptOgqtWA3qD3HrAIFoW1rLZSM3maNBW8ps2GoOS2twBOCrgpKIWUlIS/KCTm6IK9cS0Q8qMIcSliJyEI8yUg4JK9EY4qcXFlSliNDMynydWUIpmGRCYuPJ+SkHFXkxMrVcGxIDnFQTR55eT4cGZLnY/lqMqwMqyk6vzwsS3wpFhXjWboRlxORcPSDFSUWiyjheJPLjeGWaA342wM/AAliFqzW8GbZQi5lqJoOtaYjxm3KoFrpqrVGFXNRg2xcVXWbSuSzPF37sKDqGtvADIWidpPS/Lydp2mWwOwLSphRUlOcJxCAQUo2cvvC5UZqX7zUZrrf0940qyfKQKPWxbMmM8eMfmryQgP+5fOD4fcBGrilZagZVS3LLVndBpwI4VyzOk5Nz8wMRtFHW0BlTE1noZSyeiVsXalTaYhfTTPtFtRp2oF1taDryUI+b1qsWUxbFxsg+ogJrJpGW/zhZ5Iy9Uxj32guRTNRNQdZEF80JLIKqaHDFsby1CBJ1YAmpzHY1nSDwy6kbKYxt7kt1qjnLU3VCTQw6MKULCe7tjmdVS27LRcaG4KdJT33Cf+GF/kxLznbvMyPPvUc7T3rz/MTL/Gys+VsE17hReJs8dcg5RU/5CUhCa7Sl6B007nLj5xt5x5xNuHNFq/CchGEHvGSkKBfQHMV8BcRDQoU4voO6DfBXlH6JzX5R7wsRP/UuYPWIIdrHH8JpgkZJJ/NQWEQUvIjutzZFqL92tklzhe86iHiJUAEbvsDXi/A2ej0GtA34JcqgD1GWmfTWygBZYlXgLHofAlOOIIdrz/5HfhL/IBXiRtFaHPxihCm74EP9CMsCJwjVElAUVdgbHti329qhDAj4OESP4Y1JIa3r9A0Lxz5IbDvICb+qiU2fUKoHvLXzoOG2Bq4Yl2wG5sVZ7dNMHFd0GmKswMUKOYuerjm2RrMuk3d6UPOeOeOcDQkXz8zZsgDvD8apBiGqLkeZ3dBnLg3iLfBJYy0KoRByYvkjpDFZQSOYkoQCjvOfecrrCctkp1d3yhDFJ5UvOoDj8punXiJm45GOffGFLiiWPFZ0a2aB/+ClBo2iwYbdPr59DdSaPQAG2nkRT1si5tGI3XV+JOt7na3Th7C6zWqxbMALvd09gA0tT06RLIy8FSgcxXFvdvH6KKrBtO72KEKG+w2gnbuoT4MH+8P+P8BwCg7Oz7Btt6UWINRabe1C8Qo9E5OnZs+f2Hm4qXLsz7/n5u/nh3IVJvl4rqqGfVhbmHgDYAwZ8dtwwl8faZ6Ma6O2f4Epr4TvjDfsDAHTPvCnD1mfmHezslfmLFr/j+Bc8AtQBfvomnlYKSjma797H0hJMAeRtDzC0r4o7Byo4cANxW6R6mAH+e63mOeO3R3THmptzfm8R/4PgxdP8Mk8xtMb3vwek74M/6UP4KC85jvzQrWJhwV3kB9OvQqM5wGvCZRqXcRLFai5xU88sHk4bJVBQE8AfDfQq94Ljhn7sGwtw/mPuaPBGHtuVwPBXvWHiDa5/ui1IIYALHYoMkfC9E9a2uqLbNex2jn3BdUe+CedbE336lFQi0IcD8P6nPi2BrPP2kDQmVjxB3k1Crru1Ede16CaQPLo1dQT6k6PoPEwNun8qkF7Dvctd7evvyHPd0zA+xeJwSSpDkNmcZ1VPj/brb/IQrvqXbAM1vOrhDHI2iteAmElyfHXqPFQbHDn84DweNDFfyC0+Eh2iBoL9a2Q7f9v3CH6JLgQasMoHfRQ2Otie2plpSXw1djkdCp5pwmlnTvRKEbrfu8T42vX9u+b218D9j+A4UJWG//ucfcxF9QSwMEFAACAAgA25FKUTKQaxK8AQAAegYAAB8AAAB1bml2ZXJzYWwvaHRtbF9za2luX3NldHRpbmdzLmpzjZRRT8IwEMff+RRkvhqiA534hgESEx5M5M340HXHWOh6TVsmaPzurkOk225I+7L+99v/etf1vnr9cgQ86D/2v6rnav1SX1caOM3qLVzXddGh504PjMgSWGY5iExC0ECK46d/8veJoIwDWZnG+1dnazy/AN2bFRPGxxVhoQnNEFpBaB+EtqMCf9Yy+83qkJFX5nhrLcoBR2lB2oFEnbOKCa5W1fATbMBYgP4HXTEONdO78CFOOsmT4yiOEj72OY65YnK/wBQHMeObVONWJgd6PnTTp9d7Bbo88M1f2Kfp3AdEZuyzhbwZeHY7C2dhN6k0GAO/ccfTSTi5J2HBYhB+QtHoYTQ5g9aM59U4QxeZyeyRjsJoGI18WrEUWlXikNwmwzomS69WNVvBD5yFne1KRgm2B92yav8YCtVWXXCASmPqKtJGIzdJVCBLMpkeuOnYTZJzm3W2Xf9G1TEGMerkeHpw46bPtIpRu2bYuGZr4tbmXc3lgs5gycttGlEXVF8QlEjFRUJT1McFuRnb7DRu/VamzfQG9BJRlM3THQqYspmAfpYrdAKzlvF1XmplOu9+oyB3zi/OsbHN3vcPUEsDBBQAAgAIANuRSlGf6Ui9awAAAGsAAAAcAAAAdW5pdmVyc2FsL2xvY2FsX3NldHRpbmdzLnhtbLOxr8jNUShLLSrOzM+zVTLUM1BSSM1Lzk/JzEu3VQoNcdO1UFIoLknMS0nMyc9LtVXKy1dSsLfjssnJT07MCU4tKQEqLFYoyEmsTC0KSc0FMkpS/RJzgSovzL+w78LuC3svdl/YqaRvxwUAUEsBAgAAFAACAAgAJk2zUDZhWAJHAwAA4QkAABQAAAAAAAAAAQAAAAAAAAAAAHVuaXZlcnNhbC9wbGF5ZXIueG1sUEsBAgAAFAACAAgA25FKUe2msMDkBwAAXh4AAB0AAAAAAAAAAQAAAAAAeQMAAHVuaXZlcnNhbC9jb21tb25fbWVzc2FnZXMubG5nUEsBAgAAFAACAAgA25FKUQAAAAACAAAAAAAAAC4AAAAAAAAAAAAAAAAAmAsAAHVuaXZlcnNhbC9wbGF5YmFja19hbmRfbmF2aWdhdGlvbl9zZXR0aW5ncy54bWxQSwECAAAUAAIACADbkUpR0RaCJ6MGAACvIgAAJwAAAAAAAAABAAAAAADmCwAAdW5pdmVyc2FsL2ZsYXNoX3B1Ymxpc2hpbmdfc2V0dGluZ3MueG1sUEsBAgAAFAACAAgA25FKUZjksHNwAwAA+AsAACEAAAAAAAAAAQAAAAAAzhIAAHVuaXZlcnNhbC9mbGFzaF9za2luX3NldHRpbmdzLnhtbFBLAQIAABQAAgAIANuRSlGzhRdInAYAADkiAAAmAAAAAAAAAAEAAAAAAH0WAAB1bml2ZXJzYWwvaHRtbF9wdWJsaXNoaW5nX3NldHRpbmdzLnhtbFBLAQIAABQAAgAIANuRSlEykGsSvAEAAHoGAAAfAAAAAAAAAAEAAAAAAF0dAAB1bml2ZXJzYWwvaHRtbF9za2luX3NldHRpbmdzLmpzUEsBAgAAFAACAAgA25FKUZ/pSL1rAAAAawAAABwAAAAAAAAAAQAAAAAAVh8AAHVuaXZlcnNhbC9sb2NhbF9zZXR0aW5ncy54bWxQSwUGAAAAAAgACAB4AgAA+x8AAAAA"/>
</p:tagLst>
</file>

<file path=ppt/theme/theme1.xml><?xml version="1.0" encoding="utf-8"?>
<a:theme xmlns:a="http://schemas.openxmlformats.org/drawing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Легкий дым">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1006</TotalTime>
  <Words>1438</Words>
  <Application>Microsoft Office PowerPoint</Application>
  <PresentationFormat>Широкоэкранный</PresentationFormat>
  <Paragraphs>171</Paragraphs>
  <Slides>21</Slides>
  <Notes>6</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21</vt:i4>
      </vt:variant>
    </vt:vector>
  </HeadingPairs>
  <TitlesOfParts>
    <vt:vector size="28" baseType="lpstr">
      <vt:lpstr>Arial</vt:lpstr>
      <vt:lpstr>Calibri</vt:lpstr>
      <vt:lpstr>Century Gothic</vt:lpstr>
      <vt:lpstr>Times New Roman</vt:lpstr>
      <vt:lpstr>Wingdings</vt:lpstr>
      <vt:lpstr>Wingdings 3</vt:lpstr>
      <vt:lpstr>Легкий дым</vt:lpstr>
      <vt:lpstr>Деректер қорларының жүйелері. Системы баз данных Database systems</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Reanimator Extreme Edition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Lenovo</dc:creator>
  <cp:lastModifiedBy>Учетная запись Майкрософт</cp:lastModifiedBy>
  <cp:revision>133</cp:revision>
  <dcterms:created xsi:type="dcterms:W3CDTF">2016-10-06T08:17:28Z</dcterms:created>
  <dcterms:modified xsi:type="dcterms:W3CDTF">2025-03-03T06:59:40Z</dcterms:modified>
</cp:coreProperties>
</file>
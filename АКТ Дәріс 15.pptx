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1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9" r:id="rId9"/>
    <p:sldId id="263" r:id="rId10"/>
    <p:sldId id="264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560" y="2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9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21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204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68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9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47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69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051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630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38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91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56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89214" y="2902051"/>
            <a:ext cx="10058400" cy="1435219"/>
          </a:xfrm>
        </p:spPr>
        <p:txBody>
          <a:bodyPr>
            <a:noAutofit/>
          </a:bodyPr>
          <a:lstStyle/>
          <a:p>
            <a:pPr algn="ctr"/>
            <a:r>
              <a:rPr lang="kk-K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АКТ-ның даму перспективалары</a:t>
            </a:r>
            <a:endParaRPr lang="ru-RU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hat is the importance of mobile apps in daily life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689" y="6093"/>
            <a:ext cx="3300311" cy="21962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13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74305"/>
          </a:xfrm>
        </p:spPr>
        <p:txBody>
          <a:bodyPr>
            <a:normAutofit/>
          </a:bodyPr>
          <a:lstStyle/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Дәріс мазмұны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00727" y="2047972"/>
            <a:ext cx="10510981" cy="4278935"/>
          </a:xfrm>
        </p:spPr>
        <p:txBody>
          <a:bodyPr>
            <a:normAutofit/>
          </a:bodyPr>
          <a:lstStyle/>
          <a:p>
            <a:pPr marL="444500" indent="-444500">
              <a:buFont typeface="+mj-lt"/>
              <a:buAutoNum type="arabicPeriod"/>
            </a:pP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біздің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өмірімізде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indent="-444500">
              <a:buFont typeface="+mj-lt"/>
              <a:buAutoNum type="arabicPeriod"/>
            </a:pP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Когнитивті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роботтандыру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indent="-444500">
              <a:buFont typeface="+mj-lt"/>
              <a:buAutoNum type="arabicPeriod"/>
            </a:pP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 мен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адам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интерфейсінің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жаңа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indent="-444500">
              <a:buFont typeface="+mj-lt"/>
              <a:buAutoNum type="arabicPeriod"/>
            </a:pP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Виртуалды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әлем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Әлеуметтік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медиа.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қала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бұлттық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indent="-444500">
              <a:buFont typeface="+mj-lt"/>
              <a:buAutoNum type="arabicPeriod"/>
            </a:pP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Бұлтты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есептеу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indent="-444500" algn="l" rtl="0">
              <a:buFont typeface="+mj-lt"/>
              <a:buAutoNum type="arabicPeriod"/>
            </a:pPr>
            <a:endParaRPr lang="en-US" sz="3600" dirty="0">
              <a:solidFill>
                <a:schemeClr val="tx1"/>
              </a:solidFill>
            </a:endParaRPr>
          </a:p>
          <a:p>
            <a:pPr marL="444500" indent="-444500" algn="l" rtl="0">
              <a:buFont typeface="+mj-lt"/>
              <a:buAutoNum type="arabicPeriod"/>
            </a:pPr>
            <a:endParaRPr lang="en-US" sz="3600" b="1" dirty="0">
              <a:solidFill>
                <a:schemeClr val="tx1"/>
              </a:solidFill>
            </a:endParaRPr>
          </a:p>
          <a:p>
            <a:pPr marL="444500" indent="-444500" algn="l" rtl="0">
              <a:buFont typeface="+mj-lt"/>
              <a:buAutoNum type="arabicPeriod"/>
            </a:pPr>
            <a:endParaRPr lang="ru-RU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14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8327" y="1612329"/>
            <a:ext cx="10307782" cy="443499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Қазіргі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уақытта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қолында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шағын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ұялы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телефоны,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планшеті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дербес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(ДК) бар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кез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келген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адамның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әлеміне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жеткізу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мүмкіндігі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бар.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Коммуникациялар</a:t>
            </a:r>
            <a:r>
              <a:rPr lang="ru-RU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жүйесі</a:t>
            </a:r>
            <a:endParaRPr lang="ru-RU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АКТ-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күші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мүмкіндіктері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интегралды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желідегі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бөліктерді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біріктіру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коммуникациялар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біріктіру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болып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табылады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Тіркелген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телефон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желілерін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тікелей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көрінетін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желілерге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таратқыштарды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сымсыз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желілерді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спутниктік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оптикалық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талшықты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кабельдерді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қамтитын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телекоммуникация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желісі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ауқымды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жүйенің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бөлігі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болып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табылады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Сол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тізімге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мыналар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кіреді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сенсорлық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телекоммуникациялық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заттардың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өзара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орнатылған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«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нейрочиптердің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жоғары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жылдамдықты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мультимедиа;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жүйелердің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келесі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буындары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 rtl="0"/>
            <a:endParaRPr lang="ru-RU" dirty="0"/>
          </a:p>
        </p:txBody>
      </p:sp>
      <p:sp>
        <p:nvSpPr>
          <p:cNvPr id="7" name="Объект 2"/>
          <p:cNvSpPr>
            <a:spLocks noGrp="1"/>
          </p:cNvSpPr>
          <p:nvPr>
            <p:ph type="title"/>
          </p:nvPr>
        </p:nvSpPr>
        <p:spPr>
          <a:xfrm>
            <a:off x="1173018" y="609827"/>
            <a:ext cx="10058400" cy="963612"/>
          </a:xfrm>
        </p:spPr>
        <p:txBody>
          <a:bodyPr>
            <a:normAutofit/>
          </a:bodyPr>
          <a:lstStyle/>
          <a:p>
            <a:r>
              <a:rPr lang="en-US" sz="3600" b="1" dirty="0"/>
              <a:t>1. 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біздің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өмірімізде</a:t>
            </a:r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14 Neural Network Tree Illustrations &amp;amp; Clip Art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593" y="3829826"/>
            <a:ext cx="2559908" cy="255990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67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2.Когнитивті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kk-K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роботтандыру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algn="just"/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Cogito</a:t>
            </a: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сөзі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латын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тілінен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аударғанда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білу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дегенді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білдіреді</a:t>
            </a: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Яғни</a:t>
            </a: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біздің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білімімізбен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істейтін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когнитивтік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мидың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жұмысынан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кейін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күйімізді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қадағалайтын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зейінімізді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бағалау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адамды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түсінуге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тырысу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Басқаша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айтқанда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адамдар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жануарлардың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қарым-қатынас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өңдеу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процестері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туралы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ақпаратқа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негізделген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мақсатқа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әдістері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алгоритмдері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неврология,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өзін-өзі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ұйымдастыру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теориясы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компьютерлік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sz="2200" b="1" dirty="0">
                <a:solidFill>
                  <a:schemeClr val="tx1"/>
                </a:solidFill>
              </a:rPr>
              <a:t>.</a:t>
            </a: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Framework of cognitive robotic.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004" y="4136415"/>
            <a:ext cx="4742106" cy="18410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85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8071" y="286603"/>
            <a:ext cx="11127674" cy="1450757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 мен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адам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интерфейсінің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жаңа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15978" y="1827262"/>
            <a:ext cx="8824265" cy="4525412"/>
          </a:xfrm>
        </p:spPr>
        <p:txBody>
          <a:bodyPr>
            <a:normAutofit/>
          </a:bodyPr>
          <a:lstStyle/>
          <a:p>
            <a:pPr algn="just"/>
            <a:r>
              <a:rPr lang="ru-RU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Технологиялардың</a:t>
            </a: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дамуымен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адам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компьютердің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өзара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әрекеттесуін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жақсарту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көбірек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мүмкіндіктер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болады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бірақ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адамның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мүмкіндіктері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шексіз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емес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екенін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ұмытпау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керек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жоғарыда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аталған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процестерге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қатысты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Билл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Верпланк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әзірлеген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адам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компьютердің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өзара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моделіне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сәйкес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пайдаланушының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кез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келген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жүйемен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әрекеттесуіне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үш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адам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факторы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әсер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-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қабылдау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тиімділігі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жүйелік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сигналдарды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дұрыс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қабылдаймыз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ба;</a:t>
            </a:r>
          </a:p>
          <a:p>
            <a:pPr algn="just"/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-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өңдеу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біз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сигналдарды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дұрыс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түсінеміз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өңдейміз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-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беру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тиімділігі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нәтижелерді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жүйеге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дұрыс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енгізіп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жатырмыз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ба.</a:t>
            </a:r>
          </a:p>
          <a:p>
            <a:pPr algn="l" rtl="0"/>
            <a:endParaRPr lang="ru-RU" b="1" dirty="0"/>
          </a:p>
          <a:p>
            <a:pPr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Bill Verplank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18" y="2779647"/>
            <a:ext cx="2599277" cy="1732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0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4544" y="1845734"/>
            <a:ext cx="10760012" cy="4314434"/>
          </a:xfrm>
        </p:spPr>
        <p:txBody>
          <a:bodyPr>
            <a:normAutofit fontScale="92500"/>
          </a:bodyPr>
          <a:lstStyle/>
          <a:p>
            <a:r>
              <a:rPr lang="ru-RU" sz="2400" b="1" dirty="0" err="1">
                <a:solidFill>
                  <a:srgbClr val="FF0000"/>
                </a:solidFill>
              </a:rPr>
              <a:t>Виртуалды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 err="1">
                <a:solidFill>
                  <a:srgbClr val="FF0000"/>
                </a:solidFill>
              </a:rPr>
              <a:t>әлем</a:t>
            </a:r>
            <a:endParaRPr lang="ru-RU" sz="2400" b="1" dirty="0">
              <a:solidFill>
                <a:srgbClr val="FF0000"/>
              </a:solidFill>
            </a:endParaRPr>
          </a:p>
          <a:p>
            <a:pPr algn="just"/>
            <a:r>
              <a:rPr lang="ru-RU" sz="2400" dirty="0" err="1">
                <a:solidFill>
                  <a:schemeClr val="tx1"/>
                </a:solidFill>
              </a:rPr>
              <a:t>Виртуалды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әлем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түсінігінің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бірнеше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анықтамалары</a:t>
            </a:r>
            <a:r>
              <a:rPr lang="ru-RU" sz="2400" dirty="0">
                <a:solidFill>
                  <a:schemeClr val="tx1"/>
                </a:solidFill>
              </a:rPr>
              <a:t> бар. Профессор </a:t>
            </a:r>
            <a:r>
              <a:rPr lang="ru-RU" sz="2400" dirty="0" err="1">
                <a:solidFill>
                  <a:schemeClr val="tx1"/>
                </a:solidFill>
              </a:rPr>
              <a:t>В.К.Мюллердің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ағылшынша-орысша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сөздігіне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сәйкес</a:t>
            </a:r>
            <a:r>
              <a:rPr lang="ru-RU" sz="2400" dirty="0">
                <a:solidFill>
                  <a:schemeClr val="tx1"/>
                </a:solidFill>
              </a:rPr>
              <a:t> «</a:t>
            </a:r>
            <a:r>
              <a:rPr lang="ru-RU" sz="2400" dirty="0" err="1">
                <a:solidFill>
                  <a:srgbClr val="FF0000"/>
                </a:solidFill>
              </a:rPr>
              <a:t>виртуалды</a:t>
            </a:r>
            <a:r>
              <a:rPr lang="ru-RU" sz="2400" dirty="0">
                <a:solidFill>
                  <a:schemeClr val="tx1"/>
                </a:solidFill>
              </a:rPr>
              <a:t>» </a:t>
            </a:r>
            <a:r>
              <a:rPr lang="ru-RU" sz="2400" dirty="0" err="1">
                <a:solidFill>
                  <a:schemeClr val="tx1"/>
                </a:solidFill>
              </a:rPr>
              <a:t>сөзі</a:t>
            </a:r>
            <a:r>
              <a:rPr lang="ru-RU" sz="2400" dirty="0">
                <a:solidFill>
                  <a:schemeClr val="tx1"/>
                </a:solidFill>
              </a:rPr>
              <a:t> – </a:t>
            </a:r>
            <a:r>
              <a:rPr lang="ru-RU" sz="2400" dirty="0" err="1">
                <a:solidFill>
                  <a:srgbClr val="FF0000"/>
                </a:solidFill>
              </a:rPr>
              <a:t>нақты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(</a:t>
            </a:r>
            <a:r>
              <a:rPr lang="ru-RU" sz="2400" dirty="0" err="1">
                <a:solidFill>
                  <a:schemeClr val="tx1"/>
                </a:solidFill>
              </a:rPr>
              <a:t>номиналды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емес</a:t>
            </a:r>
            <a:r>
              <a:rPr lang="ru-RU" sz="2400" dirty="0">
                <a:solidFill>
                  <a:schemeClr val="tx1"/>
                </a:solidFill>
              </a:rPr>
              <a:t>), </a:t>
            </a:r>
            <a:r>
              <a:rPr lang="ru-RU" sz="2400" dirty="0" err="1">
                <a:solidFill>
                  <a:srgbClr val="FF0000"/>
                </a:solidFill>
              </a:rPr>
              <a:t>жарамды</a:t>
            </a:r>
            <a:r>
              <a:rPr lang="ru-RU" sz="2400" dirty="0">
                <a:solidFill>
                  <a:srgbClr val="FF0000"/>
                </a:solidFill>
              </a:rPr>
              <a:t>, </a:t>
            </a:r>
            <a:r>
              <a:rPr lang="ru-RU" sz="2400" dirty="0" err="1">
                <a:solidFill>
                  <a:srgbClr val="FF0000"/>
                </a:solidFill>
              </a:rPr>
              <a:t>тиімді</a:t>
            </a:r>
            <a:r>
              <a:rPr lang="ru-RU" sz="2400" dirty="0">
                <a:solidFill>
                  <a:srgbClr val="FF0000"/>
                </a:solidFill>
              </a:rPr>
              <a:t>, </a:t>
            </a:r>
            <a:r>
              <a:rPr lang="ru-RU" sz="2400" dirty="0" err="1">
                <a:solidFill>
                  <a:srgbClr val="FF0000"/>
                </a:solidFill>
              </a:rPr>
              <a:t>мүмкін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дегенді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білдіреді</a:t>
            </a:r>
            <a:r>
              <a:rPr lang="ru-RU" sz="2400" dirty="0">
                <a:solidFill>
                  <a:schemeClr val="tx1"/>
                </a:solidFill>
              </a:rPr>
              <a:t>. </a:t>
            </a:r>
            <a:r>
              <a:rPr lang="ru-RU" sz="2400" dirty="0" err="1">
                <a:solidFill>
                  <a:schemeClr val="tx1"/>
                </a:solidFill>
              </a:rPr>
              <a:t>Виртуалды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әлемнің</a:t>
            </a:r>
            <a:r>
              <a:rPr lang="ru-RU" sz="2400" dirty="0">
                <a:solidFill>
                  <a:schemeClr val="tx1"/>
                </a:solidFill>
              </a:rPr>
              <a:t> даму </a:t>
            </a:r>
            <a:r>
              <a:rPr lang="ru-RU" sz="2400" dirty="0" err="1">
                <a:solidFill>
                  <a:schemeClr val="tx1"/>
                </a:solidFill>
              </a:rPr>
              <a:t>тенденцияларына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қатысты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әртүрлі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пікірлер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жиынтығы</a:t>
            </a:r>
            <a:r>
              <a:rPr lang="ru-RU" sz="2400" dirty="0">
                <a:solidFill>
                  <a:schemeClr val="tx1"/>
                </a:solidFill>
              </a:rPr>
              <a:t> бар, </a:t>
            </a:r>
            <a:r>
              <a:rPr lang="ru-RU" sz="2400" dirty="0" err="1">
                <a:solidFill>
                  <a:schemeClr val="tx1"/>
                </a:solidFill>
              </a:rPr>
              <a:t>мысалы</a:t>
            </a:r>
            <a:r>
              <a:rPr lang="ru-RU" sz="2400" dirty="0">
                <a:solidFill>
                  <a:schemeClr val="tx1"/>
                </a:solidFill>
              </a:rPr>
              <a:t>:</a:t>
            </a:r>
          </a:p>
          <a:p>
            <a:r>
              <a:rPr lang="ru-RU" sz="2400" dirty="0">
                <a:solidFill>
                  <a:schemeClr val="tx1"/>
                </a:solidFill>
              </a:rPr>
              <a:t>• </a:t>
            </a:r>
            <a:r>
              <a:rPr lang="ru-RU" sz="2400" dirty="0" err="1">
                <a:solidFill>
                  <a:schemeClr val="tx1"/>
                </a:solidFill>
              </a:rPr>
              <a:t>виртуалды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шындыққа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негізделген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эксперименттік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оқыту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жүйелері</a:t>
            </a:r>
            <a:r>
              <a:rPr lang="ru-RU" sz="2400" dirty="0">
                <a:solidFill>
                  <a:schemeClr val="tx1"/>
                </a:solidFill>
              </a:rPr>
              <a:t>;</a:t>
            </a:r>
          </a:p>
          <a:p>
            <a:r>
              <a:rPr lang="ru-RU" sz="2400" dirty="0">
                <a:solidFill>
                  <a:schemeClr val="tx1"/>
                </a:solidFill>
              </a:rPr>
              <a:t>• </a:t>
            </a:r>
            <a:r>
              <a:rPr lang="ru-RU" sz="2400" dirty="0" err="1">
                <a:solidFill>
                  <a:schemeClr val="tx1"/>
                </a:solidFill>
              </a:rPr>
              <a:t>виртуалды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аватарлар</a:t>
            </a:r>
            <a:r>
              <a:rPr lang="ru-RU" sz="2400" dirty="0">
                <a:solidFill>
                  <a:schemeClr val="tx1"/>
                </a:solidFill>
              </a:rPr>
              <a:t>;</a:t>
            </a:r>
          </a:p>
          <a:p>
            <a:r>
              <a:rPr lang="ru-RU" sz="2400" dirty="0">
                <a:solidFill>
                  <a:schemeClr val="tx1"/>
                </a:solidFill>
              </a:rPr>
              <a:t>• </a:t>
            </a:r>
            <a:r>
              <a:rPr lang="ru-RU" sz="2400" dirty="0" err="1">
                <a:solidFill>
                  <a:schemeClr val="tx1"/>
                </a:solidFill>
              </a:rPr>
              <a:t>өмірдің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виртуалды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жүйелері</a:t>
            </a:r>
            <a:r>
              <a:rPr lang="ru-RU" sz="2400" dirty="0">
                <a:solidFill>
                  <a:schemeClr val="tx1"/>
                </a:solidFill>
              </a:rPr>
              <a:t>;</a:t>
            </a:r>
          </a:p>
          <a:p>
            <a:r>
              <a:rPr lang="ru-RU" sz="2400" dirty="0">
                <a:solidFill>
                  <a:schemeClr val="tx1"/>
                </a:solidFill>
              </a:rPr>
              <a:t>• </a:t>
            </a:r>
            <a:r>
              <a:rPr lang="ru-RU" sz="2400" dirty="0" err="1">
                <a:solidFill>
                  <a:schemeClr val="tx1"/>
                </a:solidFill>
              </a:rPr>
              <a:t>тұлғаны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сәйкестендірудің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автоматтандырылған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жүйелері</a:t>
            </a:r>
            <a:r>
              <a:rPr lang="ru-RU" sz="2400" dirty="0">
                <a:solidFill>
                  <a:schemeClr val="tx1"/>
                </a:solidFill>
              </a:rPr>
              <a:t>;</a:t>
            </a:r>
          </a:p>
          <a:p>
            <a:r>
              <a:rPr lang="ru-RU" sz="2400" dirty="0">
                <a:solidFill>
                  <a:schemeClr val="tx1"/>
                </a:solidFill>
              </a:rPr>
              <a:t>• </a:t>
            </a:r>
            <a:r>
              <a:rPr lang="ru-RU" sz="2400" dirty="0" err="1">
                <a:solidFill>
                  <a:schemeClr val="tx1"/>
                </a:solidFill>
              </a:rPr>
              <a:t>желі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экономикасы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және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желідегі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өмір</a:t>
            </a:r>
            <a:r>
              <a:rPr lang="ru-RU" sz="2400" dirty="0">
                <a:solidFill>
                  <a:schemeClr val="tx1"/>
                </a:solidFill>
              </a:rPr>
              <a:t>.</a:t>
            </a:r>
          </a:p>
          <a:p>
            <a:pPr algn="l" rtl="0"/>
            <a:endParaRPr lang="ru-RU" sz="2400" dirty="0"/>
          </a:p>
        </p:txBody>
      </p:sp>
      <p:pic>
        <p:nvPicPr>
          <p:cNvPr id="5126" name="Picture 6" descr="Let&amp;#39;s learn about virtual reality | Science News for Stude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702" y="4173043"/>
            <a:ext cx="3528860" cy="198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412248" y="840509"/>
            <a:ext cx="11376981" cy="8968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 smtClean="0"/>
              <a:t>4</a:t>
            </a:r>
            <a:r>
              <a:rPr lang="en-US" sz="3600" b="1" dirty="0" smtClean="0"/>
              <a:t>.</a:t>
            </a:r>
            <a:r>
              <a:rPr lang="ru-RU" sz="3600" b="1" dirty="0" smtClean="0"/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Виртуалды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әлем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Әлеуметтік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медиа.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қала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бұлттық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25555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67805" y="2170476"/>
            <a:ext cx="5145865" cy="4023360"/>
          </a:xfrm>
        </p:spPr>
        <p:txBody>
          <a:bodyPr>
            <a:normAutofit/>
          </a:bodyPr>
          <a:lstStyle/>
          <a:p>
            <a:pPr algn="just"/>
            <a:r>
              <a:rPr lang="kk-KZ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Әлеуметтік медиа</a:t>
            </a:r>
          </a:p>
          <a:p>
            <a:pPr algn="just"/>
            <a:r>
              <a:rPr lang="kk-KZ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Әлеуметтік </a:t>
            </a:r>
            <a:r>
              <a:rPr lang="kk-KZ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медиа-бұл виртуалды қауымдастықтар мен желілер арқылы ақпаратты, идеяларды, мансаптық қызығушылықтарды және басқа да білдіру формаларын құруды немесе бөлісуді жеңілдететін интерактивті компьютерлік технологиялар.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7M04107 - Social медиа маркетинг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15" y="2170476"/>
            <a:ext cx="5398202" cy="337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412248" y="840509"/>
            <a:ext cx="11376981" cy="8968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 smtClean="0"/>
              <a:t>4</a:t>
            </a:r>
            <a:r>
              <a:rPr lang="en-US" sz="3600" b="1" dirty="0" smtClean="0"/>
              <a:t>.</a:t>
            </a:r>
            <a:r>
              <a:rPr lang="ru-RU" sz="3600" b="1" dirty="0" smtClean="0"/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Виртуалды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әлем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Әлеуметтік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медиа.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қала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бұлттық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48725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481137" y="1814960"/>
            <a:ext cx="8194307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қала</a:t>
            </a:r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өндіріс</a:t>
            </a:r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көлік</a:t>
            </a:r>
            <a:endParaRPr lang="ru-RU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қала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өзара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әрекеттесетін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жүйелерд</a:t>
            </a:r>
            <a:r>
              <a:rPr lang="kk-K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ің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жүйесі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осылайша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қалалық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жүйелерді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үнемді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экологиялық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таза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ететін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инновациялық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есебінен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өмірдің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заманауи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сапасын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Басқаша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айтқанда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басқару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тұру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адамдар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орта,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көлік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экономика,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бизнес,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ұтқырлық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өндіріс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кіріктірілген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жүйелерден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киберфизикалық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жүйелерге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CPS)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дейінгі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эволюциямен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170" name="Picture 2" descr="An Introduction to Smart Transportation: Benefits and Examples | Digi  Internatio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55" y="4052393"/>
            <a:ext cx="2972636" cy="167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Smart City - Chancen für EVU? | EUWID Neue Energie Nachricht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48" y="1814960"/>
            <a:ext cx="2975843" cy="198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412248" y="840509"/>
            <a:ext cx="11376981" cy="8968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 smtClean="0"/>
              <a:t>4</a:t>
            </a:r>
            <a:r>
              <a:rPr lang="en-US" sz="3600" b="1" dirty="0" smtClean="0"/>
              <a:t>.</a:t>
            </a:r>
            <a:r>
              <a:rPr lang="ru-RU" sz="3600" b="1" dirty="0" smtClean="0"/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Виртуалды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әлем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Әлеуметтік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медиа.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қала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бұлттық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35158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2248" y="1737360"/>
            <a:ext cx="10968766" cy="4085509"/>
          </a:xfrm>
        </p:spPr>
        <p:txBody>
          <a:bodyPr>
            <a:normAutofit/>
          </a:bodyPr>
          <a:lstStyle/>
          <a:p>
            <a:r>
              <a:rPr lang="ru-RU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Бұлтты</a:t>
            </a:r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endParaRPr lang="ru-RU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Бұлтты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басқарудың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ең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аз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күш-жігерімен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провайдердің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өзара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әрекеттесуімен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жылдам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етілуі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шығарылуы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конфигурацияланатын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есептеу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ресурстарының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мысалы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серверлер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қолданбалар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сақтау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қызметтер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ортақ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пулына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әмбебап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ыңғайлы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желіге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жеткізу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үлгісі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болып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табылады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Бұлтты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есептеулердің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ерекшелігі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оның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аппараттық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платформаға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географиялық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аймаққа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қосылуында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емес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масштабтау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мүмкіндігінде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технология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түріне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мыналар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кіреді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Мобильді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мобильді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қосымшалар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үлкен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көлемдегі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мәліметтерді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өңдеу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Әлеуметтік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желілерді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дамыту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қоғам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өмірінде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АКТ-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rtl="0"/>
            <a:endParaRPr lang="ru-RU" dirty="0"/>
          </a:p>
        </p:txBody>
      </p:sp>
      <p:pic>
        <p:nvPicPr>
          <p:cNvPr id="8194" name="Picture 2" descr="Рынок облачных сервисов вырос на четверть | Компьютерр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427" y="3903855"/>
            <a:ext cx="3203643" cy="2135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412248" y="840509"/>
            <a:ext cx="11376981" cy="8968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 smtClean="0"/>
              <a:t>4</a:t>
            </a:r>
            <a:r>
              <a:rPr lang="en-US" sz="3600" b="1" dirty="0" smtClean="0"/>
              <a:t>.</a:t>
            </a:r>
            <a:r>
              <a:rPr lang="ru-RU" sz="3600" b="1" dirty="0" smtClean="0"/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Виртуалды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әлем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Әлеуметтік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медиа.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Ақылды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қала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бұлттық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05224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 txBox="1">
            <a:spLocks/>
          </p:cNvSpPr>
          <p:nvPr/>
        </p:nvSpPr>
        <p:spPr>
          <a:xfrm>
            <a:off x="1023389" y="840509"/>
            <a:ext cx="10058400" cy="8968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Бұлт</a:t>
            </a:r>
            <a:r>
              <a:rPr lang="kk-K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ты </a:t>
            </a:r>
            <a:r>
              <a:rPr lang="en-US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есептеу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Graduate Certificate Programs в Humber Colle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45" y="2501129"/>
            <a:ext cx="4070094" cy="3124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5147168" y="1737360"/>
            <a:ext cx="677268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err="1">
                <a:solidFill>
                  <a:srgbClr val="FF0000"/>
                </a:solidFill>
              </a:rPr>
              <a:t>Бұлтты</a:t>
            </a:r>
            <a:r>
              <a:rPr lang="ru-RU" sz="2000" b="1" dirty="0">
                <a:solidFill>
                  <a:srgbClr val="FF0000"/>
                </a:solidFill>
              </a:rPr>
              <a:t> </a:t>
            </a:r>
            <a:r>
              <a:rPr lang="ru-RU" sz="2000" b="1" dirty="0" err="1">
                <a:solidFill>
                  <a:srgbClr val="FF0000"/>
                </a:solidFill>
              </a:rPr>
              <a:t>есептеу</a:t>
            </a:r>
            <a:endParaRPr lang="ru-RU" sz="2000" b="1" dirty="0">
              <a:solidFill>
                <a:srgbClr val="FF0000"/>
              </a:solidFill>
            </a:endParaRPr>
          </a:p>
          <a:p>
            <a:endParaRPr lang="ru-RU" sz="2000" b="1" dirty="0">
              <a:solidFill>
                <a:srgbClr val="FF0000"/>
              </a:solidFill>
            </a:endParaRPr>
          </a:p>
          <a:p>
            <a:pPr algn="just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Бұлтты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есептеулер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пайдаланушының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тікелей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белсенді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басқаруынсыз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компьютерлік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ресурстарының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әсіресе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сақтау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бұлтты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сақтау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есептеу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қуатының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сұраныс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қолжетімділігі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термин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әдетте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Интернет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көптеген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пайдаланушыларға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қолжетімді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орталықтарын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сипаттау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қолданылады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Бүгінгі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басым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болатын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үлкен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бұлттардың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орталық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серверлерден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бірнеше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орынға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таратылатын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функциялары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бар.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Егер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салыстырмалы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түрде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жақын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болса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шеткі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сервер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ретінде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тағайындалуы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556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5396" t="16643" r="4524" b="7898"/>
          <a:stretch/>
        </p:blipFill>
        <p:spPr>
          <a:xfrm>
            <a:off x="123809" y="394635"/>
            <a:ext cx="12068191" cy="568853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31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938</TotalTime>
  <Words>724</Words>
  <Application>Microsoft Office PowerPoint</Application>
  <PresentationFormat>Широкоэкранный</PresentationFormat>
  <Paragraphs>53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Ретро</vt:lpstr>
      <vt:lpstr>АКТ-ның даму перспективалары</vt:lpstr>
      <vt:lpstr>Дәріс мазмұны</vt:lpstr>
      <vt:lpstr>1. АКТ біздің өмірімізде</vt:lpstr>
      <vt:lpstr>2.Когнитивті технологиялар және роботтандыру</vt:lpstr>
      <vt:lpstr>3. Компьютер мен адам интерфейсінің жаңа технологиялары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ICT</dc:title>
  <dc:creator>User</dc:creator>
  <cp:lastModifiedBy>Учетная запись Майкрософт</cp:lastModifiedBy>
  <cp:revision>108</cp:revision>
  <dcterms:created xsi:type="dcterms:W3CDTF">2021-09-07T08:28:01Z</dcterms:created>
  <dcterms:modified xsi:type="dcterms:W3CDTF">2025-05-16T12:25:16Z</dcterms:modified>
</cp:coreProperties>
</file>